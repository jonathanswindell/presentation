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6"/>
  </p:notesMasterIdLst>
  <p:handoutMasterIdLst>
    <p:handoutMasterId r:id="rId27"/>
  </p:handoutMasterIdLst>
  <p:sldIdLst>
    <p:sldId id="259" r:id="rId2"/>
    <p:sldId id="260" r:id="rId3"/>
    <p:sldId id="1083" r:id="rId4"/>
    <p:sldId id="1084" r:id="rId5"/>
    <p:sldId id="261" r:id="rId6"/>
    <p:sldId id="262" r:id="rId7"/>
    <p:sldId id="265" r:id="rId8"/>
    <p:sldId id="266" r:id="rId9"/>
    <p:sldId id="957" r:id="rId10"/>
    <p:sldId id="961" r:id="rId11"/>
    <p:sldId id="1080" r:id="rId12"/>
    <p:sldId id="905" r:id="rId13"/>
    <p:sldId id="1086" r:id="rId14"/>
    <p:sldId id="1090" r:id="rId15"/>
    <p:sldId id="267" r:id="rId16"/>
    <p:sldId id="268" r:id="rId17"/>
    <p:sldId id="278" r:id="rId18"/>
    <p:sldId id="1087" r:id="rId19"/>
    <p:sldId id="1089" r:id="rId20"/>
    <p:sldId id="273" r:id="rId21"/>
    <p:sldId id="1088" r:id="rId22"/>
    <p:sldId id="274" r:id="rId23"/>
    <p:sldId id="275" r:id="rId24"/>
    <p:sldId id="27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8740"/>
    <a:srgbClr val="99B828"/>
    <a:srgbClr val="117F4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F0FC90-86BF-BF45-B08B-C8C57448D6A7}" v="47" dt="2026-09-23T16:52:14.0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834" autoAdjust="0"/>
    <p:restoredTop sz="90833"/>
  </p:normalViewPr>
  <p:slideViewPr>
    <p:cSldViewPr snapToGrid="0">
      <p:cViewPr>
        <p:scale>
          <a:sx n="86" d="100"/>
          <a:sy n="86" d="100"/>
        </p:scale>
        <p:origin x="0" y="784"/>
      </p:cViewPr>
      <p:guideLst>
        <p:guide orient="horz" pos="2160"/>
        <p:guide pos="3840"/>
      </p:guideLst>
    </p:cSldViewPr>
  </p:slideViewPr>
  <p:notesTextViewPr>
    <p:cViewPr>
      <p:scale>
        <a:sx n="1" d="1"/>
        <a:sy n="1" d="1"/>
      </p:scale>
      <p:origin x="0" y="0"/>
    </p:cViewPr>
  </p:notesTextViewPr>
  <p:notesViewPr>
    <p:cSldViewPr snapToGrid="0">
      <p:cViewPr varScale="1">
        <p:scale>
          <a:sx n="95" d="100"/>
          <a:sy n="95" d="100"/>
        </p:scale>
        <p:origin x="4008"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C0866-4214-9C24-3070-902B453E4BE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080AB3E-1AA4-72FF-5B82-A6A8FDB210E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65E17B-8BB4-5D48-9865-BFF7E78F5998}" type="datetimeFigureOut">
              <a:rPr lang="en-US" smtClean="0"/>
              <a:t>10/6/26</a:t>
            </a:fld>
            <a:endParaRPr lang="en-US"/>
          </a:p>
        </p:txBody>
      </p:sp>
      <p:sp>
        <p:nvSpPr>
          <p:cNvPr id="4" name="Footer Placeholder 3">
            <a:extLst>
              <a:ext uri="{FF2B5EF4-FFF2-40B4-BE49-F238E27FC236}">
                <a16:creationId xmlns:a16="http://schemas.microsoft.com/office/drawing/2014/main" id="{63F8EE21-D887-109F-10AB-F7204C2B82F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A38C468-057C-E39D-2FB3-EDC138EF9D2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73EDF2-70A7-544F-A608-A888FF7E9737}" type="slidenum">
              <a:rPr lang="en-US" smtClean="0"/>
              <a:t>‹#›</a:t>
            </a:fld>
            <a:endParaRPr lang="en-US"/>
          </a:p>
        </p:txBody>
      </p:sp>
    </p:spTree>
    <p:extLst>
      <p:ext uri="{BB962C8B-B14F-4D97-AF65-F5344CB8AC3E}">
        <p14:creationId xmlns:p14="http://schemas.microsoft.com/office/powerpoint/2010/main" val="26441567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61B38E-B5FE-43A9-BFB3-72B3055725EA}" type="datetimeFigureOut">
              <a:rPr lang="en-US" smtClean="0"/>
              <a:t>10/6/26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89B6BA-913E-4BE6-BB7F-E98D5758E2C5}" type="slidenum">
              <a:rPr lang="en-US" smtClean="0"/>
              <a:t>‹#›</a:t>
            </a:fld>
            <a:endParaRPr lang="en-US"/>
          </a:p>
        </p:txBody>
      </p:sp>
    </p:spTree>
    <p:extLst>
      <p:ext uri="{BB962C8B-B14F-4D97-AF65-F5344CB8AC3E}">
        <p14:creationId xmlns:p14="http://schemas.microsoft.com/office/powerpoint/2010/main" val="1685073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89B6BA-913E-4BE6-BB7F-E98D5758E2C5}" type="slidenum">
              <a:rPr lang="en-US" smtClean="0"/>
              <a:t>1</a:t>
            </a:fld>
            <a:endParaRPr lang="en-US"/>
          </a:p>
        </p:txBody>
      </p:sp>
    </p:spTree>
    <p:extLst>
      <p:ext uri="{BB962C8B-B14F-4D97-AF65-F5344CB8AC3E}">
        <p14:creationId xmlns:p14="http://schemas.microsoft.com/office/powerpoint/2010/main" val="30151722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89B6BA-913E-4BE6-BB7F-E98D5758E2C5}" type="slidenum">
              <a:rPr lang="en-US" smtClean="0"/>
              <a:t>6</a:t>
            </a:fld>
            <a:endParaRPr lang="en-US"/>
          </a:p>
        </p:txBody>
      </p:sp>
    </p:spTree>
    <p:extLst>
      <p:ext uri="{BB962C8B-B14F-4D97-AF65-F5344CB8AC3E}">
        <p14:creationId xmlns:p14="http://schemas.microsoft.com/office/powerpoint/2010/main" val="8937055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8F8D3-FF5D-9E67-EF0F-139994B17F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EB14FF-5915-FD82-A931-FB650C2BE7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D9105-23AF-1D80-D07A-0027FF91AD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C82359-D974-C9F6-7A80-50D3A5C0F29A}"/>
              </a:ext>
            </a:extLst>
          </p:cNvPr>
          <p:cNvSpPr>
            <a:spLocks noGrp="1"/>
          </p:cNvSpPr>
          <p:nvPr>
            <p:ph type="sldNum" sz="quarter" idx="5"/>
          </p:nvPr>
        </p:nvSpPr>
        <p:spPr/>
        <p:txBody>
          <a:bodyPr/>
          <a:lstStyle/>
          <a:p>
            <a:fld id="{CE89B6BA-913E-4BE6-BB7F-E98D5758E2C5}" type="slidenum">
              <a:rPr lang="en-US" smtClean="0"/>
              <a:t>7</a:t>
            </a:fld>
            <a:endParaRPr lang="en-US"/>
          </a:p>
        </p:txBody>
      </p:sp>
    </p:spTree>
    <p:extLst>
      <p:ext uri="{BB962C8B-B14F-4D97-AF65-F5344CB8AC3E}">
        <p14:creationId xmlns:p14="http://schemas.microsoft.com/office/powerpoint/2010/main" val="3477333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4D013-C9D7-19E1-8C05-FE7C632727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D28213-ACF3-0EE3-4386-0FC1A9EB78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A7AB4F-EC25-DD04-8637-A99506B0A9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9EC428-BDD0-8839-0661-14D972CEC638}"/>
              </a:ext>
            </a:extLst>
          </p:cNvPr>
          <p:cNvSpPr>
            <a:spLocks noGrp="1"/>
          </p:cNvSpPr>
          <p:nvPr>
            <p:ph type="sldNum" sz="quarter" idx="5"/>
          </p:nvPr>
        </p:nvSpPr>
        <p:spPr/>
        <p:txBody>
          <a:bodyPr/>
          <a:lstStyle/>
          <a:p>
            <a:fld id="{CE89B6BA-913E-4BE6-BB7F-E98D5758E2C5}" type="slidenum">
              <a:rPr lang="en-US" smtClean="0"/>
              <a:t>8</a:t>
            </a:fld>
            <a:endParaRPr lang="en-US"/>
          </a:p>
        </p:txBody>
      </p:sp>
    </p:spTree>
    <p:extLst>
      <p:ext uri="{BB962C8B-B14F-4D97-AF65-F5344CB8AC3E}">
        <p14:creationId xmlns:p14="http://schemas.microsoft.com/office/powerpoint/2010/main" val="529292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a:defRPr/>
            </a:pPr>
            <a:r>
              <a:rPr lang="en-US"/>
              <a:t>Approved for public release; distribution is unlimited.</a:t>
            </a:r>
          </a:p>
        </p:txBody>
      </p:sp>
      <p:sp>
        <p:nvSpPr>
          <p:cNvPr id="5" name="Slide Number Placeholder 4"/>
          <p:cNvSpPr>
            <a:spLocks noGrp="1"/>
          </p:cNvSpPr>
          <p:nvPr>
            <p:ph type="sldNum" sz="quarter" idx="5"/>
          </p:nvPr>
        </p:nvSpPr>
        <p:spPr/>
        <p:txBody>
          <a:bodyPr/>
          <a:lstStyle/>
          <a:p>
            <a:pPr>
              <a:defRPr/>
            </a:pPr>
            <a:fld id="{76DDC751-6510-42BA-9DA5-B16E31B6CF28}" type="slidenum">
              <a:rPr lang="en-US" smtClean="0"/>
              <a:pPr>
                <a:defRPr/>
              </a:pPr>
              <a:t>9</a:t>
            </a:fld>
            <a:endParaRPr lang="en-US"/>
          </a:p>
        </p:txBody>
      </p:sp>
    </p:spTree>
    <p:extLst>
      <p:ext uri="{BB962C8B-B14F-4D97-AF65-F5344CB8AC3E}">
        <p14:creationId xmlns:p14="http://schemas.microsoft.com/office/powerpoint/2010/main" val="2847331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a:defRPr/>
            </a:pPr>
            <a:r>
              <a:rPr lang="en-US"/>
              <a:t>Approved for public release; distribution is unlimited.</a:t>
            </a:r>
          </a:p>
        </p:txBody>
      </p:sp>
      <p:sp>
        <p:nvSpPr>
          <p:cNvPr id="5" name="Slide Number Placeholder 4"/>
          <p:cNvSpPr>
            <a:spLocks noGrp="1"/>
          </p:cNvSpPr>
          <p:nvPr>
            <p:ph type="sldNum" sz="quarter" idx="5"/>
          </p:nvPr>
        </p:nvSpPr>
        <p:spPr/>
        <p:txBody>
          <a:bodyPr/>
          <a:lstStyle/>
          <a:p>
            <a:pPr>
              <a:defRPr/>
            </a:pPr>
            <a:fld id="{76DDC751-6510-42BA-9DA5-B16E31B6CF28}" type="slidenum">
              <a:rPr lang="en-US" smtClean="0"/>
              <a:pPr>
                <a:defRPr/>
              </a:pPr>
              <a:t>10</a:t>
            </a:fld>
            <a:endParaRPr lang="en-US"/>
          </a:p>
        </p:txBody>
      </p:sp>
    </p:spTree>
    <p:extLst>
      <p:ext uri="{BB962C8B-B14F-4D97-AF65-F5344CB8AC3E}">
        <p14:creationId xmlns:p14="http://schemas.microsoft.com/office/powerpoint/2010/main" val="1447485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a:defRPr/>
            </a:pPr>
            <a:r>
              <a:rPr lang="en-US"/>
              <a:t>Approved for public release; distribution is unlimited.</a:t>
            </a:r>
          </a:p>
        </p:txBody>
      </p:sp>
      <p:sp>
        <p:nvSpPr>
          <p:cNvPr id="5" name="Slide Number Placeholder 4"/>
          <p:cNvSpPr>
            <a:spLocks noGrp="1"/>
          </p:cNvSpPr>
          <p:nvPr>
            <p:ph type="sldNum" sz="quarter" idx="5"/>
          </p:nvPr>
        </p:nvSpPr>
        <p:spPr/>
        <p:txBody>
          <a:bodyPr/>
          <a:lstStyle/>
          <a:p>
            <a:pPr>
              <a:defRPr/>
            </a:pPr>
            <a:fld id="{76DDC751-6510-42BA-9DA5-B16E31B6CF28}" type="slidenum">
              <a:rPr lang="en-US" smtClean="0"/>
              <a:pPr>
                <a:defRPr/>
              </a:pPr>
              <a:t>11</a:t>
            </a:fld>
            <a:endParaRPr lang="en-US"/>
          </a:p>
        </p:txBody>
      </p:sp>
    </p:spTree>
    <p:extLst>
      <p:ext uri="{BB962C8B-B14F-4D97-AF65-F5344CB8AC3E}">
        <p14:creationId xmlns:p14="http://schemas.microsoft.com/office/powerpoint/2010/main" val="1431250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F0441-622A-8C6C-2BD4-C81E52B9A3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51823C-0B0C-1062-C3E4-106CDA7F21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5FA304-3C0D-D4BB-2C74-6EA7E9920680}"/>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15CF240B-63AE-9BC3-CD46-DAD850296D71}"/>
              </a:ext>
            </a:extLst>
          </p:cNvPr>
          <p:cNvSpPr>
            <a:spLocks noGrp="1"/>
          </p:cNvSpPr>
          <p:nvPr>
            <p:ph type="hdr" sz="quarter"/>
          </p:nvPr>
        </p:nvSpPr>
        <p:spPr/>
        <p:txBody>
          <a:bodyPr/>
          <a:lstStyle/>
          <a:p>
            <a:pPr>
              <a:defRPr/>
            </a:pPr>
            <a:r>
              <a:rPr lang="en-US"/>
              <a:t>Approved for public release; distribution is unlimited.</a:t>
            </a:r>
          </a:p>
        </p:txBody>
      </p:sp>
      <p:sp>
        <p:nvSpPr>
          <p:cNvPr id="5" name="Slide Number Placeholder 4">
            <a:extLst>
              <a:ext uri="{FF2B5EF4-FFF2-40B4-BE49-F238E27FC236}">
                <a16:creationId xmlns:a16="http://schemas.microsoft.com/office/drawing/2014/main" id="{537768E2-8F83-9F67-81DD-B928D7D08868}"/>
              </a:ext>
            </a:extLst>
          </p:cNvPr>
          <p:cNvSpPr>
            <a:spLocks noGrp="1"/>
          </p:cNvSpPr>
          <p:nvPr>
            <p:ph type="sldNum" sz="quarter" idx="5"/>
          </p:nvPr>
        </p:nvSpPr>
        <p:spPr/>
        <p:txBody>
          <a:bodyPr/>
          <a:lstStyle/>
          <a:p>
            <a:pPr>
              <a:defRPr/>
            </a:pPr>
            <a:fld id="{76DDC751-6510-42BA-9DA5-B16E31B6CF28}" type="slidenum">
              <a:rPr lang="en-US" smtClean="0"/>
              <a:pPr>
                <a:defRPr/>
              </a:pPr>
              <a:t>12</a:t>
            </a:fld>
            <a:endParaRPr lang="en-US"/>
          </a:p>
        </p:txBody>
      </p:sp>
    </p:spTree>
    <p:extLst>
      <p:ext uri="{BB962C8B-B14F-4D97-AF65-F5344CB8AC3E}">
        <p14:creationId xmlns:p14="http://schemas.microsoft.com/office/powerpoint/2010/main" val="3501839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416E1-EC5F-8938-3174-5F653B6AF3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17AFD7-11E6-5B74-60AD-1AEBA2DF0C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DF7598-FCC4-B05B-31ED-045B525B14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9375AD-4CD6-F3C2-58F1-8FD153A14DC6}"/>
              </a:ext>
            </a:extLst>
          </p:cNvPr>
          <p:cNvSpPr>
            <a:spLocks noGrp="1"/>
          </p:cNvSpPr>
          <p:nvPr>
            <p:ph type="sldNum" sz="quarter" idx="5"/>
          </p:nvPr>
        </p:nvSpPr>
        <p:spPr/>
        <p:txBody>
          <a:bodyPr/>
          <a:lstStyle/>
          <a:p>
            <a:fld id="{CE89B6BA-913E-4BE6-BB7F-E98D5758E2C5}" type="slidenum">
              <a:rPr lang="en-US" smtClean="0"/>
              <a:t>13</a:t>
            </a:fld>
            <a:endParaRPr lang="en-US"/>
          </a:p>
        </p:txBody>
      </p:sp>
    </p:spTree>
    <p:extLst>
      <p:ext uri="{BB962C8B-B14F-4D97-AF65-F5344CB8AC3E}">
        <p14:creationId xmlns:p14="http://schemas.microsoft.com/office/powerpoint/2010/main" val="4272543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12245-2936-E43B-AB7E-05A8C4BA73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6CB77-AC9B-3F06-0CBB-9230544EB7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29608F-5A1D-0CE5-1CD1-FD818FAE71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F103FC-678D-0860-C825-834FE8183CEE}"/>
              </a:ext>
            </a:extLst>
          </p:cNvPr>
          <p:cNvSpPr>
            <a:spLocks noGrp="1"/>
          </p:cNvSpPr>
          <p:nvPr>
            <p:ph type="sldNum" sz="quarter" idx="5"/>
          </p:nvPr>
        </p:nvSpPr>
        <p:spPr/>
        <p:txBody>
          <a:bodyPr/>
          <a:lstStyle/>
          <a:p>
            <a:fld id="{CE89B6BA-913E-4BE6-BB7F-E98D5758E2C5}" type="slidenum">
              <a:rPr lang="en-US" smtClean="0"/>
              <a:t>14</a:t>
            </a:fld>
            <a:endParaRPr lang="en-US"/>
          </a:p>
        </p:txBody>
      </p:sp>
    </p:spTree>
    <p:extLst>
      <p:ext uri="{BB962C8B-B14F-4D97-AF65-F5344CB8AC3E}">
        <p14:creationId xmlns:p14="http://schemas.microsoft.com/office/powerpoint/2010/main" val="7430951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58A4C-C63F-D972-AD52-E11190E31D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94BEF-2E75-74AF-E764-4133D95AC0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4FF7F9-0F12-104B-6303-D3BF619B4A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068FF9-667E-1919-37BD-19A540970426}"/>
              </a:ext>
            </a:extLst>
          </p:cNvPr>
          <p:cNvSpPr>
            <a:spLocks noGrp="1"/>
          </p:cNvSpPr>
          <p:nvPr>
            <p:ph type="sldNum" sz="quarter" idx="5"/>
          </p:nvPr>
        </p:nvSpPr>
        <p:spPr/>
        <p:txBody>
          <a:bodyPr/>
          <a:lstStyle/>
          <a:p>
            <a:fld id="{CE89B6BA-913E-4BE6-BB7F-E98D5758E2C5}" type="slidenum">
              <a:rPr lang="en-US" smtClean="0"/>
              <a:t>15</a:t>
            </a:fld>
            <a:endParaRPr lang="en-US"/>
          </a:p>
        </p:txBody>
      </p:sp>
    </p:spTree>
    <p:extLst>
      <p:ext uri="{BB962C8B-B14F-4D97-AF65-F5344CB8AC3E}">
        <p14:creationId xmlns:p14="http://schemas.microsoft.com/office/powerpoint/2010/main" val="41571884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FF04D-37EF-C5FD-4108-7297A94E57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A234C8-EEB6-2328-B5DE-0A488AB00A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24E0B0-4654-AA4D-2E9A-D301056CA0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E2C69E-C05D-BC56-7D2D-78362714E059}"/>
              </a:ext>
            </a:extLst>
          </p:cNvPr>
          <p:cNvSpPr>
            <a:spLocks noGrp="1"/>
          </p:cNvSpPr>
          <p:nvPr>
            <p:ph type="sldNum" sz="quarter" idx="5"/>
          </p:nvPr>
        </p:nvSpPr>
        <p:spPr/>
        <p:txBody>
          <a:bodyPr/>
          <a:lstStyle/>
          <a:p>
            <a:fld id="{CE89B6BA-913E-4BE6-BB7F-E98D5758E2C5}" type="slidenum">
              <a:rPr lang="en-US" smtClean="0"/>
              <a:t>16</a:t>
            </a:fld>
            <a:endParaRPr lang="en-US"/>
          </a:p>
        </p:txBody>
      </p:sp>
    </p:spTree>
    <p:extLst>
      <p:ext uri="{BB962C8B-B14F-4D97-AF65-F5344CB8AC3E}">
        <p14:creationId xmlns:p14="http://schemas.microsoft.com/office/powerpoint/2010/main" val="20946808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12452-23F8-37E7-20A7-F7F8C3902F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B563B9-3725-1C02-22D0-9756813940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7EFE6E-2D2E-52B3-E703-81296E5C48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09F7E8-65C7-BB3E-242B-07E367CBF95E}"/>
              </a:ext>
            </a:extLst>
          </p:cNvPr>
          <p:cNvSpPr>
            <a:spLocks noGrp="1"/>
          </p:cNvSpPr>
          <p:nvPr>
            <p:ph type="sldNum" sz="quarter" idx="5"/>
          </p:nvPr>
        </p:nvSpPr>
        <p:spPr/>
        <p:txBody>
          <a:bodyPr/>
          <a:lstStyle/>
          <a:p>
            <a:fld id="{CE89B6BA-913E-4BE6-BB7F-E98D5758E2C5}" type="slidenum">
              <a:rPr lang="en-US" smtClean="0"/>
              <a:t>17</a:t>
            </a:fld>
            <a:endParaRPr lang="en-US"/>
          </a:p>
        </p:txBody>
      </p:sp>
    </p:spTree>
    <p:extLst>
      <p:ext uri="{BB962C8B-B14F-4D97-AF65-F5344CB8AC3E}">
        <p14:creationId xmlns:p14="http://schemas.microsoft.com/office/powerpoint/2010/main" val="15566197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A3BC3-F4D6-324A-2E19-CF82F38662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061441-C96A-327E-CA4B-5A9214181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54A4FF-5958-DC2C-01B0-F56F93D60B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60D0E2-028D-AB22-10E5-33B4B9ED8BDE}"/>
              </a:ext>
            </a:extLst>
          </p:cNvPr>
          <p:cNvSpPr>
            <a:spLocks noGrp="1"/>
          </p:cNvSpPr>
          <p:nvPr>
            <p:ph type="sldNum" sz="quarter" idx="5"/>
          </p:nvPr>
        </p:nvSpPr>
        <p:spPr/>
        <p:txBody>
          <a:bodyPr/>
          <a:lstStyle/>
          <a:p>
            <a:fld id="{CE89B6BA-913E-4BE6-BB7F-E98D5758E2C5}" type="slidenum">
              <a:rPr lang="en-US" smtClean="0"/>
              <a:t>18</a:t>
            </a:fld>
            <a:endParaRPr lang="en-US"/>
          </a:p>
        </p:txBody>
      </p:sp>
    </p:spTree>
    <p:extLst>
      <p:ext uri="{BB962C8B-B14F-4D97-AF65-F5344CB8AC3E}">
        <p14:creationId xmlns:p14="http://schemas.microsoft.com/office/powerpoint/2010/main" val="21800315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B8620-F690-4D8B-D831-4208C5A3AD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702309-1F02-3ECC-DD1E-BC51C2A3CD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8C86AB-DF07-AA0C-FA7A-D2AD7C0E4C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46298B-42A3-638B-C7BA-AD9D24DEB3FF}"/>
              </a:ext>
            </a:extLst>
          </p:cNvPr>
          <p:cNvSpPr>
            <a:spLocks noGrp="1"/>
          </p:cNvSpPr>
          <p:nvPr>
            <p:ph type="sldNum" sz="quarter" idx="5"/>
          </p:nvPr>
        </p:nvSpPr>
        <p:spPr/>
        <p:txBody>
          <a:bodyPr/>
          <a:lstStyle/>
          <a:p>
            <a:fld id="{CE89B6BA-913E-4BE6-BB7F-E98D5758E2C5}" type="slidenum">
              <a:rPr lang="en-US" smtClean="0"/>
              <a:t>19</a:t>
            </a:fld>
            <a:endParaRPr lang="en-US"/>
          </a:p>
        </p:txBody>
      </p:sp>
    </p:spTree>
    <p:extLst>
      <p:ext uri="{BB962C8B-B14F-4D97-AF65-F5344CB8AC3E}">
        <p14:creationId xmlns:p14="http://schemas.microsoft.com/office/powerpoint/2010/main" val="18150206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75A96-22FB-87EA-935B-4C2A298035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1FC894-DB53-C8CE-8FCA-9F9E7AD76A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563D35-7A31-25AE-66E7-103349E9CB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224AF9-1DC1-E12E-FA43-1010A92000A0}"/>
              </a:ext>
            </a:extLst>
          </p:cNvPr>
          <p:cNvSpPr>
            <a:spLocks noGrp="1"/>
          </p:cNvSpPr>
          <p:nvPr>
            <p:ph type="sldNum" sz="quarter" idx="5"/>
          </p:nvPr>
        </p:nvSpPr>
        <p:spPr/>
        <p:txBody>
          <a:bodyPr/>
          <a:lstStyle/>
          <a:p>
            <a:fld id="{CE89B6BA-913E-4BE6-BB7F-E98D5758E2C5}" type="slidenum">
              <a:rPr lang="en-US" smtClean="0"/>
              <a:t>20</a:t>
            </a:fld>
            <a:endParaRPr lang="en-US"/>
          </a:p>
        </p:txBody>
      </p:sp>
    </p:spTree>
    <p:extLst>
      <p:ext uri="{BB962C8B-B14F-4D97-AF65-F5344CB8AC3E}">
        <p14:creationId xmlns:p14="http://schemas.microsoft.com/office/powerpoint/2010/main" val="13273929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3E877-A2FA-31E1-6D17-BE16816E33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2572CC-88E3-C3BA-14D8-FAD9C75620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776AAA-2637-974D-C556-D6F738BE08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80EC40-E98F-926A-4C28-339A1DC54207}"/>
              </a:ext>
            </a:extLst>
          </p:cNvPr>
          <p:cNvSpPr>
            <a:spLocks noGrp="1"/>
          </p:cNvSpPr>
          <p:nvPr>
            <p:ph type="sldNum" sz="quarter" idx="5"/>
          </p:nvPr>
        </p:nvSpPr>
        <p:spPr/>
        <p:txBody>
          <a:bodyPr/>
          <a:lstStyle/>
          <a:p>
            <a:fld id="{CE89B6BA-913E-4BE6-BB7F-E98D5758E2C5}" type="slidenum">
              <a:rPr lang="en-US" smtClean="0"/>
              <a:t>21</a:t>
            </a:fld>
            <a:endParaRPr lang="en-US"/>
          </a:p>
        </p:txBody>
      </p:sp>
    </p:spTree>
    <p:extLst>
      <p:ext uri="{BB962C8B-B14F-4D97-AF65-F5344CB8AC3E}">
        <p14:creationId xmlns:p14="http://schemas.microsoft.com/office/powerpoint/2010/main" val="33885872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1CCAB-5B20-D031-3B70-DCA90067A9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DBE969-FA38-027F-955C-BC7D139F22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F11441-0CC6-4F44-F295-79E3F95D9D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8410F8-E672-3248-9512-83052792A031}"/>
              </a:ext>
            </a:extLst>
          </p:cNvPr>
          <p:cNvSpPr>
            <a:spLocks noGrp="1"/>
          </p:cNvSpPr>
          <p:nvPr>
            <p:ph type="sldNum" sz="quarter" idx="5"/>
          </p:nvPr>
        </p:nvSpPr>
        <p:spPr/>
        <p:txBody>
          <a:bodyPr/>
          <a:lstStyle/>
          <a:p>
            <a:fld id="{CE89B6BA-913E-4BE6-BB7F-E98D5758E2C5}" type="slidenum">
              <a:rPr lang="en-US" smtClean="0"/>
              <a:t>22</a:t>
            </a:fld>
            <a:endParaRPr lang="en-US"/>
          </a:p>
        </p:txBody>
      </p:sp>
    </p:spTree>
    <p:extLst>
      <p:ext uri="{BB962C8B-B14F-4D97-AF65-F5344CB8AC3E}">
        <p14:creationId xmlns:p14="http://schemas.microsoft.com/office/powerpoint/2010/main" val="3703778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4D879-5D17-1301-FFA9-52B33B8C74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26BF15-67D3-C564-65FF-836389315C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AA4E0-17B7-725C-443D-5279081803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A6CDEB-825F-782F-7CE7-85CD91E5A26B}"/>
              </a:ext>
            </a:extLst>
          </p:cNvPr>
          <p:cNvSpPr>
            <a:spLocks noGrp="1"/>
          </p:cNvSpPr>
          <p:nvPr>
            <p:ph type="sldNum" sz="quarter" idx="5"/>
          </p:nvPr>
        </p:nvSpPr>
        <p:spPr/>
        <p:txBody>
          <a:bodyPr/>
          <a:lstStyle/>
          <a:p>
            <a:fld id="{CE89B6BA-913E-4BE6-BB7F-E98D5758E2C5}" type="slidenum">
              <a:rPr lang="en-US" smtClean="0"/>
              <a:t>23</a:t>
            </a:fld>
            <a:endParaRPr lang="en-US"/>
          </a:p>
        </p:txBody>
      </p:sp>
    </p:spTree>
    <p:extLst>
      <p:ext uri="{BB962C8B-B14F-4D97-AF65-F5344CB8AC3E}">
        <p14:creationId xmlns:p14="http://schemas.microsoft.com/office/powerpoint/2010/main" val="16888069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91475-46FA-26E7-D938-400818A757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D45870-5D89-FA62-5B45-15615F0C26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C3D95C-7FF7-3073-7BD5-2BC474CC6C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4A74F6-D95C-79ED-4D3A-FD8D142A2DAC}"/>
              </a:ext>
            </a:extLst>
          </p:cNvPr>
          <p:cNvSpPr>
            <a:spLocks noGrp="1"/>
          </p:cNvSpPr>
          <p:nvPr>
            <p:ph type="sldNum" sz="quarter" idx="5"/>
          </p:nvPr>
        </p:nvSpPr>
        <p:spPr/>
        <p:txBody>
          <a:bodyPr/>
          <a:lstStyle/>
          <a:p>
            <a:fld id="{CE89B6BA-913E-4BE6-BB7F-E98D5758E2C5}" type="slidenum">
              <a:rPr lang="en-US" smtClean="0"/>
              <a:t>24</a:t>
            </a:fld>
            <a:endParaRPr lang="en-US"/>
          </a:p>
        </p:txBody>
      </p:sp>
    </p:spTree>
    <p:extLst>
      <p:ext uri="{BB962C8B-B14F-4D97-AF65-F5344CB8AC3E}">
        <p14:creationId xmlns:p14="http://schemas.microsoft.com/office/powerpoint/2010/main" val="28086583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83C0D-8C97-CD7E-B022-1BA4F05D482F}"/>
              </a:ext>
            </a:extLst>
          </p:cNvPr>
          <p:cNvSpPr>
            <a:spLocks noGrp="1"/>
          </p:cNvSpPr>
          <p:nvPr>
            <p:ph type="ctrTitle"/>
          </p:nvPr>
        </p:nvSpPr>
        <p:spPr>
          <a:xfrm>
            <a:off x="1524000" y="2672862"/>
            <a:ext cx="9144000" cy="1912420"/>
          </a:xfrm>
        </p:spPr>
        <p:txBody>
          <a:bodyPr anchor="ct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C4093FCB-02B5-EB70-E856-6AA7ADB82BED}"/>
              </a:ext>
            </a:extLst>
          </p:cNvPr>
          <p:cNvSpPr>
            <a:spLocks noGrp="1"/>
          </p:cNvSpPr>
          <p:nvPr>
            <p:ph type="subTitle" idx="1"/>
          </p:nvPr>
        </p:nvSpPr>
        <p:spPr>
          <a:xfrm>
            <a:off x="1524000" y="4788267"/>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9" name="Graphic 8">
            <a:extLst>
              <a:ext uri="{FF2B5EF4-FFF2-40B4-BE49-F238E27FC236}">
                <a16:creationId xmlns:a16="http://schemas.microsoft.com/office/drawing/2014/main" id="{DE011757-98F1-66E3-2704-702187BAAE4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258956" y="380220"/>
            <a:ext cx="3674086" cy="1998971"/>
          </a:xfrm>
          <a:prstGeom prst="rect">
            <a:avLst/>
          </a:prstGeom>
        </p:spPr>
      </p:pic>
      <p:sp>
        <p:nvSpPr>
          <p:cNvPr id="12" name="Rectangle 11">
            <a:extLst>
              <a:ext uri="{FF2B5EF4-FFF2-40B4-BE49-F238E27FC236}">
                <a16:creationId xmlns:a16="http://schemas.microsoft.com/office/drawing/2014/main" id="{8FCF2CE2-CE5B-BBD0-44E6-3606A015FA77}"/>
              </a:ext>
            </a:extLst>
          </p:cNvPr>
          <p:cNvSpPr/>
          <p:nvPr userDrawn="1"/>
        </p:nvSpPr>
        <p:spPr>
          <a:xfrm>
            <a:off x="1" y="0"/>
            <a:ext cx="12191999" cy="86550"/>
          </a:xfrm>
          <a:prstGeom prst="rect">
            <a:avLst/>
          </a:prstGeom>
          <a:gradFill flip="none" rotWithShape="1">
            <a:gsLst>
              <a:gs pos="0">
                <a:srgbClr val="99B828"/>
              </a:gs>
              <a:gs pos="71000">
                <a:srgbClr val="35883F"/>
              </a:gs>
              <a:gs pos="51000">
                <a:srgbClr val="468C38"/>
              </a:gs>
              <a:gs pos="91000">
                <a:srgbClr val="117F4E"/>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9A92B55-8617-370E-73C8-ECCA253303EB}"/>
              </a:ext>
            </a:extLst>
          </p:cNvPr>
          <p:cNvSpPr/>
          <p:nvPr userDrawn="1"/>
        </p:nvSpPr>
        <p:spPr>
          <a:xfrm>
            <a:off x="0" y="6771451"/>
            <a:ext cx="12191999" cy="86550"/>
          </a:xfrm>
          <a:prstGeom prst="rect">
            <a:avLst/>
          </a:prstGeom>
          <a:gradFill flip="none" rotWithShape="1">
            <a:gsLst>
              <a:gs pos="0">
                <a:srgbClr val="99B828"/>
              </a:gs>
              <a:gs pos="71000">
                <a:srgbClr val="35883F"/>
              </a:gs>
              <a:gs pos="51000">
                <a:srgbClr val="468C38"/>
              </a:gs>
              <a:gs pos="91000">
                <a:srgbClr val="117F4E"/>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9372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8580D-51E9-54B8-4AED-B60C3BE9EA3B}"/>
              </a:ext>
            </a:extLst>
          </p:cNvPr>
          <p:cNvSpPr>
            <a:spLocks noGrp="1"/>
          </p:cNvSpPr>
          <p:nvPr>
            <p:ph type="title"/>
          </p:nvPr>
        </p:nvSpPr>
        <p:spPr/>
        <p:txBody>
          <a:bodyP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8E6912E7-702E-7443-54E6-F52A0D5446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3A47FAF5-E008-709A-F3A7-3D7743723F94}"/>
              </a:ext>
            </a:extLst>
          </p:cNvPr>
          <p:cNvSpPr>
            <a:spLocks noGrp="1"/>
          </p:cNvSpPr>
          <p:nvPr>
            <p:ph type="sldNum" sz="quarter" idx="10"/>
          </p:nvPr>
        </p:nvSpPr>
        <p:spPr/>
        <p:txBody>
          <a:bodyPr/>
          <a:lstStyle/>
          <a:p>
            <a:fld id="{712AF26B-5AA3-46FB-B36A-D6DA52437630}" type="slidenum">
              <a:rPr lang="en-US" smtClean="0"/>
              <a:t>‹#›</a:t>
            </a:fld>
            <a:endParaRPr lang="en-US"/>
          </a:p>
        </p:txBody>
      </p:sp>
    </p:spTree>
    <p:extLst>
      <p:ext uri="{BB962C8B-B14F-4D97-AF65-F5344CB8AC3E}">
        <p14:creationId xmlns:p14="http://schemas.microsoft.com/office/powerpoint/2010/main" val="832413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A1804-D3DB-233A-E90D-0D0425C934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694A9A-9241-F959-F618-EC10DC901D2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7" name="Slide Number Placeholder 6">
            <a:extLst>
              <a:ext uri="{FF2B5EF4-FFF2-40B4-BE49-F238E27FC236}">
                <a16:creationId xmlns:a16="http://schemas.microsoft.com/office/drawing/2014/main" id="{6D9DF65D-0877-7510-D978-DAAF4E2C1A61}"/>
              </a:ext>
            </a:extLst>
          </p:cNvPr>
          <p:cNvSpPr>
            <a:spLocks noGrp="1"/>
          </p:cNvSpPr>
          <p:nvPr>
            <p:ph type="sldNum" sz="quarter" idx="10"/>
          </p:nvPr>
        </p:nvSpPr>
        <p:spPr/>
        <p:txBody>
          <a:bodyPr/>
          <a:lstStyle/>
          <a:p>
            <a:fld id="{712AF26B-5AA3-46FB-B36A-D6DA52437630}" type="slidenum">
              <a:rPr lang="en-US" smtClean="0"/>
              <a:t>‹#›</a:t>
            </a:fld>
            <a:endParaRPr lang="en-US"/>
          </a:p>
        </p:txBody>
      </p:sp>
    </p:spTree>
    <p:extLst>
      <p:ext uri="{BB962C8B-B14F-4D97-AF65-F5344CB8AC3E}">
        <p14:creationId xmlns:p14="http://schemas.microsoft.com/office/powerpoint/2010/main" val="3172473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B7A48-18FD-9FBE-A9DC-B0E1C132C09A}"/>
              </a:ext>
            </a:extLst>
          </p:cNvPr>
          <p:cNvSpPr>
            <a:spLocks noGrp="1"/>
          </p:cNvSpPr>
          <p:nvPr>
            <p:ph type="title"/>
          </p:nvPr>
        </p:nvSpPr>
        <p:spPr>
          <a:xfrm>
            <a:off x="340822" y="179234"/>
            <a:ext cx="11510358" cy="910880"/>
          </a:xfrm>
        </p:spPr>
        <p:txBody>
          <a:bodyP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1DD12C5B-7EB1-8A08-9A70-62470FEDA8B7}"/>
              </a:ext>
            </a:extLst>
          </p:cNvPr>
          <p:cNvSpPr>
            <a:spLocks noGrp="1"/>
          </p:cNvSpPr>
          <p:nvPr>
            <p:ph sz="half" idx="1"/>
          </p:nvPr>
        </p:nvSpPr>
        <p:spPr>
          <a:xfrm>
            <a:off x="340821" y="1205345"/>
            <a:ext cx="5678979" cy="49716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D55828-3DB6-307B-9884-318A05693BFC}"/>
              </a:ext>
            </a:extLst>
          </p:cNvPr>
          <p:cNvSpPr>
            <a:spLocks noGrp="1"/>
          </p:cNvSpPr>
          <p:nvPr>
            <p:ph sz="half" idx="2"/>
          </p:nvPr>
        </p:nvSpPr>
        <p:spPr>
          <a:xfrm>
            <a:off x="6172200" y="1205345"/>
            <a:ext cx="5678979" cy="49716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C3135DE1-D07A-02D7-047A-0784E4C1B375}"/>
              </a:ext>
            </a:extLst>
          </p:cNvPr>
          <p:cNvSpPr>
            <a:spLocks noGrp="1"/>
          </p:cNvSpPr>
          <p:nvPr>
            <p:ph type="sldNum" sz="quarter" idx="10"/>
          </p:nvPr>
        </p:nvSpPr>
        <p:spPr/>
        <p:txBody>
          <a:bodyPr/>
          <a:lstStyle/>
          <a:p>
            <a:fld id="{712AF26B-5AA3-46FB-B36A-D6DA52437630}" type="slidenum">
              <a:rPr lang="en-US" smtClean="0"/>
              <a:t>‹#›</a:t>
            </a:fld>
            <a:endParaRPr lang="en-US"/>
          </a:p>
        </p:txBody>
      </p:sp>
    </p:spTree>
    <p:extLst>
      <p:ext uri="{BB962C8B-B14F-4D97-AF65-F5344CB8AC3E}">
        <p14:creationId xmlns:p14="http://schemas.microsoft.com/office/powerpoint/2010/main" val="1586656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C028C-9604-F98A-7EDD-C874073E6008}"/>
              </a:ext>
            </a:extLst>
          </p:cNvPr>
          <p:cNvSpPr>
            <a:spLocks noGrp="1"/>
          </p:cNvSpPr>
          <p:nvPr>
            <p:ph type="title"/>
          </p:nvPr>
        </p:nvSpPr>
        <p:spPr>
          <a:xfrm>
            <a:off x="839788" y="365125"/>
            <a:ext cx="10515600" cy="1325563"/>
          </a:xfrm>
        </p:spPr>
        <p:txBody>
          <a:bodyPr/>
          <a:lstStyle>
            <a:lvl1pPr algn="ctr">
              <a:defRPr/>
            </a:lvl1pPr>
          </a:lstStyle>
          <a:p>
            <a:r>
              <a:rPr lang="en-US" dirty="0"/>
              <a:t>Click to edit Master title style</a:t>
            </a:r>
          </a:p>
        </p:txBody>
      </p:sp>
      <p:sp>
        <p:nvSpPr>
          <p:cNvPr id="3" name="Text Placeholder 2">
            <a:extLst>
              <a:ext uri="{FF2B5EF4-FFF2-40B4-BE49-F238E27FC236}">
                <a16:creationId xmlns:a16="http://schemas.microsoft.com/office/drawing/2014/main" id="{730127F4-88FD-990E-9B33-DCD671AC5B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A18EF1-0B86-EB9B-47BA-3780C68E43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F6444C9-3344-1432-7714-DB1AE19351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6FB98D-37B1-24F0-D98C-440B349B85D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3F2F5A96-B840-5B9E-0DA4-E1323DE89077}"/>
              </a:ext>
            </a:extLst>
          </p:cNvPr>
          <p:cNvSpPr>
            <a:spLocks noGrp="1"/>
          </p:cNvSpPr>
          <p:nvPr>
            <p:ph type="sldNum" sz="quarter" idx="10"/>
          </p:nvPr>
        </p:nvSpPr>
        <p:spPr/>
        <p:txBody>
          <a:bodyPr/>
          <a:lstStyle/>
          <a:p>
            <a:fld id="{712AF26B-5AA3-46FB-B36A-D6DA52437630}" type="slidenum">
              <a:rPr lang="en-US" smtClean="0"/>
              <a:t>‹#›</a:t>
            </a:fld>
            <a:endParaRPr lang="en-US"/>
          </a:p>
        </p:txBody>
      </p:sp>
    </p:spTree>
    <p:extLst>
      <p:ext uri="{BB962C8B-B14F-4D97-AF65-F5344CB8AC3E}">
        <p14:creationId xmlns:p14="http://schemas.microsoft.com/office/powerpoint/2010/main" val="174106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D2988-123E-EF7C-C6CA-17D9CEC4622E}"/>
              </a:ext>
            </a:extLst>
          </p:cNvPr>
          <p:cNvSpPr>
            <a:spLocks noGrp="1"/>
          </p:cNvSpPr>
          <p:nvPr>
            <p:ph type="title"/>
          </p:nvPr>
        </p:nvSpPr>
        <p:spPr/>
        <p:txBody>
          <a:bodyPr/>
          <a:lstStyle>
            <a:lvl1pPr algn="ctr">
              <a:defRPr/>
            </a:lvl1pPr>
          </a:lstStyle>
          <a:p>
            <a:r>
              <a:rPr lang="en-US" dirty="0"/>
              <a:t>Click to edit Master title style</a:t>
            </a:r>
          </a:p>
        </p:txBody>
      </p:sp>
      <p:sp>
        <p:nvSpPr>
          <p:cNvPr id="6" name="Slide Number Placeholder 5">
            <a:extLst>
              <a:ext uri="{FF2B5EF4-FFF2-40B4-BE49-F238E27FC236}">
                <a16:creationId xmlns:a16="http://schemas.microsoft.com/office/drawing/2014/main" id="{2A947CDB-EE5D-E22E-2E92-752FB6117268}"/>
              </a:ext>
            </a:extLst>
          </p:cNvPr>
          <p:cNvSpPr>
            <a:spLocks noGrp="1"/>
          </p:cNvSpPr>
          <p:nvPr>
            <p:ph type="sldNum" sz="quarter" idx="10"/>
          </p:nvPr>
        </p:nvSpPr>
        <p:spPr/>
        <p:txBody>
          <a:bodyPr/>
          <a:lstStyle/>
          <a:p>
            <a:fld id="{712AF26B-5AA3-46FB-B36A-D6DA52437630}" type="slidenum">
              <a:rPr lang="en-US" smtClean="0"/>
              <a:t>‹#›</a:t>
            </a:fld>
            <a:endParaRPr lang="en-US"/>
          </a:p>
        </p:txBody>
      </p:sp>
    </p:spTree>
    <p:extLst>
      <p:ext uri="{BB962C8B-B14F-4D97-AF65-F5344CB8AC3E}">
        <p14:creationId xmlns:p14="http://schemas.microsoft.com/office/powerpoint/2010/main" val="1730946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963944F-E13F-DF85-BEE9-5401FD865C5C}"/>
              </a:ext>
            </a:extLst>
          </p:cNvPr>
          <p:cNvSpPr>
            <a:spLocks noGrp="1"/>
          </p:cNvSpPr>
          <p:nvPr>
            <p:ph type="sldNum" sz="quarter" idx="10"/>
          </p:nvPr>
        </p:nvSpPr>
        <p:spPr/>
        <p:txBody>
          <a:bodyPr/>
          <a:lstStyle/>
          <a:p>
            <a:fld id="{712AF26B-5AA3-46FB-B36A-D6DA52437630}" type="slidenum">
              <a:rPr lang="en-US" smtClean="0"/>
              <a:t>‹#›</a:t>
            </a:fld>
            <a:endParaRPr lang="en-US"/>
          </a:p>
        </p:txBody>
      </p:sp>
    </p:spTree>
    <p:extLst>
      <p:ext uri="{BB962C8B-B14F-4D97-AF65-F5344CB8AC3E}">
        <p14:creationId xmlns:p14="http://schemas.microsoft.com/office/powerpoint/2010/main" val="3907064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C4112-461A-FBF3-B8D5-DCC51BF974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FB21B8-E6F2-ADAD-5C9B-9C94A3CC9E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C53E62-CE43-E117-1C03-2A745E9523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Slide Number Placeholder 7">
            <a:extLst>
              <a:ext uri="{FF2B5EF4-FFF2-40B4-BE49-F238E27FC236}">
                <a16:creationId xmlns:a16="http://schemas.microsoft.com/office/drawing/2014/main" id="{BFCBF151-D2C7-3626-961E-73651A99EF0A}"/>
              </a:ext>
            </a:extLst>
          </p:cNvPr>
          <p:cNvSpPr>
            <a:spLocks noGrp="1"/>
          </p:cNvSpPr>
          <p:nvPr>
            <p:ph type="sldNum" sz="quarter" idx="10"/>
          </p:nvPr>
        </p:nvSpPr>
        <p:spPr/>
        <p:txBody>
          <a:bodyPr/>
          <a:lstStyle/>
          <a:p>
            <a:fld id="{712AF26B-5AA3-46FB-B36A-D6DA52437630}" type="slidenum">
              <a:rPr lang="en-US" smtClean="0"/>
              <a:t>‹#›</a:t>
            </a:fld>
            <a:endParaRPr lang="en-US"/>
          </a:p>
        </p:txBody>
      </p:sp>
    </p:spTree>
    <p:extLst>
      <p:ext uri="{BB962C8B-B14F-4D97-AF65-F5344CB8AC3E}">
        <p14:creationId xmlns:p14="http://schemas.microsoft.com/office/powerpoint/2010/main" val="4081664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6FEED-6D7F-2BC9-06A0-1585A4AFAF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54F48F9-C40E-5FCF-C277-D8C64EB823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861C7F-26E0-1198-6B60-EBCA2F46FF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Slide Number Placeholder 7">
            <a:extLst>
              <a:ext uri="{FF2B5EF4-FFF2-40B4-BE49-F238E27FC236}">
                <a16:creationId xmlns:a16="http://schemas.microsoft.com/office/drawing/2014/main" id="{F6096BBC-80E4-081F-EEBD-BA6547A3FBFA}"/>
              </a:ext>
            </a:extLst>
          </p:cNvPr>
          <p:cNvSpPr>
            <a:spLocks noGrp="1"/>
          </p:cNvSpPr>
          <p:nvPr>
            <p:ph type="sldNum" sz="quarter" idx="10"/>
          </p:nvPr>
        </p:nvSpPr>
        <p:spPr/>
        <p:txBody>
          <a:bodyPr/>
          <a:lstStyle/>
          <a:p>
            <a:fld id="{712AF26B-5AA3-46FB-B36A-D6DA52437630}" type="slidenum">
              <a:rPr lang="en-US" smtClean="0"/>
              <a:t>‹#›</a:t>
            </a:fld>
            <a:endParaRPr lang="en-US"/>
          </a:p>
        </p:txBody>
      </p:sp>
    </p:spTree>
    <p:extLst>
      <p:ext uri="{BB962C8B-B14F-4D97-AF65-F5344CB8AC3E}">
        <p14:creationId xmlns:p14="http://schemas.microsoft.com/office/powerpoint/2010/main" val="3703074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sv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1231BB5-5C9A-B6D0-2581-9BD0CBF31021}"/>
              </a:ext>
            </a:extLst>
          </p:cNvPr>
          <p:cNvSpPr/>
          <p:nvPr userDrawn="1"/>
        </p:nvSpPr>
        <p:spPr>
          <a:xfrm>
            <a:off x="1" y="6311900"/>
            <a:ext cx="12191999" cy="546100"/>
          </a:xfrm>
          <a:prstGeom prst="rect">
            <a:avLst/>
          </a:prstGeom>
          <a:gradFill flip="none" rotWithShape="1">
            <a:gsLst>
              <a:gs pos="0">
                <a:srgbClr val="99B828"/>
              </a:gs>
              <a:gs pos="71000">
                <a:srgbClr val="35883F"/>
              </a:gs>
              <a:gs pos="51000">
                <a:srgbClr val="468C38"/>
              </a:gs>
              <a:gs pos="91000">
                <a:srgbClr val="117F4E"/>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8F69175E-D2D7-FAD8-542B-DFA043DE8C40}"/>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4897374" y="6336858"/>
            <a:ext cx="2397252" cy="502920"/>
          </a:xfrm>
          <a:prstGeom prst="rect">
            <a:avLst/>
          </a:prstGeom>
        </p:spPr>
      </p:pic>
      <p:sp>
        <p:nvSpPr>
          <p:cNvPr id="2" name="Title Placeholder 1">
            <a:extLst>
              <a:ext uri="{FF2B5EF4-FFF2-40B4-BE49-F238E27FC236}">
                <a16:creationId xmlns:a16="http://schemas.microsoft.com/office/drawing/2014/main" id="{CE62BC6D-0480-BA72-3873-342B9E0B2D7C}"/>
              </a:ext>
            </a:extLst>
          </p:cNvPr>
          <p:cNvSpPr>
            <a:spLocks noGrp="1"/>
          </p:cNvSpPr>
          <p:nvPr>
            <p:ph type="title"/>
          </p:nvPr>
        </p:nvSpPr>
        <p:spPr>
          <a:xfrm>
            <a:off x="340821" y="179234"/>
            <a:ext cx="11512296" cy="91088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3ADF588-4C23-0091-C5D3-AB8BB117A77F}"/>
              </a:ext>
            </a:extLst>
          </p:cNvPr>
          <p:cNvSpPr>
            <a:spLocks noGrp="1"/>
          </p:cNvSpPr>
          <p:nvPr>
            <p:ph type="body" idx="1"/>
          </p:nvPr>
        </p:nvSpPr>
        <p:spPr>
          <a:xfrm>
            <a:off x="340822" y="1178524"/>
            <a:ext cx="11512295" cy="49984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502D0BD-6405-DF9A-2432-F334B9E93080}"/>
              </a:ext>
            </a:extLst>
          </p:cNvPr>
          <p:cNvSpPr>
            <a:spLocks noGrp="1"/>
          </p:cNvSpPr>
          <p:nvPr>
            <p:ph type="sldNum" sz="quarter" idx="4"/>
          </p:nvPr>
        </p:nvSpPr>
        <p:spPr>
          <a:xfrm>
            <a:off x="8302317" y="6412264"/>
            <a:ext cx="1768323" cy="365125"/>
          </a:xfrm>
          <a:prstGeom prst="rect">
            <a:avLst/>
          </a:prstGeom>
        </p:spPr>
        <p:txBody>
          <a:bodyPr vert="horz" lIns="91440" tIns="45720" rIns="91440" bIns="45720" rtlCol="0" anchor="ctr"/>
          <a:lstStyle>
            <a:lvl1pPr algn="r">
              <a:defRPr sz="1400">
                <a:solidFill>
                  <a:schemeClr val="bg1"/>
                </a:solidFill>
              </a:defRPr>
            </a:lvl1pPr>
          </a:lstStyle>
          <a:p>
            <a:fld id="{712AF26B-5AA3-46FB-B36A-D6DA52437630}" type="slidenum">
              <a:rPr lang="en-US" smtClean="0"/>
              <a:pPr/>
              <a:t>‹#›</a:t>
            </a:fld>
            <a:endParaRPr lang="en-US" dirty="0"/>
          </a:p>
        </p:txBody>
      </p:sp>
      <p:sp>
        <p:nvSpPr>
          <p:cNvPr id="10" name="Rectangle 9">
            <a:extLst>
              <a:ext uri="{FF2B5EF4-FFF2-40B4-BE49-F238E27FC236}">
                <a16:creationId xmlns:a16="http://schemas.microsoft.com/office/drawing/2014/main" id="{A8DAC5DE-D2CC-1EDF-5A56-01D75648C89F}"/>
              </a:ext>
            </a:extLst>
          </p:cNvPr>
          <p:cNvSpPr/>
          <p:nvPr userDrawn="1"/>
        </p:nvSpPr>
        <p:spPr>
          <a:xfrm>
            <a:off x="1" y="0"/>
            <a:ext cx="12191999" cy="45719"/>
          </a:xfrm>
          <a:prstGeom prst="rect">
            <a:avLst/>
          </a:prstGeom>
          <a:gradFill flip="none" rotWithShape="1">
            <a:gsLst>
              <a:gs pos="0">
                <a:srgbClr val="99B828"/>
              </a:gs>
              <a:gs pos="71000">
                <a:srgbClr val="35883F"/>
              </a:gs>
              <a:gs pos="51000">
                <a:srgbClr val="468C38"/>
              </a:gs>
              <a:gs pos="91000">
                <a:srgbClr val="117F4E"/>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white text on a black background&#10;&#10;Description automatically generated">
            <a:extLst>
              <a:ext uri="{FF2B5EF4-FFF2-40B4-BE49-F238E27FC236}">
                <a16:creationId xmlns:a16="http://schemas.microsoft.com/office/drawing/2014/main" id="{CAFBDFF1-EF03-9A89-3BF8-307F451BDCFA}"/>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129764" y="6373060"/>
            <a:ext cx="2500314" cy="443534"/>
          </a:xfrm>
          <a:prstGeom prst="rect">
            <a:avLst/>
          </a:prstGeom>
        </p:spPr>
      </p:pic>
      <p:pic>
        <p:nvPicPr>
          <p:cNvPr id="13" name="Picture 12">
            <a:extLst>
              <a:ext uri="{FF2B5EF4-FFF2-40B4-BE49-F238E27FC236}">
                <a16:creationId xmlns:a16="http://schemas.microsoft.com/office/drawing/2014/main" id="{6316EB2F-7A36-0569-DDC5-D40CB072A17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070640" y="6402386"/>
            <a:ext cx="1991596" cy="365126"/>
          </a:xfrm>
          <a:prstGeom prst="rect">
            <a:avLst/>
          </a:prstGeom>
        </p:spPr>
      </p:pic>
    </p:spTree>
    <p:extLst>
      <p:ext uri="{BB962C8B-B14F-4D97-AF65-F5344CB8AC3E}">
        <p14:creationId xmlns:p14="http://schemas.microsoft.com/office/powerpoint/2010/main" val="3155376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13.sv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7.sv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9.png"/><Relationship Id="rId7" Type="http://schemas.openxmlformats.org/officeDocument/2006/relationships/image" Target="../media/image22.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doi.org/10.1007/978-94-007-4461-5_2"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www.microwavejournal.com/articles/41605-advancing-pa-test-methods-with-vna-based-wideband-active-load-pull"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91471-2419-4502-F8C8-72F9D13313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047EB-A965-1ACC-ED35-EBEDF2AE2C52}"/>
              </a:ext>
            </a:extLst>
          </p:cNvPr>
          <p:cNvSpPr>
            <a:spLocks noGrp="1"/>
          </p:cNvSpPr>
          <p:nvPr>
            <p:ph type="ctrTitle"/>
          </p:nvPr>
        </p:nvSpPr>
        <p:spPr>
          <a:xfrm>
            <a:off x="39509" y="2684151"/>
            <a:ext cx="12112978" cy="1912420"/>
          </a:xfrm>
        </p:spPr>
        <p:txBody>
          <a:bodyPr>
            <a:normAutofit fontScale="90000"/>
          </a:bodyPr>
          <a:lstStyle/>
          <a:p>
            <a:r>
              <a:rPr lang="en-US" sz="4800" dirty="0"/>
              <a:t>Fast, Low-Cost Passive Load-Pull Measurements Using AI Load-Pull Extrapolation and Switched Impedance Network</a:t>
            </a:r>
          </a:p>
        </p:txBody>
      </p:sp>
      <p:sp>
        <p:nvSpPr>
          <p:cNvPr id="3" name="Subtitle 2">
            <a:extLst>
              <a:ext uri="{FF2B5EF4-FFF2-40B4-BE49-F238E27FC236}">
                <a16:creationId xmlns:a16="http://schemas.microsoft.com/office/drawing/2014/main" id="{8BC20BAC-2E61-581A-A53A-496D1F7918C5}"/>
              </a:ext>
            </a:extLst>
          </p:cNvPr>
          <p:cNvSpPr>
            <a:spLocks noGrp="1"/>
          </p:cNvSpPr>
          <p:nvPr>
            <p:ph type="subTitle" idx="1"/>
          </p:nvPr>
        </p:nvSpPr>
        <p:spPr>
          <a:xfrm>
            <a:off x="1196619" y="4788267"/>
            <a:ext cx="9798758" cy="1655762"/>
          </a:xfrm>
        </p:spPr>
        <p:txBody>
          <a:bodyPr>
            <a:normAutofit/>
          </a:bodyPr>
          <a:lstStyle/>
          <a:p>
            <a:r>
              <a:rPr lang="en-US" b="1" dirty="0"/>
              <a:t>Jonathan E. Swindell, </a:t>
            </a:r>
            <a:r>
              <a:rPr lang="en-US" dirty="0"/>
              <a:t>Oliver Jarvis, Adam C. Goad, Austin Egbert, Charles Baylis, Robert J. Marks</a:t>
            </a:r>
          </a:p>
        </p:txBody>
      </p:sp>
      <p:pic>
        <p:nvPicPr>
          <p:cNvPr id="9" name="Picture 8" descr="A green text on a black background&#10;&#10;Description automatically generated">
            <a:extLst>
              <a:ext uri="{FF2B5EF4-FFF2-40B4-BE49-F238E27FC236}">
                <a16:creationId xmlns:a16="http://schemas.microsoft.com/office/drawing/2014/main" id="{4B5CAF88-EAB6-6FC6-64A0-6AB798757A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871" y="413971"/>
            <a:ext cx="3505504" cy="621847"/>
          </a:xfrm>
          <a:prstGeom prst="rect">
            <a:avLst/>
          </a:prstGeom>
        </p:spPr>
      </p:pic>
      <p:pic>
        <p:nvPicPr>
          <p:cNvPr id="4" name="Picture 3">
            <a:extLst>
              <a:ext uri="{FF2B5EF4-FFF2-40B4-BE49-F238E27FC236}">
                <a16:creationId xmlns:a16="http://schemas.microsoft.com/office/drawing/2014/main" id="{793325CA-06E0-D6DD-883E-01DC438C0A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64694" y="413971"/>
            <a:ext cx="3391892" cy="621847"/>
          </a:xfrm>
          <a:prstGeom prst="rect">
            <a:avLst/>
          </a:prstGeom>
        </p:spPr>
      </p:pic>
    </p:spTree>
    <p:extLst>
      <p:ext uri="{BB962C8B-B14F-4D97-AF65-F5344CB8AC3E}">
        <p14:creationId xmlns:p14="http://schemas.microsoft.com/office/powerpoint/2010/main" val="1746551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06705-BA4A-B421-DB46-F09A17B1C2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30CFB5-F9EA-B548-D740-6857AEF8EABE}"/>
              </a:ext>
            </a:extLst>
          </p:cNvPr>
          <p:cNvSpPr>
            <a:spLocks noGrp="1"/>
          </p:cNvSpPr>
          <p:nvPr>
            <p:ph type="title"/>
          </p:nvPr>
        </p:nvSpPr>
        <p:spPr/>
        <p:txBody>
          <a:bodyPr/>
          <a:lstStyle/>
          <a:p>
            <a:r>
              <a:rPr lang="en-US" dirty="0"/>
              <a:t>Load-Pull</a:t>
            </a:r>
          </a:p>
        </p:txBody>
      </p:sp>
      <p:sp>
        <p:nvSpPr>
          <p:cNvPr id="3" name="Content Placeholder 2">
            <a:extLst>
              <a:ext uri="{FF2B5EF4-FFF2-40B4-BE49-F238E27FC236}">
                <a16:creationId xmlns:a16="http://schemas.microsoft.com/office/drawing/2014/main" id="{3004B5CF-AC31-259D-9528-BCF238A29DBB}"/>
              </a:ext>
            </a:extLst>
          </p:cNvPr>
          <p:cNvSpPr>
            <a:spLocks noGrp="1"/>
          </p:cNvSpPr>
          <p:nvPr>
            <p:ph idx="1"/>
          </p:nvPr>
        </p:nvSpPr>
        <p:spPr>
          <a:xfrm>
            <a:off x="340822" y="1266092"/>
            <a:ext cx="7523017" cy="4910871"/>
          </a:xfrm>
        </p:spPr>
        <p:txBody>
          <a:bodyPr/>
          <a:lstStyle/>
          <a:p>
            <a:r>
              <a:rPr lang="en-US" dirty="0"/>
              <a:t>Source impedance changes the performance of the device.</a:t>
            </a:r>
          </a:p>
          <a:p>
            <a:r>
              <a:rPr lang="en-US" dirty="0"/>
              <a:t>Load-pull provides known impedances to a device while its performance is measured.</a:t>
            </a:r>
          </a:p>
        </p:txBody>
      </p:sp>
      <p:sp>
        <p:nvSpPr>
          <p:cNvPr id="4" name="Slide Number Placeholder 3">
            <a:extLst>
              <a:ext uri="{FF2B5EF4-FFF2-40B4-BE49-F238E27FC236}">
                <a16:creationId xmlns:a16="http://schemas.microsoft.com/office/drawing/2014/main" id="{4B0C0003-9685-4B45-97BB-2BB238E1AAB4}"/>
              </a:ext>
            </a:extLst>
          </p:cNvPr>
          <p:cNvSpPr>
            <a:spLocks noGrp="1"/>
          </p:cNvSpPr>
          <p:nvPr>
            <p:ph type="sldNum" sz="quarter" idx="10"/>
          </p:nvPr>
        </p:nvSpPr>
        <p:spPr/>
        <p:txBody>
          <a:bodyPr/>
          <a:lstStyle/>
          <a:p>
            <a:fld id="{712AF26B-5AA3-46FB-B36A-D6DA52437630}" type="slidenum">
              <a:rPr lang="en-US" smtClean="0"/>
              <a:t>2</a:t>
            </a:fld>
            <a:endParaRPr lang="en-US"/>
          </a:p>
        </p:txBody>
      </p:sp>
      <p:pic>
        <p:nvPicPr>
          <p:cNvPr id="6" name="Picture 5" descr="A white text on a black background&#10;&#10;Description automatically generated">
            <a:extLst>
              <a:ext uri="{FF2B5EF4-FFF2-40B4-BE49-F238E27FC236}">
                <a16:creationId xmlns:a16="http://schemas.microsoft.com/office/drawing/2014/main" id="{E6933AB3-9248-791E-0A67-330873686C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764" y="6373060"/>
            <a:ext cx="2500314" cy="443534"/>
          </a:xfrm>
          <a:prstGeom prst="rect">
            <a:avLst/>
          </a:prstGeom>
        </p:spPr>
      </p:pic>
      <p:sp>
        <p:nvSpPr>
          <p:cNvPr id="9" name="TextBox 8">
            <a:extLst>
              <a:ext uri="{FF2B5EF4-FFF2-40B4-BE49-F238E27FC236}">
                <a16:creationId xmlns:a16="http://schemas.microsoft.com/office/drawing/2014/main" id="{867A0B20-D4AD-94A8-58A2-0C85E5D30021}"/>
              </a:ext>
            </a:extLst>
          </p:cNvPr>
          <p:cNvSpPr txBox="1"/>
          <p:nvPr/>
        </p:nvSpPr>
        <p:spPr>
          <a:xfrm>
            <a:off x="731520" y="5399096"/>
            <a:ext cx="541432" cy="369332"/>
          </a:xfrm>
          <a:prstGeom prst="rect">
            <a:avLst/>
          </a:prstGeom>
          <a:noFill/>
        </p:spPr>
        <p:txBody>
          <a:bodyPr wrap="square" rtlCol="0">
            <a:spAutoFit/>
          </a:bodyPr>
          <a:lstStyle/>
          <a:p>
            <a:r>
              <a:rPr lang="en-US" dirty="0"/>
              <a:t>[1]  </a:t>
            </a:r>
          </a:p>
        </p:txBody>
      </p:sp>
      <p:pic>
        <p:nvPicPr>
          <p:cNvPr id="11" name="Picture 10">
            <a:extLst>
              <a:ext uri="{FF2B5EF4-FFF2-40B4-BE49-F238E27FC236}">
                <a16:creationId xmlns:a16="http://schemas.microsoft.com/office/drawing/2014/main" id="{02596E03-BBA0-36A7-7FCE-41571DEFB39E}"/>
              </a:ext>
            </a:extLst>
          </p:cNvPr>
          <p:cNvPicPr>
            <a:picLocks noChangeAspect="1"/>
          </p:cNvPicPr>
          <p:nvPr/>
        </p:nvPicPr>
        <p:blipFill>
          <a:blip r:embed="rId3">
            <a:extLst>
              <a:ext uri="{28A0092B-C50C-407E-A947-70E740481C1C}">
                <a14:useLocalDpi xmlns:a14="http://schemas.microsoft.com/office/drawing/2010/main" val="0"/>
              </a:ext>
            </a:extLst>
          </a:blip>
          <a:srcRect t="9931" b="16579"/>
          <a:stretch>
            <a:fillRect/>
          </a:stretch>
        </p:blipFill>
        <p:spPr>
          <a:xfrm>
            <a:off x="7974128" y="2345859"/>
            <a:ext cx="3548860" cy="3375155"/>
          </a:xfrm>
          <a:prstGeom prst="rect">
            <a:avLst/>
          </a:prstGeom>
        </p:spPr>
      </p:pic>
      <p:sp>
        <p:nvSpPr>
          <p:cNvPr id="12" name="Content Placeholder 2">
            <a:extLst>
              <a:ext uri="{FF2B5EF4-FFF2-40B4-BE49-F238E27FC236}">
                <a16:creationId xmlns:a16="http://schemas.microsoft.com/office/drawing/2014/main" id="{CE86C040-6D97-5A7A-6C76-49E9F09F1650}"/>
              </a:ext>
            </a:extLst>
          </p:cNvPr>
          <p:cNvSpPr txBox="1">
            <a:spLocks/>
          </p:cNvSpPr>
          <p:nvPr/>
        </p:nvSpPr>
        <p:spPr>
          <a:xfrm>
            <a:off x="8674635" y="1816082"/>
            <a:ext cx="2147846" cy="5297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Smith Chart</a:t>
            </a:r>
          </a:p>
        </p:txBody>
      </p:sp>
      <p:grpSp>
        <p:nvGrpSpPr>
          <p:cNvPr id="36" name="Group 35">
            <a:extLst>
              <a:ext uri="{FF2B5EF4-FFF2-40B4-BE49-F238E27FC236}">
                <a16:creationId xmlns:a16="http://schemas.microsoft.com/office/drawing/2014/main" id="{9CB59F8C-D666-295E-BEF6-8E2D4FA62C7A}"/>
              </a:ext>
            </a:extLst>
          </p:cNvPr>
          <p:cNvGrpSpPr/>
          <p:nvPr/>
        </p:nvGrpSpPr>
        <p:grpSpPr>
          <a:xfrm>
            <a:off x="731520" y="3788746"/>
            <a:ext cx="6679809" cy="1771309"/>
            <a:chOff x="731520" y="3788746"/>
            <a:chExt cx="6679809" cy="1771309"/>
          </a:xfrm>
        </p:grpSpPr>
        <p:sp>
          <p:nvSpPr>
            <p:cNvPr id="30" name="TextBox 29">
              <a:extLst>
                <a:ext uri="{FF2B5EF4-FFF2-40B4-BE49-F238E27FC236}">
                  <a16:creationId xmlns:a16="http://schemas.microsoft.com/office/drawing/2014/main" id="{3FF32D97-931B-B7E6-ACDD-9228B35822C9}"/>
                </a:ext>
              </a:extLst>
            </p:cNvPr>
            <p:cNvSpPr txBox="1"/>
            <p:nvPr/>
          </p:nvSpPr>
          <p:spPr>
            <a:xfrm>
              <a:off x="3637525" y="5190723"/>
              <a:ext cx="867289" cy="369332"/>
            </a:xfrm>
            <a:prstGeom prst="rect">
              <a:avLst/>
            </a:prstGeom>
            <a:noFill/>
          </p:spPr>
          <p:txBody>
            <a:bodyPr wrap="none" rtlCol="0">
              <a:spAutoFit/>
            </a:bodyPr>
            <a:lstStyle/>
            <a:p>
              <a:r>
                <a:rPr lang="en-US" dirty="0"/>
                <a:t>Device</a:t>
              </a:r>
            </a:p>
          </p:txBody>
        </p:sp>
        <p:grpSp>
          <p:nvGrpSpPr>
            <p:cNvPr id="35" name="Group 34">
              <a:extLst>
                <a:ext uri="{FF2B5EF4-FFF2-40B4-BE49-F238E27FC236}">
                  <a16:creationId xmlns:a16="http://schemas.microsoft.com/office/drawing/2014/main" id="{A5E33FFC-C7A4-4EA2-C7CA-B7AAC0B66897}"/>
                </a:ext>
              </a:extLst>
            </p:cNvPr>
            <p:cNvGrpSpPr/>
            <p:nvPr/>
          </p:nvGrpSpPr>
          <p:grpSpPr>
            <a:xfrm>
              <a:off x="731520" y="3788746"/>
              <a:ext cx="6679809" cy="1610350"/>
              <a:chOff x="731520" y="3788746"/>
              <a:chExt cx="6679809" cy="1610350"/>
            </a:xfrm>
          </p:grpSpPr>
          <p:sp>
            <p:nvSpPr>
              <p:cNvPr id="13" name="Rectangle 12">
                <a:extLst>
                  <a:ext uri="{FF2B5EF4-FFF2-40B4-BE49-F238E27FC236}">
                    <a16:creationId xmlns:a16="http://schemas.microsoft.com/office/drawing/2014/main" id="{683AC2BE-B950-75E8-9A1A-44986D711662}"/>
                  </a:ext>
                </a:extLst>
              </p:cNvPr>
              <p:cNvSpPr/>
              <p:nvPr/>
            </p:nvSpPr>
            <p:spPr>
              <a:xfrm>
                <a:off x="731520" y="4375052"/>
                <a:ext cx="2053883" cy="759656"/>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76FDF8A-D868-B7BA-F292-F35B86E37A24}"/>
                  </a:ext>
                </a:extLst>
              </p:cNvPr>
              <p:cNvSpPr/>
              <p:nvPr/>
            </p:nvSpPr>
            <p:spPr>
              <a:xfrm>
                <a:off x="5357446" y="4375052"/>
                <a:ext cx="2053883" cy="759656"/>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B611FC5-B0F6-0886-E8E2-F718552FE9E3}"/>
                  </a:ext>
                </a:extLst>
              </p:cNvPr>
              <p:cNvSpPr/>
              <p:nvPr/>
            </p:nvSpPr>
            <p:spPr>
              <a:xfrm>
                <a:off x="4546650" y="4375052"/>
                <a:ext cx="700507" cy="759656"/>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5FF7D65-A139-1BA2-C953-44AD7A1384EC}"/>
                  </a:ext>
                </a:extLst>
              </p:cNvPr>
              <p:cNvSpPr/>
              <p:nvPr/>
            </p:nvSpPr>
            <p:spPr>
              <a:xfrm>
                <a:off x="2895692" y="4375052"/>
                <a:ext cx="700507" cy="759656"/>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BB986BF-5398-B425-944E-A25E6A158D90}"/>
                  </a:ext>
                </a:extLst>
              </p:cNvPr>
              <p:cNvSpPr/>
              <p:nvPr/>
            </p:nvSpPr>
            <p:spPr>
              <a:xfrm>
                <a:off x="3846143" y="5036234"/>
                <a:ext cx="444503" cy="98474"/>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4036E85-6E4A-1A0F-2633-D2F2F745D677}"/>
                  </a:ext>
                </a:extLst>
              </p:cNvPr>
              <p:cNvSpPr/>
              <p:nvPr/>
            </p:nvSpPr>
            <p:spPr>
              <a:xfrm>
                <a:off x="2895692" y="3788746"/>
                <a:ext cx="2337305" cy="470986"/>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19F662ED-4041-9FFD-B0F8-A8CD3D439702}"/>
                  </a:ext>
                </a:extLst>
              </p:cNvPr>
              <p:cNvCxnSpPr>
                <a:stCxn id="16" idx="1"/>
                <a:endCxn id="13" idx="3"/>
              </p:cNvCxnSpPr>
              <p:nvPr/>
            </p:nvCxnSpPr>
            <p:spPr>
              <a:xfrm flipH="1">
                <a:off x="2785403" y="4754880"/>
                <a:ext cx="110289" cy="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7F8445F5-6B1A-3997-1649-A0AA1ECEED2F}"/>
                  </a:ext>
                </a:extLst>
              </p:cNvPr>
              <p:cNvCxnSpPr/>
              <p:nvPr/>
            </p:nvCxnSpPr>
            <p:spPr>
              <a:xfrm flipH="1">
                <a:off x="5247157" y="4754880"/>
                <a:ext cx="110289" cy="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CEAFE086-B20B-D4D8-C34D-AC42F6AF309C}"/>
                  </a:ext>
                </a:extLst>
              </p:cNvPr>
              <p:cNvCxnSpPr>
                <a:cxnSpLocks/>
              </p:cNvCxnSpPr>
              <p:nvPr/>
            </p:nvCxnSpPr>
            <p:spPr>
              <a:xfrm rot="5400000" flipH="1">
                <a:off x="4963459" y="4319907"/>
                <a:ext cx="110289" cy="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213F4DBD-314D-FE32-F328-6CA3ED75E8C5}"/>
                  </a:ext>
                </a:extLst>
              </p:cNvPr>
              <p:cNvCxnSpPr>
                <a:cxnSpLocks/>
              </p:cNvCxnSpPr>
              <p:nvPr/>
            </p:nvCxnSpPr>
            <p:spPr>
              <a:xfrm rot="5400000" flipH="1">
                <a:off x="4721963" y="4327299"/>
                <a:ext cx="110289" cy="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8BB42172-4E69-30A4-ABE5-85385CFF40B8}"/>
                  </a:ext>
                </a:extLst>
              </p:cNvPr>
              <p:cNvCxnSpPr>
                <a:cxnSpLocks/>
              </p:cNvCxnSpPr>
              <p:nvPr/>
            </p:nvCxnSpPr>
            <p:spPr>
              <a:xfrm rot="5400000" flipH="1">
                <a:off x="3304595" y="4314876"/>
                <a:ext cx="110289" cy="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D0F5CB9D-70C0-A354-EF1B-4507FA565120}"/>
                  </a:ext>
                </a:extLst>
              </p:cNvPr>
              <p:cNvCxnSpPr>
                <a:cxnSpLocks/>
              </p:cNvCxnSpPr>
              <p:nvPr/>
            </p:nvCxnSpPr>
            <p:spPr>
              <a:xfrm rot="5400000" flipH="1">
                <a:off x="3049032" y="4314875"/>
                <a:ext cx="110289" cy="0"/>
              </a:xfrm>
              <a:prstGeom prst="line">
                <a:avLst/>
              </a:prstGeom>
              <a:ln w="57150">
                <a:solidFill>
                  <a:schemeClr val="tx1"/>
                </a:solidFill>
              </a:ln>
            </p:spPr>
            <p:style>
              <a:lnRef idx="2">
                <a:schemeClr val="accent1"/>
              </a:lnRef>
              <a:fillRef idx="0">
                <a:schemeClr val="accent1"/>
              </a:fillRef>
              <a:effectRef idx="1">
                <a:schemeClr val="accent1"/>
              </a:effectRef>
              <a:fontRef idx="minor">
                <a:schemeClr val="tx1"/>
              </a:fontRef>
            </p:style>
          </p:cxnSp>
          <p:sp>
            <p:nvSpPr>
              <p:cNvPr id="27" name="Arc 26">
                <a:extLst>
                  <a:ext uri="{FF2B5EF4-FFF2-40B4-BE49-F238E27FC236}">
                    <a16:creationId xmlns:a16="http://schemas.microsoft.com/office/drawing/2014/main" id="{2D86F21B-05D5-F806-E6C5-714710531315}"/>
                  </a:ext>
                </a:extLst>
              </p:cNvPr>
              <p:cNvSpPr/>
              <p:nvPr/>
            </p:nvSpPr>
            <p:spPr>
              <a:xfrm>
                <a:off x="3060767" y="4660542"/>
                <a:ext cx="914400" cy="738554"/>
              </a:xfrm>
              <a:prstGeom prst="arc">
                <a:avLst>
                  <a:gd name="adj1" fmla="val 16972505"/>
                  <a:gd name="adj2" fmla="val 0"/>
                </a:avLst>
              </a:prstGeom>
              <a:ln w="381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8" name="Arc 27">
                <a:extLst>
                  <a:ext uri="{FF2B5EF4-FFF2-40B4-BE49-F238E27FC236}">
                    <a16:creationId xmlns:a16="http://schemas.microsoft.com/office/drawing/2014/main" id="{A1FF2853-AF06-2448-F41E-F19CF0D08E16}"/>
                  </a:ext>
                </a:extLst>
              </p:cNvPr>
              <p:cNvSpPr/>
              <p:nvPr/>
            </p:nvSpPr>
            <p:spPr>
              <a:xfrm flipH="1">
                <a:off x="4168935" y="4660542"/>
                <a:ext cx="914400" cy="738554"/>
              </a:xfrm>
              <a:prstGeom prst="arc">
                <a:avLst>
                  <a:gd name="adj1" fmla="val 16972505"/>
                  <a:gd name="adj2" fmla="val 0"/>
                </a:avLst>
              </a:prstGeom>
              <a:ln w="381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35D6F59A-BDBC-6E77-2D26-6887930C7A3C}"/>
                  </a:ext>
                </a:extLst>
              </p:cNvPr>
              <p:cNvSpPr txBox="1"/>
              <p:nvPr/>
            </p:nvSpPr>
            <p:spPr>
              <a:xfrm>
                <a:off x="6044101" y="3811105"/>
                <a:ext cx="680571" cy="369332"/>
              </a:xfrm>
              <a:prstGeom prst="rect">
                <a:avLst/>
              </a:prstGeom>
              <a:noFill/>
            </p:spPr>
            <p:txBody>
              <a:bodyPr wrap="none" rtlCol="0">
                <a:spAutoFit/>
              </a:bodyPr>
              <a:lstStyle/>
              <a:p>
                <a:r>
                  <a:rPr lang="en-US" dirty="0"/>
                  <a:t>Load</a:t>
                </a:r>
              </a:p>
            </p:txBody>
          </p:sp>
          <p:sp>
            <p:nvSpPr>
              <p:cNvPr id="31" name="TextBox 30">
                <a:extLst>
                  <a:ext uri="{FF2B5EF4-FFF2-40B4-BE49-F238E27FC236}">
                    <a16:creationId xmlns:a16="http://schemas.microsoft.com/office/drawing/2014/main" id="{4190A7DC-9355-65B4-B909-4A77DE289DA0}"/>
                  </a:ext>
                </a:extLst>
              </p:cNvPr>
              <p:cNvSpPr txBox="1"/>
              <p:nvPr/>
            </p:nvSpPr>
            <p:spPr>
              <a:xfrm>
                <a:off x="1272952" y="3811105"/>
                <a:ext cx="886846" cy="369332"/>
              </a:xfrm>
              <a:prstGeom prst="rect">
                <a:avLst/>
              </a:prstGeom>
              <a:noFill/>
            </p:spPr>
            <p:txBody>
              <a:bodyPr wrap="none" rtlCol="0">
                <a:spAutoFit/>
              </a:bodyPr>
              <a:lstStyle/>
              <a:p>
                <a:r>
                  <a:rPr lang="en-US" dirty="0"/>
                  <a:t>Source</a:t>
                </a:r>
              </a:p>
            </p:txBody>
          </p:sp>
          <p:sp>
            <p:nvSpPr>
              <p:cNvPr id="32" name="TextBox 31">
                <a:extLst>
                  <a:ext uri="{FF2B5EF4-FFF2-40B4-BE49-F238E27FC236}">
                    <a16:creationId xmlns:a16="http://schemas.microsoft.com/office/drawing/2014/main" id="{7EAAC228-A213-8A98-F323-F96C50782921}"/>
                  </a:ext>
                </a:extLst>
              </p:cNvPr>
              <p:cNvSpPr txBox="1"/>
              <p:nvPr/>
            </p:nvSpPr>
            <p:spPr>
              <a:xfrm>
                <a:off x="2866097" y="3836945"/>
                <a:ext cx="2410147" cy="369332"/>
              </a:xfrm>
              <a:prstGeom prst="rect">
                <a:avLst/>
              </a:prstGeom>
              <a:noFill/>
            </p:spPr>
            <p:txBody>
              <a:bodyPr wrap="none" rtlCol="0">
                <a:spAutoFit/>
              </a:bodyPr>
              <a:lstStyle/>
              <a:p>
                <a:r>
                  <a:rPr lang="en-US" dirty="0"/>
                  <a:t>Device Measurements</a:t>
                </a:r>
              </a:p>
            </p:txBody>
          </p:sp>
          <p:sp>
            <p:nvSpPr>
              <p:cNvPr id="33" name="TextBox 32">
                <a:extLst>
                  <a:ext uri="{FF2B5EF4-FFF2-40B4-BE49-F238E27FC236}">
                    <a16:creationId xmlns:a16="http://schemas.microsoft.com/office/drawing/2014/main" id="{0D341F2D-E900-97E2-9DA6-A16B71F9F6A9}"/>
                  </a:ext>
                </a:extLst>
              </p:cNvPr>
              <p:cNvSpPr txBox="1"/>
              <p:nvPr/>
            </p:nvSpPr>
            <p:spPr>
              <a:xfrm>
                <a:off x="6003725" y="4570214"/>
                <a:ext cx="720948" cy="369332"/>
              </a:xfrm>
              <a:prstGeom prst="rect">
                <a:avLst/>
              </a:prstGeom>
              <a:noFill/>
            </p:spPr>
            <p:txBody>
              <a:bodyPr wrap="square" rtlCol="0">
                <a:spAutoFit/>
              </a:bodyPr>
              <a:lstStyle/>
              <a:p>
                <a:r>
                  <a:rPr lang="en-US" dirty="0"/>
                  <a:t>R + </a:t>
                </a:r>
                <a:r>
                  <a:rPr lang="en-US" dirty="0" err="1"/>
                  <a:t>jX</a:t>
                </a:r>
                <a:endParaRPr lang="en-US" dirty="0"/>
              </a:p>
            </p:txBody>
          </p:sp>
          <p:sp>
            <p:nvSpPr>
              <p:cNvPr id="34" name="TextBox 33">
                <a:extLst>
                  <a:ext uri="{FF2B5EF4-FFF2-40B4-BE49-F238E27FC236}">
                    <a16:creationId xmlns:a16="http://schemas.microsoft.com/office/drawing/2014/main" id="{33DAECAF-249F-99C2-2859-710C75E9CE89}"/>
                  </a:ext>
                </a:extLst>
              </p:cNvPr>
              <p:cNvSpPr txBox="1"/>
              <p:nvPr/>
            </p:nvSpPr>
            <p:spPr>
              <a:xfrm>
                <a:off x="1377799" y="4570214"/>
                <a:ext cx="720948" cy="369332"/>
              </a:xfrm>
              <a:prstGeom prst="rect">
                <a:avLst/>
              </a:prstGeom>
              <a:noFill/>
            </p:spPr>
            <p:txBody>
              <a:bodyPr wrap="square" rtlCol="0">
                <a:spAutoFit/>
              </a:bodyPr>
              <a:lstStyle/>
              <a:p>
                <a:r>
                  <a:rPr lang="en-US" dirty="0"/>
                  <a:t>R + </a:t>
                </a:r>
                <a:r>
                  <a:rPr lang="en-US" dirty="0" err="1"/>
                  <a:t>jX</a:t>
                </a:r>
                <a:endParaRPr lang="en-US" dirty="0"/>
              </a:p>
            </p:txBody>
          </p:sp>
        </p:grpSp>
      </p:grpSp>
    </p:spTree>
    <p:extLst>
      <p:ext uri="{BB962C8B-B14F-4D97-AF65-F5344CB8AC3E}">
        <p14:creationId xmlns:p14="http://schemas.microsoft.com/office/powerpoint/2010/main" val="3562535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49299-E851-7CCD-8CCF-9CA3062AB4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149F7A-4195-512C-ABD8-AB2F1B0133CB}"/>
              </a:ext>
            </a:extLst>
          </p:cNvPr>
          <p:cNvSpPr>
            <a:spLocks noGrp="1"/>
          </p:cNvSpPr>
          <p:nvPr>
            <p:ph type="title"/>
          </p:nvPr>
        </p:nvSpPr>
        <p:spPr/>
        <p:txBody>
          <a:bodyPr/>
          <a:lstStyle/>
          <a:p>
            <a:r>
              <a:rPr lang="en-US" dirty="0"/>
              <a:t>Load-Pull is Important </a:t>
            </a:r>
          </a:p>
        </p:txBody>
      </p:sp>
      <p:sp>
        <p:nvSpPr>
          <p:cNvPr id="4" name="Slide Number Placeholder 3">
            <a:extLst>
              <a:ext uri="{FF2B5EF4-FFF2-40B4-BE49-F238E27FC236}">
                <a16:creationId xmlns:a16="http://schemas.microsoft.com/office/drawing/2014/main" id="{06077851-A867-184D-FB4C-C16EE0C00F53}"/>
              </a:ext>
            </a:extLst>
          </p:cNvPr>
          <p:cNvSpPr>
            <a:spLocks noGrp="1"/>
          </p:cNvSpPr>
          <p:nvPr>
            <p:ph type="sldNum" sz="quarter" idx="10"/>
          </p:nvPr>
        </p:nvSpPr>
        <p:spPr/>
        <p:txBody>
          <a:bodyPr/>
          <a:lstStyle/>
          <a:p>
            <a:fld id="{712AF26B-5AA3-46FB-B36A-D6DA52437630}" type="slidenum">
              <a:rPr lang="en-US" smtClean="0"/>
              <a:t>3</a:t>
            </a:fld>
            <a:endParaRPr lang="en-US"/>
          </a:p>
        </p:txBody>
      </p:sp>
      <p:pic>
        <p:nvPicPr>
          <p:cNvPr id="6" name="Picture 5" descr="A white text on a black background&#10;&#10;Description automatically generated">
            <a:extLst>
              <a:ext uri="{FF2B5EF4-FFF2-40B4-BE49-F238E27FC236}">
                <a16:creationId xmlns:a16="http://schemas.microsoft.com/office/drawing/2014/main" id="{3277F7A0-E574-25F7-C176-8E1FF36C22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764" y="6373060"/>
            <a:ext cx="2500314" cy="443534"/>
          </a:xfrm>
          <a:prstGeom prst="rect">
            <a:avLst/>
          </a:prstGeom>
        </p:spPr>
      </p:pic>
      <p:sp>
        <p:nvSpPr>
          <p:cNvPr id="9" name="Rectangle 8">
            <a:extLst>
              <a:ext uri="{FF2B5EF4-FFF2-40B4-BE49-F238E27FC236}">
                <a16:creationId xmlns:a16="http://schemas.microsoft.com/office/drawing/2014/main" id="{71E75629-0F7A-A6BA-569C-460DC2C8CB0B}"/>
              </a:ext>
            </a:extLst>
          </p:cNvPr>
          <p:cNvSpPr/>
          <p:nvPr/>
        </p:nvSpPr>
        <p:spPr bwMode="auto">
          <a:xfrm>
            <a:off x="602232" y="5346703"/>
            <a:ext cx="11146970" cy="707887"/>
          </a:xfrm>
          <a:prstGeom prst="rect">
            <a:avLst/>
          </a:prstGeom>
          <a:solidFill>
            <a:srgbClr val="FFFFFF"/>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sz="2000" dirty="0">
                <a:effectLst/>
                <a:latin typeface="Helvetica Neue" panose="02000503000000020004" pitchFamily="2" charset="0"/>
              </a:rPr>
              <a:t>Load-pull measurement reduction techniques can be applied in optimization </a:t>
            </a:r>
            <a:r>
              <a:rPr lang="en-US" sz="2000" dirty="0">
                <a:latin typeface="Helvetica Neue" panose="02000503000000020004" pitchFamily="2" charset="0"/>
              </a:rPr>
              <a:t>problems under real-time constraints such as when developing adaptive and reconfigurable systems.</a:t>
            </a:r>
            <a:endParaRPr lang="en-US" sz="2000" dirty="0">
              <a:effectLst/>
              <a:latin typeface="Helvetica Neue" panose="02000503000000020004" pitchFamily="2" charset="0"/>
            </a:endParaRPr>
          </a:p>
        </p:txBody>
      </p:sp>
      <p:pic>
        <p:nvPicPr>
          <p:cNvPr id="10" name="Picture 9" descr="A diagram of a circular diagram&#10;&#10;Description automatically generated">
            <a:extLst>
              <a:ext uri="{FF2B5EF4-FFF2-40B4-BE49-F238E27FC236}">
                <a16:creationId xmlns:a16="http://schemas.microsoft.com/office/drawing/2014/main" id="{DE99304C-559D-6625-2B57-E1E937DE0500}"/>
              </a:ext>
            </a:extLst>
          </p:cNvPr>
          <p:cNvPicPr>
            <a:picLocks noChangeAspect="1"/>
          </p:cNvPicPr>
          <p:nvPr/>
        </p:nvPicPr>
        <p:blipFill rotWithShape="1">
          <a:blip r:embed="rId3">
            <a:extLst>
              <a:ext uri="{28A0092B-C50C-407E-A947-70E740481C1C}">
                <a14:useLocalDpi xmlns:a14="http://schemas.microsoft.com/office/drawing/2010/main" val="0"/>
              </a:ext>
            </a:extLst>
          </a:blip>
          <a:srcRect t="1164"/>
          <a:stretch/>
        </p:blipFill>
        <p:spPr>
          <a:xfrm>
            <a:off x="5753745" y="1300950"/>
            <a:ext cx="3350360" cy="3010327"/>
          </a:xfrm>
          <a:prstGeom prst="rect">
            <a:avLst/>
          </a:prstGeom>
        </p:spPr>
      </p:pic>
      <p:pic>
        <p:nvPicPr>
          <p:cNvPr id="11" name="Picture 10" descr="A diagram of a circuit&#10;&#10;Description automatically generated">
            <a:extLst>
              <a:ext uri="{FF2B5EF4-FFF2-40B4-BE49-F238E27FC236}">
                <a16:creationId xmlns:a16="http://schemas.microsoft.com/office/drawing/2014/main" id="{18D0BFC6-FB45-C5A7-F9EE-2F38F2C1EC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5580" y="1300949"/>
            <a:ext cx="2705115" cy="3010328"/>
          </a:xfrm>
          <a:prstGeom prst="rect">
            <a:avLst/>
          </a:prstGeom>
          <a:ln>
            <a:solidFill>
              <a:schemeClr val="tx1"/>
            </a:solidFill>
          </a:ln>
        </p:spPr>
      </p:pic>
      <p:sp>
        <p:nvSpPr>
          <p:cNvPr id="12" name="TextBox 11">
            <a:extLst>
              <a:ext uri="{FF2B5EF4-FFF2-40B4-BE49-F238E27FC236}">
                <a16:creationId xmlns:a16="http://schemas.microsoft.com/office/drawing/2014/main" id="{15494C43-8A7E-4B5B-3425-D5F45A4D7F41}"/>
              </a:ext>
            </a:extLst>
          </p:cNvPr>
          <p:cNvSpPr txBox="1"/>
          <p:nvPr/>
        </p:nvSpPr>
        <p:spPr>
          <a:xfrm>
            <a:off x="1368007" y="4311277"/>
            <a:ext cx="3200260" cy="646331"/>
          </a:xfrm>
          <a:prstGeom prst="rect">
            <a:avLst/>
          </a:prstGeom>
          <a:noFill/>
        </p:spPr>
        <p:txBody>
          <a:bodyPr wrap="square" rtlCol="0">
            <a:spAutoFit/>
          </a:bodyPr>
          <a:lstStyle/>
          <a:p>
            <a:pPr algn="ctr"/>
            <a:r>
              <a:rPr lang="en-US" dirty="0"/>
              <a:t>RFPA Schematic with many optimization parameters</a:t>
            </a:r>
          </a:p>
        </p:txBody>
      </p:sp>
      <p:sp>
        <p:nvSpPr>
          <p:cNvPr id="13" name="TextBox 12">
            <a:extLst>
              <a:ext uri="{FF2B5EF4-FFF2-40B4-BE49-F238E27FC236}">
                <a16:creationId xmlns:a16="http://schemas.microsoft.com/office/drawing/2014/main" id="{31B344E2-996B-4588-D762-6428A4D7DF38}"/>
              </a:ext>
            </a:extLst>
          </p:cNvPr>
          <p:cNvSpPr txBox="1"/>
          <p:nvPr/>
        </p:nvSpPr>
        <p:spPr>
          <a:xfrm>
            <a:off x="5138529" y="4311276"/>
            <a:ext cx="4580791" cy="646331"/>
          </a:xfrm>
          <a:prstGeom prst="rect">
            <a:avLst/>
          </a:prstGeom>
          <a:noFill/>
        </p:spPr>
        <p:txBody>
          <a:bodyPr wrap="square" rtlCol="0">
            <a:spAutoFit/>
          </a:bodyPr>
          <a:lstStyle/>
          <a:p>
            <a:pPr algn="ctr"/>
            <a:r>
              <a:rPr lang="en-US" dirty="0"/>
              <a:t>Example of ACPR and PAE performance contours for a single PA design [2]</a:t>
            </a:r>
          </a:p>
        </p:txBody>
      </p:sp>
      <p:sp>
        <p:nvSpPr>
          <p:cNvPr id="14" name="TextBox 13">
            <a:extLst>
              <a:ext uri="{FF2B5EF4-FFF2-40B4-BE49-F238E27FC236}">
                <a16:creationId xmlns:a16="http://schemas.microsoft.com/office/drawing/2014/main" id="{729E8020-229E-532E-1F42-CBEFD2FF4358}"/>
              </a:ext>
            </a:extLst>
          </p:cNvPr>
          <p:cNvSpPr txBox="1"/>
          <p:nvPr/>
        </p:nvSpPr>
        <p:spPr>
          <a:xfrm>
            <a:off x="9471681" y="1198326"/>
            <a:ext cx="2598399" cy="2862322"/>
          </a:xfrm>
          <a:prstGeom prst="rect">
            <a:avLst/>
          </a:prstGeom>
          <a:noFill/>
        </p:spPr>
        <p:txBody>
          <a:bodyPr wrap="square" rtlCol="0">
            <a:spAutoFit/>
          </a:bodyPr>
          <a:lstStyle/>
          <a:p>
            <a:pPr marL="285750" indent="-285750">
              <a:buFont typeface="Arial" panose="020B0604020202020204" pitchFamily="34" charset="0"/>
              <a:buChar char="•"/>
            </a:pPr>
            <a:r>
              <a:rPr lang="en-US" dirty="0"/>
              <a:t>Collecting enough load-pull measurements to characterize performance across the Smith chart is time-consuming </a:t>
            </a:r>
            <a:r>
              <a:rPr lang="en-US" b="1" dirty="0"/>
              <a:t>and must be done for each set of design parameters</a:t>
            </a:r>
          </a:p>
        </p:txBody>
      </p:sp>
    </p:spTree>
    <p:extLst>
      <p:ext uri="{BB962C8B-B14F-4D97-AF65-F5344CB8AC3E}">
        <p14:creationId xmlns:p14="http://schemas.microsoft.com/office/powerpoint/2010/main" val="1474641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9A0B1-A7FF-E970-E7AD-C2F7E243F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714800-697C-04D2-C9EA-18619DF0AAD3}"/>
              </a:ext>
            </a:extLst>
          </p:cNvPr>
          <p:cNvSpPr>
            <a:spLocks noGrp="1"/>
          </p:cNvSpPr>
          <p:nvPr>
            <p:ph type="title"/>
          </p:nvPr>
        </p:nvSpPr>
        <p:spPr/>
        <p:txBody>
          <a:bodyPr/>
          <a:lstStyle/>
          <a:p>
            <a:r>
              <a:rPr lang="en-US" dirty="0"/>
              <a:t>Load-Pull is Important </a:t>
            </a:r>
          </a:p>
        </p:txBody>
      </p:sp>
      <p:sp>
        <p:nvSpPr>
          <p:cNvPr id="4" name="Slide Number Placeholder 3">
            <a:extLst>
              <a:ext uri="{FF2B5EF4-FFF2-40B4-BE49-F238E27FC236}">
                <a16:creationId xmlns:a16="http://schemas.microsoft.com/office/drawing/2014/main" id="{007C9834-0624-20FC-5F7D-70B18A26CC8C}"/>
              </a:ext>
            </a:extLst>
          </p:cNvPr>
          <p:cNvSpPr>
            <a:spLocks noGrp="1"/>
          </p:cNvSpPr>
          <p:nvPr>
            <p:ph type="sldNum" sz="quarter" idx="10"/>
          </p:nvPr>
        </p:nvSpPr>
        <p:spPr/>
        <p:txBody>
          <a:bodyPr/>
          <a:lstStyle/>
          <a:p>
            <a:fld id="{712AF26B-5AA3-46FB-B36A-D6DA52437630}" type="slidenum">
              <a:rPr lang="en-US" smtClean="0"/>
              <a:t>4</a:t>
            </a:fld>
            <a:endParaRPr lang="en-US"/>
          </a:p>
        </p:txBody>
      </p:sp>
      <p:pic>
        <p:nvPicPr>
          <p:cNvPr id="6" name="Picture 5" descr="A white text on a black background&#10;&#10;Description automatically generated">
            <a:extLst>
              <a:ext uri="{FF2B5EF4-FFF2-40B4-BE49-F238E27FC236}">
                <a16:creationId xmlns:a16="http://schemas.microsoft.com/office/drawing/2014/main" id="{45BACBB7-DC2C-1DD5-FE5F-A34B49AB2E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764" y="6373060"/>
            <a:ext cx="2500314" cy="443534"/>
          </a:xfrm>
          <a:prstGeom prst="rect">
            <a:avLst/>
          </a:prstGeom>
        </p:spPr>
      </p:pic>
      <p:pic>
        <p:nvPicPr>
          <p:cNvPr id="3" name="Content Placeholder 3" descr="Descargando la Memoria/Unloading the Memory: El estrés: Su dominio ...">
            <a:extLst>
              <a:ext uri="{FF2B5EF4-FFF2-40B4-BE49-F238E27FC236}">
                <a16:creationId xmlns:a16="http://schemas.microsoft.com/office/drawing/2014/main" id="{80CAA8D6-F9D5-8AA7-9731-56126625A51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655256" y="1565951"/>
            <a:ext cx="3333750" cy="2943225"/>
          </a:xfrm>
        </p:spPr>
      </p:pic>
      <p:sp>
        <p:nvSpPr>
          <p:cNvPr id="5" name="Rectangle 4">
            <a:extLst>
              <a:ext uri="{FF2B5EF4-FFF2-40B4-BE49-F238E27FC236}">
                <a16:creationId xmlns:a16="http://schemas.microsoft.com/office/drawing/2014/main" id="{400D6A5F-9D08-D9DB-CC1F-FDFC5ABD2232}"/>
              </a:ext>
            </a:extLst>
          </p:cNvPr>
          <p:cNvSpPr/>
          <p:nvPr/>
        </p:nvSpPr>
        <p:spPr>
          <a:xfrm>
            <a:off x="1014225" y="2905780"/>
            <a:ext cx="2403222" cy="523220"/>
          </a:xfrm>
          <a:prstGeom prst="rect">
            <a:avLst/>
          </a:prstGeom>
        </p:spPr>
        <p:txBody>
          <a:bodyPr wrap="none">
            <a:spAutoFit/>
          </a:bodyPr>
          <a:lstStyle/>
          <a:p>
            <a:r>
              <a:rPr lang="en-US" sz="2800" dirty="0"/>
              <a:t>Power Sweep</a:t>
            </a:r>
          </a:p>
        </p:txBody>
      </p:sp>
      <p:sp>
        <p:nvSpPr>
          <p:cNvPr id="7" name="Rectangle 6">
            <a:extLst>
              <a:ext uri="{FF2B5EF4-FFF2-40B4-BE49-F238E27FC236}">
                <a16:creationId xmlns:a16="http://schemas.microsoft.com/office/drawing/2014/main" id="{FCAF01AA-2049-70B3-2450-65BD1D4AA9F3}"/>
              </a:ext>
            </a:extLst>
          </p:cNvPr>
          <p:cNvSpPr/>
          <p:nvPr/>
        </p:nvSpPr>
        <p:spPr>
          <a:xfrm>
            <a:off x="9270380" y="2905780"/>
            <a:ext cx="1705916" cy="523220"/>
          </a:xfrm>
          <a:prstGeom prst="rect">
            <a:avLst/>
          </a:prstGeom>
        </p:spPr>
        <p:txBody>
          <a:bodyPr wrap="none">
            <a:spAutoFit/>
          </a:bodyPr>
          <a:lstStyle/>
          <a:p>
            <a:r>
              <a:rPr lang="en-US" sz="2800" dirty="0"/>
              <a:t>Load-Pull</a:t>
            </a:r>
          </a:p>
        </p:txBody>
      </p:sp>
      <p:sp>
        <p:nvSpPr>
          <p:cNvPr id="8" name="Rectangle 7">
            <a:extLst>
              <a:ext uri="{FF2B5EF4-FFF2-40B4-BE49-F238E27FC236}">
                <a16:creationId xmlns:a16="http://schemas.microsoft.com/office/drawing/2014/main" id="{48F04D77-2AF4-4B2F-F58D-8E544F43D8E8}"/>
              </a:ext>
            </a:extLst>
          </p:cNvPr>
          <p:cNvSpPr/>
          <p:nvPr/>
        </p:nvSpPr>
        <p:spPr>
          <a:xfrm>
            <a:off x="5191052" y="978428"/>
            <a:ext cx="2262158" cy="523220"/>
          </a:xfrm>
          <a:prstGeom prst="rect">
            <a:avLst/>
          </a:prstGeom>
        </p:spPr>
        <p:txBody>
          <a:bodyPr wrap="none">
            <a:spAutoFit/>
          </a:bodyPr>
          <a:lstStyle/>
          <a:p>
            <a:r>
              <a:rPr lang="en-US" sz="2800" dirty="0"/>
              <a:t>Bias Sweeps</a:t>
            </a:r>
          </a:p>
        </p:txBody>
      </p:sp>
      <p:sp>
        <p:nvSpPr>
          <p:cNvPr id="15" name="Bent Arrow 14">
            <a:extLst>
              <a:ext uri="{FF2B5EF4-FFF2-40B4-BE49-F238E27FC236}">
                <a16:creationId xmlns:a16="http://schemas.microsoft.com/office/drawing/2014/main" id="{6B90CCA1-85D7-414B-C5A2-BDD8235AE10D}"/>
              </a:ext>
            </a:extLst>
          </p:cNvPr>
          <p:cNvSpPr/>
          <p:nvPr/>
        </p:nvSpPr>
        <p:spPr bwMode="auto">
          <a:xfrm>
            <a:off x="1980999" y="832175"/>
            <a:ext cx="3116826" cy="1868129"/>
          </a:xfrm>
          <a:prstGeom prst="bentArrow">
            <a:avLst/>
          </a:prstGeom>
          <a:solidFill>
            <a:srgbClr val="FFFF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6" name="Bent Arrow 15">
            <a:extLst>
              <a:ext uri="{FF2B5EF4-FFF2-40B4-BE49-F238E27FC236}">
                <a16:creationId xmlns:a16="http://schemas.microsoft.com/office/drawing/2014/main" id="{3A7AEAAB-2EE0-4D2E-8AF5-6EFA9AABBD25}"/>
              </a:ext>
            </a:extLst>
          </p:cNvPr>
          <p:cNvSpPr/>
          <p:nvPr/>
        </p:nvSpPr>
        <p:spPr bwMode="auto">
          <a:xfrm rot="5400000">
            <a:off x="8140078" y="478014"/>
            <a:ext cx="1988179" cy="2989007"/>
          </a:xfrm>
          <a:prstGeom prst="bentArrow">
            <a:avLst/>
          </a:prstGeom>
          <a:solidFill>
            <a:srgbClr val="FFFF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7" name="U-Turn Arrow 16">
            <a:extLst>
              <a:ext uri="{FF2B5EF4-FFF2-40B4-BE49-F238E27FC236}">
                <a16:creationId xmlns:a16="http://schemas.microsoft.com/office/drawing/2014/main" id="{F3F991C3-7D06-22A1-202A-C5E53FB292FC}"/>
              </a:ext>
            </a:extLst>
          </p:cNvPr>
          <p:cNvSpPr/>
          <p:nvPr/>
        </p:nvSpPr>
        <p:spPr bwMode="auto">
          <a:xfrm rot="10800000">
            <a:off x="1789471" y="3429000"/>
            <a:ext cx="8613058" cy="1552962"/>
          </a:xfrm>
          <a:prstGeom prst="uturnArrow">
            <a:avLst>
              <a:gd name="adj1" fmla="val 25000"/>
              <a:gd name="adj2" fmla="val 25000"/>
              <a:gd name="adj3" fmla="val 25000"/>
              <a:gd name="adj4" fmla="val 43750"/>
              <a:gd name="adj5" fmla="val 100000"/>
            </a:avLst>
          </a:prstGeom>
          <a:solidFill>
            <a:srgbClr val="FFFF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8" name="TextBox 17">
            <a:extLst>
              <a:ext uri="{FF2B5EF4-FFF2-40B4-BE49-F238E27FC236}">
                <a16:creationId xmlns:a16="http://schemas.microsoft.com/office/drawing/2014/main" id="{1B736E20-FB75-EF0C-CF14-E0DD5B815F4B}"/>
              </a:ext>
            </a:extLst>
          </p:cNvPr>
          <p:cNvSpPr txBox="1"/>
          <p:nvPr/>
        </p:nvSpPr>
        <p:spPr>
          <a:xfrm>
            <a:off x="10179" y="5287161"/>
            <a:ext cx="12171641" cy="738664"/>
          </a:xfrm>
          <a:prstGeom prst="rect">
            <a:avLst/>
          </a:prstGeom>
          <a:noFill/>
        </p:spPr>
        <p:txBody>
          <a:bodyPr wrap="square">
            <a:spAutoFit/>
          </a:bodyPr>
          <a:lstStyle/>
          <a:p>
            <a:pPr algn="ctr"/>
            <a:r>
              <a:rPr lang="en-US" sz="4200" dirty="0"/>
              <a:t>Applications Requires Many Measurements</a:t>
            </a:r>
          </a:p>
        </p:txBody>
      </p:sp>
    </p:spTree>
    <p:extLst>
      <p:ext uri="{BB962C8B-B14F-4D97-AF65-F5344CB8AC3E}">
        <p14:creationId xmlns:p14="http://schemas.microsoft.com/office/powerpoint/2010/main" val="1667669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7FD-FD34-F6DE-835C-EDCE1EE419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A03FDD-80D6-0B61-D66B-1241ED96AE4B}"/>
              </a:ext>
            </a:extLst>
          </p:cNvPr>
          <p:cNvSpPr>
            <a:spLocks noGrp="1"/>
          </p:cNvSpPr>
          <p:nvPr>
            <p:ph type="title"/>
          </p:nvPr>
        </p:nvSpPr>
        <p:spPr/>
        <p:txBody>
          <a:bodyPr/>
          <a:lstStyle/>
          <a:p>
            <a:r>
              <a:rPr lang="en-US" dirty="0"/>
              <a:t>Load-Pull can be Difficult to Measure</a:t>
            </a:r>
          </a:p>
        </p:txBody>
      </p:sp>
      <p:sp>
        <p:nvSpPr>
          <p:cNvPr id="4" name="Slide Number Placeholder 3">
            <a:extLst>
              <a:ext uri="{FF2B5EF4-FFF2-40B4-BE49-F238E27FC236}">
                <a16:creationId xmlns:a16="http://schemas.microsoft.com/office/drawing/2014/main" id="{B8EB0B2B-656E-F099-B15A-9282A329AC1E}"/>
              </a:ext>
            </a:extLst>
          </p:cNvPr>
          <p:cNvSpPr>
            <a:spLocks noGrp="1"/>
          </p:cNvSpPr>
          <p:nvPr>
            <p:ph type="sldNum" sz="quarter" idx="10"/>
          </p:nvPr>
        </p:nvSpPr>
        <p:spPr/>
        <p:txBody>
          <a:bodyPr/>
          <a:lstStyle/>
          <a:p>
            <a:fld id="{712AF26B-5AA3-46FB-B36A-D6DA52437630}" type="slidenum">
              <a:rPr lang="en-US" smtClean="0"/>
              <a:t>5</a:t>
            </a:fld>
            <a:endParaRPr lang="en-US"/>
          </a:p>
        </p:txBody>
      </p:sp>
      <p:sp>
        <p:nvSpPr>
          <p:cNvPr id="8" name="Content Placeholder 2">
            <a:extLst>
              <a:ext uri="{FF2B5EF4-FFF2-40B4-BE49-F238E27FC236}">
                <a16:creationId xmlns:a16="http://schemas.microsoft.com/office/drawing/2014/main" id="{9CA230EF-CFD0-C8BC-EBA7-3E8429BD9F6B}"/>
              </a:ext>
            </a:extLst>
          </p:cNvPr>
          <p:cNvSpPr txBox="1">
            <a:spLocks/>
          </p:cNvSpPr>
          <p:nvPr/>
        </p:nvSpPr>
        <p:spPr>
          <a:xfrm>
            <a:off x="6896620" y="1090113"/>
            <a:ext cx="4956499" cy="5217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Active load-pull	</a:t>
            </a:r>
            <a:endParaRPr lang="en-US" b="1" dirty="0"/>
          </a:p>
          <a:p>
            <a:pPr lvl="1"/>
            <a:r>
              <a:rPr lang="en-US" dirty="0"/>
              <a:t>Fast</a:t>
            </a:r>
          </a:p>
          <a:p>
            <a:pPr lvl="1"/>
            <a:r>
              <a:rPr lang="en-US" dirty="0"/>
              <a:t>Struggles at high powers</a:t>
            </a:r>
          </a:p>
          <a:p>
            <a:pPr lvl="1"/>
            <a:r>
              <a:rPr lang="en-US" b="1" dirty="0"/>
              <a:t>Expensive</a:t>
            </a:r>
            <a:endParaRPr lang="en-US" dirty="0"/>
          </a:p>
          <a:p>
            <a:pPr marL="457200" lvl="1" indent="0">
              <a:buNone/>
            </a:pPr>
            <a:endParaRPr lang="en-US" dirty="0"/>
          </a:p>
          <a:p>
            <a:pPr marL="0" indent="0">
              <a:buFont typeface="Arial" panose="020B0604020202020204" pitchFamily="34" charset="0"/>
              <a:buNone/>
            </a:pPr>
            <a:endParaRPr lang="en-US" dirty="0"/>
          </a:p>
          <a:p>
            <a:endParaRPr lang="en-US" dirty="0"/>
          </a:p>
        </p:txBody>
      </p:sp>
      <p:sp>
        <p:nvSpPr>
          <p:cNvPr id="9" name="Content Placeholder 2">
            <a:extLst>
              <a:ext uri="{FF2B5EF4-FFF2-40B4-BE49-F238E27FC236}">
                <a16:creationId xmlns:a16="http://schemas.microsoft.com/office/drawing/2014/main" id="{B11EE28D-34B6-CDEA-492B-5DB7443674A5}"/>
              </a:ext>
            </a:extLst>
          </p:cNvPr>
          <p:cNvSpPr txBox="1">
            <a:spLocks/>
          </p:cNvSpPr>
          <p:nvPr/>
        </p:nvSpPr>
        <p:spPr>
          <a:xfrm>
            <a:off x="338883" y="1090113"/>
            <a:ext cx="4956499" cy="52174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Passive load-pull	</a:t>
            </a:r>
          </a:p>
          <a:p>
            <a:pPr lvl="1"/>
            <a:r>
              <a:rPr lang="en-US" dirty="0"/>
              <a:t>High Power Handling</a:t>
            </a:r>
          </a:p>
          <a:p>
            <a:pPr lvl="1"/>
            <a:r>
              <a:rPr lang="en-US" dirty="0"/>
              <a:t>Mechanically Actuated</a:t>
            </a:r>
          </a:p>
          <a:p>
            <a:pPr lvl="1"/>
            <a:r>
              <a:rPr lang="en-US" b="1" dirty="0"/>
              <a:t>Slow</a:t>
            </a:r>
          </a:p>
        </p:txBody>
      </p:sp>
      <p:pic>
        <p:nvPicPr>
          <p:cNvPr id="10" name="Picture 9" descr="Passive Load-Pull Systems | Springer Nature Link">
            <a:extLst>
              <a:ext uri="{FF2B5EF4-FFF2-40B4-BE49-F238E27FC236}">
                <a16:creationId xmlns:a16="http://schemas.microsoft.com/office/drawing/2014/main" id="{7030A244-15F9-E0E8-3ECA-5A5D0BC5912D}"/>
              </a:ext>
            </a:extLst>
          </p:cNvPr>
          <p:cNvPicPr>
            <a:picLocks noChangeAspect="1"/>
          </p:cNvPicPr>
          <p:nvPr/>
        </p:nvPicPr>
        <p:blipFill>
          <a:blip r:embed="rId2"/>
          <a:stretch>
            <a:fillRect/>
          </a:stretch>
        </p:blipFill>
        <p:spPr>
          <a:xfrm>
            <a:off x="1430175" y="2872739"/>
            <a:ext cx="2761998" cy="3186920"/>
          </a:xfrm>
          <a:prstGeom prst="rect">
            <a:avLst/>
          </a:prstGeom>
        </p:spPr>
      </p:pic>
      <p:sp>
        <p:nvSpPr>
          <p:cNvPr id="11" name="TextBox 10">
            <a:extLst>
              <a:ext uri="{FF2B5EF4-FFF2-40B4-BE49-F238E27FC236}">
                <a16:creationId xmlns:a16="http://schemas.microsoft.com/office/drawing/2014/main" id="{3E531EA3-06CB-7ABD-5E4B-B501ACF80CF4}"/>
              </a:ext>
            </a:extLst>
          </p:cNvPr>
          <p:cNvSpPr txBox="1"/>
          <p:nvPr/>
        </p:nvSpPr>
        <p:spPr>
          <a:xfrm>
            <a:off x="4192173" y="5753523"/>
            <a:ext cx="442750" cy="369332"/>
          </a:xfrm>
          <a:prstGeom prst="rect">
            <a:avLst/>
          </a:prstGeom>
          <a:noFill/>
        </p:spPr>
        <p:txBody>
          <a:bodyPr wrap="none" rtlCol="0">
            <a:spAutoFit/>
          </a:bodyPr>
          <a:lstStyle/>
          <a:p>
            <a:r>
              <a:rPr lang="en-US" dirty="0"/>
              <a:t>[3]</a:t>
            </a:r>
          </a:p>
        </p:txBody>
      </p:sp>
      <p:pic>
        <p:nvPicPr>
          <p:cNvPr id="13" name="Picture 12">
            <a:extLst>
              <a:ext uri="{FF2B5EF4-FFF2-40B4-BE49-F238E27FC236}">
                <a16:creationId xmlns:a16="http://schemas.microsoft.com/office/drawing/2014/main" id="{85EBF5FB-BDFD-9C8C-5740-780A304450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303937"/>
            <a:ext cx="5698248" cy="2324523"/>
          </a:xfrm>
          <a:prstGeom prst="rect">
            <a:avLst/>
          </a:prstGeom>
        </p:spPr>
      </p:pic>
      <p:sp>
        <p:nvSpPr>
          <p:cNvPr id="14" name="TextBox 13">
            <a:extLst>
              <a:ext uri="{FF2B5EF4-FFF2-40B4-BE49-F238E27FC236}">
                <a16:creationId xmlns:a16="http://schemas.microsoft.com/office/drawing/2014/main" id="{88E91748-DB21-7585-E626-A4C82372805A}"/>
              </a:ext>
            </a:extLst>
          </p:cNvPr>
          <p:cNvSpPr txBox="1"/>
          <p:nvPr/>
        </p:nvSpPr>
        <p:spPr>
          <a:xfrm>
            <a:off x="11631742" y="5288328"/>
            <a:ext cx="442750" cy="369332"/>
          </a:xfrm>
          <a:prstGeom prst="rect">
            <a:avLst/>
          </a:prstGeom>
          <a:noFill/>
        </p:spPr>
        <p:txBody>
          <a:bodyPr wrap="none" rtlCol="0">
            <a:spAutoFit/>
          </a:bodyPr>
          <a:lstStyle/>
          <a:p>
            <a:r>
              <a:rPr lang="en-US" dirty="0"/>
              <a:t>[4]</a:t>
            </a:r>
          </a:p>
        </p:txBody>
      </p:sp>
    </p:spTree>
    <p:extLst>
      <p:ext uri="{BB962C8B-B14F-4D97-AF65-F5344CB8AC3E}">
        <p14:creationId xmlns:p14="http://schemas.microsoft.com/office/powerpoint/2010/main" val="325017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AC4C1-E8D8-7298-9701-66643912C15F}"/>
              </a:ext>
            </a:extLst>
          </p:cNvPr>
          <p:cNvSpPr>
            <a:spLocks noGrp="1"/>
          </p:cNvSpPr>
          <p:nvPr>
            <p:ph type="title"/>
          </p:nvPr>
        </p:nvSpPr>
        <p:spPr/>
        <p:txBody>
          <a:bodyPr/>
          <a:lstStyle/>
          <a:p>
            <a:r>
              <a:rPr lang="en-US" dirty="0"/>
              <a:t>Contributions</a:t>
            </a:r>
          </a:p>
        </p:txBody>
      </p:sp>
      <p:sp>
        <p:nvSpPr>
          <p:cNvPr id="4" name="Slide Number Placeholder 3">
            <a:extLst>
              <a:ext uri="{FF2B5EF4-FFF2-40B4-BE49-F238E27FC236}">
                <a16:creationId xmlns:a16="http://schemas.microsoft.com/office/drawing/2014/main" id="{B481BF01-0DBE-C666-F3A2-47FEE03F7E3E}"/>
              </a:ext>
            </a:extLst>
          </p:cNvPr>
          <p:cNvSpPr>
            <a:spLocks noGrp="1"/>
          </p:cNvSpPr>
          <p:nvPr>
            <p:ph type="sldNum" sz="quarter" idx="10"/>
          </p:nvPr>
        </p:nvSpPr>
        <p:spPr/>
        <p:txBody>
          <a:bodyPr/>
          <a:lstStyle/>
          <a:p>
            <a:fld id="{712AF26B-5AA3-46FB-B36A-D6DA52437630}" type="slidenum">
              <a:rPr lang="en-US" smtClean="0"/>
              <a:t>6</a:t>
            </a:fld>
            <a:endParaRPr lang="en-US"/>
          </a:p>
        </p:txBody>
      </p:sp>
      <p:sp>
        <p:nvSpPr>
          <p:cNvPr id="8" name="Content Placeholder 2">
            <a:extLst>
              <a:ext uri="{FF2B5EF4-FFF2-40B4-BE49-F238E27FC236}">
                <a16:creationId xmlns:a16="http://schemas.microsoft.com/office/drawing/2014/main" id="{3D4CF2EF-EB10-A311-7EE4-5B617A2F3A17}"/>
              </a:ext>
            </a:extLst>
          </p:cNvPr>
          <p:cNvSpPr txBox="1">
            <a:spLocks/>
          </p:cNvSpPr>
          <p:nvPr/>
        </p:nvSpPr>
        <p:spPr>
          <a:xfrm>
            <a:off x="340823" y="1178524"/>
            <a:ext cx="5755177" cy="49984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contribution of this work is </a:t>
            </a:r>
            <a:r>
              <a:rPr lang="en-US" b="1" dirty="0"/>
              <a:t>a fast, low-cost passive load-pull measurement system.</a:t>
            </a:r>
          </a:p>
          <a:p>
            <a:pPr marL="0" indent="0">
              <a:buNone/>
            </a:pPr>
            <a:r>
              <a:rPr lang="en-US" b="1" dirty="0"/>
              <a:t>This works using:</a:t>
            </a:r>
          </a:p>
          <a:p>
            <a:pPr lvl="1"/>
            <a:r>
              <a:rPr lang="en-US" b="1" dirty="0"/>
              <a:t>A Low-Cost Custom Impedance Tuner</a:t>
            </a:r>
          </a:p>
          <a:p>
            <a:pPr lvl="1"/>
            <a:r>
              <a:rPr lang="en-US" b="1" dirty="0"/>
              <a:t>Generative Adversarial Network Load-Pull Extrapolation</a:t>
            </a:r>
          </a:p>
          <a:p>
            <a:pPr lvl="1"/>
            <a:endParaRPr lang="en-US" dirty="0"/>
          </a:p>
        </p:txBody>
      </p:sp>
      <p:pic>
        <p:nvPicPr>
          <p:cNvPr id="3" name="Picture 2">
            <a:extLst>
              <a:ext uri="{FF2B5EF4-FFF2-40B4-BE49-F238E27FC236}">
                <a16:creationId xmlns:a16="http://schemas.microsoft.com/office/drawing/2014/main" id="{53C34767-54A3-9240-9E73-AB3917E2F8CC}"/>
              </a:ext>
            </a:extLst>
          </p:cNvPr>
          <p:cNvPicPr>
            <a:picLocks noChangeAspect="1"/>
          </p:cNvPicPr>
          <p:nvPr/>
        </p:nvPicPr>
        <p:blipFill>
          <a:blip r:embed="rId3">
            <a:extLst>
              <a:ext uri="{28A0092B-C50C-407E-A947-70E740481C1C}">
                <a14:useLocalDpi xmlns:a14="http://schemas.microsoft.com/office/drawing/2010/main" val="0"/>
              </a:ext>
            </a:extLst>
          </a:blip>
          <a:srcRect l="12396" r="2502" b="-2"/>
          <a:stretch>
            <a:fillRect/>
          </a:stretch>
        </p:blipFill>
        <p:spPr>
          <a:xfrm>
            <a:off x="8116579" y="1178524"/>
            <a:ext cx="2425517" cy="2123400"/>
          </a:xfrm>
          <a:prstGeom prst="rect">
            <a:avLst/>
          </a:prstGeom>
          <a:noFill/>
        </p:spPr>
      </p:pic>
      <p:pic>
        <p:nvPicPr>
          <p:cNvPr id="9" name="Graphic 2">
            <a:extLst>
              <a:ext uri="{FF2B5EF4-FFF2-40B4-BE49-F238E27FC236}">
                <a16:creationId xmlns:a16="http://schemas.microsoft.com/office/drawing/2014/main" id="{AE361CFE-ED9B-5935-270E-F9014F64F94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48638" y="3796390"/>
            <a:ext cx="2569337" cy="2121408"/>
          </a:xfrm>
          <a:prstGeom prst="rect">
            <a:avLst/>
          </a:prstGeom>
        </p:spPr>
      </p:pic>
      <p:pic>
        <p:nvPicPr>
          <p:cNvPr id="10" name="Graphic 3">
            <a:extLst>
              <a:ext uri="{FF2B5EF4-FFF2-40B4-BE49-F238E27FC236}">
                <a16:creationId xmlns:a16="http://schemas.microsoft.com/office/drawing/2014/main" id="{57E2A230-20C0-A249-D5E9-52CB799C517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22662" y="3796390"/>
            <a:ext cx="2569338" cy="2121408"/>
          </a:xfrm>
          <a:prstGeom prst="rect">
            <a:avLst/>
          </a:prstGeom>
        </p:spPr>
      </p:pic>
      <p:cxnSp>
        <p:nvCxnSpPr>
          <p:cNvPr id="11" name="Straight Arrow Connector 10">
            <a:extLst>
              <a:ext uri="{FF2B5EF4-FFF2-40B4-BE49-F238E27FC236}">
                <a16:creationId xmlns:a16="http://schemas.microsoft.com/office/drawing/2014/main" id="{4940D3DD-68A5-D57B-93C5-CF04B2A8854F}"/>
              </a:ext>
            </a:extLst>
          </p:cNvPr>
          <p:cNvCxnSpPr>
            <a:cxnSpLocks/>
          </p:cNvCxnSpPr>
          <p:nvPr/>
        </p:nvCxnSpPr>
        <p:spPr>
          <a:xfrm>
            <a:off x="9081770" y="5243513"/>
            <a:ext cx="54089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5E24A70-D73D-6F26-B8A2-C6336640BE6F}"/>
              </a:ext>
            </a:extLst>
          </p:cNvPr>
          <p:cNvCxnSpPr>
            <a:cxnSpLocks/>
          </p:cNvCxnSpPr>
          <p:nvPr/>
        </p:nvCxnSpPr>
        <p:spPr>
          <a:xfrm>
            <a:off x="9081770" y="4438651"/>
            <a:ext cx="54089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1884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9980E-7B0D-75BA-A4B0-9C83230A3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1C8975-0515-47C6-7536-726E4961EFED}"/>
              </a:ext>
            </a:extLst>
          </p:cNvPr>
          <p:cNvSpPr>
            <a:spLocks noGrp="1"/>
          </p:cNvSpPr>
          <p:nvPr>
            <p:ph type="title"/>
          </p:nvPr>
        </p:nvSpPr>
        <p:spPr>
          <a:xfrm>
            <a:off x="340822" y="179234"/>
            <a:ext cx="11510358" cy="910880"/>
          </a:xfrm>
        </p:spPr>
        <p:txBody>
          <a:bodyPr anchor="ctr">
            <a:normAutofit/>
          </a:bodyPr>
          <a:lstStyle/>
          <a:p>
            <a:r>
              <a:rPr lang="en-US" dirty="0"/>
              <a:t>Custom Hardware Tuner</a:t>
            </a:r>
          </a:p>
        </p:txBody>
      </p:sp>
      <p:sp>
        <p:nvSpPr>
          <p:cNvPr id="3" name="Content Placeholder 2">
            <a:extLst>
              <a:ext uri="{FF2B5EF4-FFF2-40B4-BE49-F238E27FC236}">
                <a16:creationId xmlns:a16="http://schemas.microsoft.com/office/drawing/2014/main" id="{56F0DBFE-8851-D965-711E-02299FF835DD}"/>
              </a:ext>
            </a:extLst>
          </p:cNvPr>
          <p:cNvSpPr>
            <a:spLocks noGrp="1"/>
          </p:cNvSpPr>
          <p:nvPr>
            <p:ph sz="half" idx="1"/>
          </p:nvPr>
        </p:nvSpPr>
        <p:spPr>
          <a:xfrm>
            <a:off x="340821" y="1205345"/>
            <a:ext cx="5678979" cy="4971618"/>
          </a:xfrm>
        </p:spPr>
        <p:txBody>
          <a:bodyPr>
            <a:normAutofit fontScale="92500"/>
          </a:bodyPr>
          <a:lstStyle/>
          <a:p>
            <a:r>
              <a:rPr lang="en-US" sz="2400" dirty="0"/>
              <a:t>This paper uses a low-cost prototype of the reconfigurable impedance tuner presented in [5].</a:t>
            </a:r>
          </a:p>
          <a:p>
            <a:pPr lvl="1"/>
            <a:r>
              <a:rPr lang="en-US" sz="1800" dirty="0"/>
              <a:t>At the time of this submission, the bill of materials required to assemble this tuner totals $103.42.</a:t>
            </a:r>
          </a:p>
          <a:p>
            <a:r>
              <a:rPr lang="en-US" sz="2400" dirty="0"/>
              <a:t>Unlike many expensive commercial tuners, this tuner cannot achieve full Smith chart coverage. </a:t>
            </a:r>
          </a:p>
          <a:p>
            <a:r>
              <a:rPr lang="en-US" sz="2400" dirty="0"/>
              <a:t>We can present a small number of reflection coefficients to the DUT, and these reflections are limited in magnitude </a:t>
            </a:r>
          </a:p>
          <a:p>
            <a:r>
              <a:rPr lang="en-US" sz="2400" dirty="0"/>
              <a:t>However, load-pull extrapolation can complete the contours using only the measured points.</a:t>
            </a:r>
          </a:p>
        </p:txBody>
      </p:sp>
      <p:pic>
        <p:nvPicPr>
          <p:cNvPr id="6" name="Picture 5">
            <a:extLst>
              <a:ext uri="{FF2B5EF4-FFF2-40B4-BE49-F238E27FC236}">
                <a16:creationId xmlns:a16="http://schemas.microsoft.com/office/drawing/2014/main" id="{1664882C-0C26-E7D0-C890-50AE75D3D84B}"/>
              </a:ext>
            </a:extLst>
          </p:cNvPr>
          <p:cNvPicPr>
            <a:picLocks noChangeAspect="1"/>
          </p:cNvPicPr>
          <p:nvPr/>
        </p:nvPicPr>
        <p:blipFill>
          <a:blip r:embed="rId3">
            <a:extLst>
              <a:ext uri="{28A0092B-C50C-407E-A947-70E740481C1C}">
                <a14:useLocalDpi xmlns:a14="http://schemas.microsoft.com/office/drawing/2010/main" val="0"/>
              </a:ext>
            </a:extLst>
          </a:blip>
          <a:srcRect l="12396" r="2502" b="-2"/>
          <a:stretch>
            <a:fillRect/>
          </a:stretch>
        </p:blipFill>
        <p:spPr>
          <a:xfrm>
            <a:off x="6172200" y="1205345"/>
            <a:ext cx="5678979" cy="4971618"/>
          </a:xfrm>
          <a:prstGeom prst="rect">
            <a:avLst/>
          </a:prstGeom>
          <a:noFill/>
        </p:spPr>
      </p:pic>
      <p:sp>
        <p:nvSpPr>
          <p:cNvPr id="4" name="Slide Number Placeholder 3">
            <a:extLst>
              <a:ext uri="{FF2B5EF4-FFF2-40B4-BE49-F238E27FC236}">
                <a16:creationId xmlns:a16="http://schemas.microsoft.com/office/drawing/2014/main" id="{0CD25799-F53F-DB0E-8FBC-F67DFCB0755C}"/>
              </a:ext>
            </a:extLst>
          </p:cNvPr>
          <p:cNvSpPr>
            <a:spLocks noGrp="1"/>
          </p:cNvSpPr>
          <p:nvPr>
            <p:ph type="sldNum" sz="quarter" idx="10"/>
          </p:nvPr>
        </p:nvSpPr>
        <p:spPr>
          <a:xfrm>
            <a:off x="8302317" y="6412264"/>
            <a:ext cx="1768323" cy="365125"/>
          </a:xfrm>
        </p:spPr>
        <p:txBody>
          <a:bodyPr anchor="ctr">
            <a:normAutofit/>
          </a:bodyPr>
          <a:lstStyle/>
          <a:p>
            <a:pPr>
              <a:spcAft>
                <a:spcPts val="600"/>
              </a:spcAft>
            </a:pPr>
            <a:fld id="{712AF26B-5AA3-46FB-B36A-D6DA52437630}" type="slidenum">
              <a:rPr lang="en-US" smtClean="0"/>
              <a:pPr>
                <a:spcAft>
                  <a:spcPts val="600"/>
                </a:spcAft>
              </a:pPr>
              <a:t>7</a:t>
            </a:fld>
            <a:endParaRPr lang="en-US"/>
          </a:p>
        </p:txBody>
      </p:sp>
      <p:sp>
        <p:nvSpPr>
          <p:cNvPr id="5" name="TextBox 4">
            <a:extLst>
              <a:ext uri="{FF2B5EF4-FFF2-40B4-BE49-F238E27FC236}">
                <a16:creationId xmlns:a16="http://schemas.microsoft.com/office/drawing/2014/main" id="{A7062583-823C-0ACB-C24E-6B167F53642E}"/>
              </a:ext>
            </a:extLst>
          </p:cNvPr>
          <p:cNvSpPr txBox="1"/>
          <p:nvPr/>
        </p:nvSpPr>
        <p:spPr>
          <a:xfrm>
            <a:off x="0" y="5738381"/>
            <a:ext cx="6019800" cy="877163"/>
          </a:xfrm>
          <a:prstGeom prst="rect">
            <a:avLst/>
          </a:prstGeom>
          <a:noFill/>
        </p:spPr>
        <p:txBody>
          <a:bodyPr wrap="square" rtlCol="0">
            <a:spAutoFit/>
          </a:bodyPr>
          <a:lstStyle/>
          <a:p>
            <a:r>
              <a:rPr lang="en-US" sz="1050" dirty="0"/>
              <a:t>[5] J. Roessler et al., "A Low-Loss Reconfigurable Plasma Impedance Tuner for Real-Time, Frequency-Agile, High-Power RF Applications," 2022 IEEE/MTT-S Int. </a:t>
            </a:r>
            <a:r>
              <a:rPr lang="en-US" sz="1050" dirty="0" err="1"/>
              <a:t>Microw</a:t>
            </a:r>
            <a:r>
              <a:rPr lang="en-US" sz="1050" dirty="0"/>
              <a:t>. Symp., Denver, CO, USA, 2022, pp. 183-186, </a:t>
            </a:r>
            <a:r>
              <a:rPr lang="en-US" sz="1050" dirty="0" err="1"/>
              <a:t>doi</a:t>
            </a:r>
            <a:r>
              <a:rPr lang="en-US" sz="1050" dirty="0"/>
              <a:t>: 10.1109/IMS37962.2022.9865404. </a:t>
            </a:r>
          </a:p>
          <a:p>
            <a:endParaRPr lang="en-US" dirty="0"/>
          </a:p>
        </p:txBody>
      </p:sp>
    </p:spTree>
    <p:extLst>
      <p:ext uri="{BB962C8B-B14F-4D97-AF65-F5344CB8AC3E}">
        <p14:creationId xmlns:p14="http://schemas.microsoft.com/office/powerpoint/2010/main" val="3288894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5DC0A-5A09-F233-F360-CE4E59DDBE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074B20-BCF9-80C5-0C7A-50ACDC049A60}"/>
              </a:ext>
            </a:extLst>
          </p:cNvPr>
          <p:cNvSpPr>
            <a:spLocks noGrp="1"/>
          </p:cNvSpPr>
          <p:nvPr>
            <p:ph type="title"/>
          </p:nvPr>
        </p:nvSpPr>
        <p:spPr/>
        <p:txBody>
          <a:bodyPr/>
          <a:lstStyle/>
          <a:p>
            <a:r>
              <a:rPr lang="en-US" dirty="0"/>
              <a:t>Load-Pull Extrapolation</a:t>
            </a:r>
          </a:p>
        </p:txBody>
      </p:sp>
      <p:sp>
        <p:nvSpPr>
          <p:cNvPr id="4" name="Slide Number Placeholder 3">
            <a:extLst>
              <a:ext uri="{FF2B5EF4-FFF2-40B4-BE49-F238E27FC236}">
                <a16:creationId xmlns:a16="http://schemas.microsoft.com/office/drawing/2014/main" id="{9726B095-38EA-5B28-A14A-A6ECF1026751}"/>
              </a:ext>
            </a:extLst>
          </p:cNvPr>
          <p:cNvSpPr>
            <a:spLocks noGrp="1"/>
          </p:cNvSpPr>
          <p:nvPr>
            <p:ph type="sldNum" sz="quarter" idx="10"/>
          </p:nvPr>
        </p:nvSpPr>
        <p:spPr/>
        <p:txBody>
          <a:bodyPr/>
          <a:lstStyle/>
          <a:p>
            <a:fld id="{712AF26B-5AA3-46FB-B36A-D6DA52437630}" type="slidenum">
              <a:rPr lang="en-US" smtClean="0"/>
              <a:t>8</a:t>
            </a:fld>
            <a:endParaRPr lang="en-US" dirty="0"/>
          </a:p>
        </p:txBody>
      </p:sp>
      <p:pic>
        <p:nvPicPr>
          <p:cNvPr id="7" name="Content Placeholder 3">
            <a:extLst>
              <a:ext uri="{FF2B5EF4-FFF2-40B4-BE49-F238E27FC236}">
                <a16:creationId xmlns:a16="http://schemas.microsoft.com/office/drawing/2014/main" id="{4246CE3A-2EDC-4CAB-A224-E3F56B7898B5}"/>
              </a:ext>
            </a:extLst>
          </p:cNvPr>
          <p:cNvPicPr>
            <a:picLocks/>
          </p:cNvPicPr>
          <p:nvPr/>
        </p:nvPicPr>
        <p:blipFill>
          <a:blip r:embed="rId3">
            <a:extLst>
              <a:ext uri="{28A0092B-C50C-407E-A947-70E740481C1C}">
                <a14:useLocalDpi xmlns:a14="http://schemas.microsoft.com/office/drawing/2010/main" val="0"/>
              </a:ext>
            </a:extLst>
          </a:blip>
          <a:stretch>
            <a:fillRect/>
          </a:stretch>
        </p:blipFill>
        <p:spPr bwMode="auto">
          <a:xfrm>
            <a:off x="609600" y="1391018"/>
            <a:ext cx="10972800" cy="3566158"/>
          </a:xfrm>
          <a:prstGeom prst="rect">
            <a:avLst/>
          </a:prstGeom>
          <a:noFill/>
        </p:spPr>
      </p:pic>
      <p:sp>
        <p:nvSpPr>
          <p:cNvPr id="8" name="TextBox 7">
            <a:extLst>
              <a:ext uri="{FF2B5EF4-FFF2-40B4-BE49-F238E27FC236}">
                <a16:creationId xmlns:a16="http://schemas.microsoft.com/office/drawing/2014/main" id="{A769B5E5-6ACE-5303-2314-9274452B7ED0}"/>
              </a:ext>
            </a:extLst>
          </p:cNvPr>
          <p:cNvSpPr txBox="1"/>
          <p:nvPr/>
        </p:nvSpPr>
        <p:spPr>
          <a:xfrm>
            <a:off x="-22485" y="5205194"/>
            <a:ext cx="12236970" cy="701731"/>
          </a:xfrm>
          <a:prstGeom prst="rect">
            <a:avLst/>
          </a:prstGeom>
          <a:noFill/>
        </p:spPr>
        <p:txBody>
          <a:bodyPr wrap="square" rtlCol="0">
            <a:spAutoFit/>
          </a:bodyPr>
          <a:lstStyle/>
          <a:p>
            <a:pPr marR="0" lvl="0" algn="ctr" defTabSz="914400" rtl="0" eaLnBrk="0" fontAlgn="base" latinLnBrk="0" hangingPunct="0">
              <a:lnSpc>
                <a:spcPct val="90000"/>
              </a:lnSpc>
              <a:spcBef>
                <a:spcPct val="20000"/>
              </a:spcBef>
              <a:spcAft>
                <a:spcPct val="0"/>
              </a:spcAft>
              <a:buClrTx/>
              <a:buSzTx/>
              <a:tabLst/>
              <a:defRPr/>
            </a:pPr>
            <a:r>
              <a:rPr lang="en-US" sz="4400" dirty="0"/>
              <a:t>Can Reduce the Number of Measurements </a:t>
            </a:r>
            <a:r>
              <a:rPr lang="en-US" sz="3000" dirty="0"/>
              <a:t>[6] </a:t>
            </a:r>
          </a:p>
        </p:txBody>
      </p:sp>
    </p:spTree>
    <p:extLst>
      <p:ext uri="{BB962C8B-B14F-4D97-AF65-F5344CB8AC3E}">
        <p14:creationId xmlns:p14="http://schemas.microsoft.com/office/powerpoint/2010/main" val="4039209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0"/>
            <a:ext cx="10972800" cy="1143000"/>
          </a:xfrm>
        </p:spPr>
        <p:txBody>
          <a:bodyPr wrap="square" anchor="ctr">
            <a:normAutofit/>
          </a:bodyPr>
          <a:lstStyle/>
          <a:p>
            <a:r>
              <a:rPr lang="en-US" dirty="0"/>
              <a:t>Generative Adversarial Networks (GAN)</a:t>
            </a:r>
          </a:p>
        </p:txBody>
      </p:sp>
      <p:sp>
        <p:nvSpPr>
          <p:cNvPr id="4" name="Content Placeholder 2">
            <a:extLst>
              <a:ext uri="{FF2B5EF4-FFF2-40B4-BE49-F238E27FC236}">
                <a16:creationId xmlns:a16="http://schemas.microsoft.com/office/drawing/2014/main" id="{87A26A3F-85A2-3FA9-EC96-CE0157F0DA38}"/>
              </a:ext>
            </a:extLst>
          </p:cNvPr>
          <p:cNvSpPr>
            <a:spLocks noGrp="1"/>
          </p:cNvSpPr>
          <p:nvPr>
            <p:ph idx="1"/>
          </p:nvPr>
        </p:nvSpPr>
        <p:spPr>
          <a:xfrm>
            <a:off x="609600" y="1107268"/>
            <a:ext cx="10972800" cy="1576346"/>
          </a:xfrm>
        </p:spPr>
        <p:txBody>
          <a:bodyPr>
            <a:normAutofit lnSpcReduction="10000"/>
          </a:bodyPr>
          <a:lstStyle/>
          <a:p>
            <a:r>
              <a:rPr lang="en-US" sz="2200" dirty="0"/>
              <a:t>Two neural networks trained iteratively</a:t>
            </a:r>
          </a:p>
          <a:p>
            <a:r>
              <a:rPr lang="en-US" sz="2200" dirty="0"/>
              <a:t>Generator:  produces reliable data that resembles the training dataset.</a:t>
            </a:r>
          </a:p>
          <a:p>
            <a:r>
              <a:rPr lang="en-US" sz="2200" dirty="0"/>
              <a:t>Discriminator (Critic):  trained to recognize data from the training datasets. </a:t>
            </a:r>
          </a:p>
          <a:p>
            <a:r>
              <a:rPr lang="en-US" sz="2200" dirty="0"/>
              <a:t>Wasserstein GAN was used for this work.</a:t>
            </a:r>
          </a:p>
          <a:p>
            <a:endParaRPr lang="en-US" sz="2200" dirty="0"/>
          </a:p>
        </p:txBody>
      </p:sp>
      <p:pic>
        <p:nvPicPr>
          <p:cNvPr id="6" name="Graphic 1042">
            <a:extLst>
              <a:ext uri="{FF2B5EF4-FFF2-40B4-BE49-F238E27FC236}">
                <a16:creationId xmlns:a16="http://schemas.microsoft.com/office/drawing/2014/main" id="{86A038F4-8FF3-AD2C-C042-A6A5849DF558}"/>
              </a:ext>
            </a:extLst>
          </p:cNvPr>
          <p:cNvPicPr>
            <a:picLocks noChangeAspect="1"/>
          </p:cNvPicPr>
          <p:nvPr/>
        </p:nvPicPr>
        <p:blipFill rotWithShape="1">
          <a:blip>
            <a:extLst>
              <a:ext uri="{96DAC541-7B7A-43D3-8B79-37D633B846F1}">
                <asvg:svgBlip xmlns:asvg="http://schemas.microsoft.com/office/drawing/2016/SVG/main" r:embed="rId3"/>
              </a:ext>
            </a:extLst>
          </a:blip>
          <a:srcRect l="1940" t="30185" r="3495" b="27851"/>
          <a:stretch/>
        </p:blipFill>
        <p:spPr bwMode="auto">
          <a:xfrm>
            <a:off x="740405" y="2916581"/>
            <a:ext cx="10711189" cy="2673547"/>
          </a:xfrm>
          <a:prstGeom prst="rect">
            <a:avLst/>
          </a:prstGeom>
          <a:ln>
            <a:noFill/>
          </a:ln>
          <a:extLst>
            <a:ext uri="{53640926-AAD7-44D8-BBD7-CCE9431645EC}">
              <a14:shadowObscured xmlns:a14="http://schemas.microsoft.com/office/drawing/2010/main"/>
            </a:ext>
          </a:extLst>
        </p:spPr>
      </p:pic>
      <p:sp>
        <p:nvSpPr>
          <p:cNvPr id="3" name="Slide Number Placeholder 3">
            <a:extLst>
              <a:ext uri="{FF2B5EF4-FFF2-40B4-BE49-F238E27FC236}">
                <a16:creationId xmlns:a16="http://schemas.microsoft.com/office/drawing/2014/main" id="{1EDB0B48-2410-160C-79E9-B4587E3BFF4E}"/>
              </a:ext>
            </a:extLst>
          </p:cNvPr>
          <p:cNvSpPr>
            <a:spLocks noGrp="1"/>
          </p:cNvSpPr>
          <p:nvPr>
            <p:ph type="sldNum" sz="quarter" idx="10"/>
          </p:nvPr>
        </p:nvSpPr>
        <p:spPr>
          <a:xfrm>
            <a:off x="8302317" y="6412264"/>
            <a:ext cx="1768323" cy="365125"/>
          </a:xfrm>
        </p:spPr>
        <p:txBody>
          <a:bodyPr/>
          <a:lstStyle/>
          <a:p>
            <a:fld id="{712AF26B-5AA3-46FB-B36A-D6DA52437630}" type="slidenum">
              <a:rPr lang="en-US" smtClean="0"/>
              <a:t>9</a:t>
            </a:fld>
            <a:endParaRPr lang="en-US" dirty="0"/>
          </a:p>
        </p:txBody>
      </p:sp>
    </p:spTree>
    <p:extLst>
      <p:ext uri="{BB962C8B-B14F-4D97-AF65-F5344CB8AC3E}">
        <p14:creationId xmlns:p14="http://schemas.microsoft.com/office/powerpoint/2010/main" val="3656997054"/>
      </p:ext>
    </p:extLst>
  </p:cSld>
  <p:clrMapOvr>
    <a:masterClrMapping/>
  </p:clrMapOvr>
  <mc:AlternateContent xmlns:mc="http://schemas.openxmlformats.org/markup-compatibility/2006" xmlns:p14="http://schemas.microsoft.com/office/powerpoint/2010/main">
    <mc:Choice Requires="p14">
      <p:transition spd="slow" p14:dur="2000" advTm="60047"/>
    </mc:Choice>
    <mc:Fallback xmlns="">
      <p:transition spd="slow" advTm="6004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47842"/>
            <a:ext cx="10972800" cy="1143000"/>
          </a:xfrm>
        </p:spPr>
        <p:txBody>
          <a:bodyPr wrap="square" anchor="ctr">
            <a:normAutofit fontScale="90000"/>
          </a:bodyPr>
          <a:lstStyle/>
          <a:p>
            <a:r>
              <a:rPr lang="en-US" dirty="0"/>
              <a:t>Generative Adversarial Networks (GAN) Image Completion</a:t>
            </a:r>
          </a:p>
        </p:txBody>
      </p:sp>
      <p:sp>
        <p:nvSpPr>
          <p:cNvPr id="4" name="Content Placeholder 2">
            <a:extLst>
              <a:ext uri="{FF2B5EF4-FFF2-40B4-BE49-F238E27FC236}">
                <a16:creationId xmlns:a16="http://schemas.microsoft.com/office/drawing/2014/main" id="{87A26A3F-85A2-3FA9-EC96-CE0157F0DA38}"/>
              </a:ext>
            </a:extLst>
          </p:cNvPr>
          <p:cNvSpPr>
            <a:spLocks noGrp="1"/>
          </p:cNvSpPr>
          <p:nvPr>
            <p:ph idx="1"/>
          </p:nvPr>
        </p:nvSpPr>
        <p:spPr>
          <a:xfrm>
            <a:off x="152400" y="1560474"/>
            <a:ext cx="4407673" cy="4273512"/>
          </a:xfrm>
        </p:spPr>
        <p:txBody>
          <a:bodyPr/>
          <a:lstStyle/>
          <a:p>
            <a:r>
              <a:rPr lang="en-US" sz="2400"/>
              <a:t>Wasserstein GAN was used in this work</a:t>
            </a:r>
          </a:p>
          <a:p>
            <a:pPr marL="0" indent="0">
              <a:buNone/>
            </a:pPr>
            <a:endParaRPr lang="en-US" sz="2400"/>
          </a:p>
          <a:p>
            <a:endParaRPr lang="en-US" sz="3600"/>
          </a:p>
        </p:txBody>
      </p:sp>
      <p:pic>
        <p:nvPicPr>
          <p:cNvPr id="6" name="Graphic 1042">
            <a:extLst>
              <a:ext uri="{FF2B5EF4-FFF2-40B4-BE49-F238E27FC236}">
                <a16:creationId xmlns:a16="http://schemas.microsoft.com/office/drawing/2014/main" id="{86A038F4-8FF3-AD2C-C042-A6A5849DF558}"/>
              </a:ext>
            </a:extLst>
          </p:cNvPr>
          <p:cNvPicPr>
            <a:picLocks noChangeAspect="1"/>
          </p:cNvPicPr>
          <p:nvPr/>
        </p:nvPicPr>
        <p:blipFill rotWithShape="1">
          <a:blip>
            <a:extLst>
              <a:ext uri="{96DAC541-7B7A-43D3-8B79-37D633B846F1}">
                <asvg:svgBlip xmlns:asvg="http://schemas.microsoft.com/office/drawing/2016/SVG/main" r:embed="rId3"/>
              </a:ext>
            </a:extLst>
          </a:blip>
          <a:srcRect l="1940" t="30185" r="3495" b="27851"/>
          <a:stretch/>
        </p:blipFill>
        <p:spPr bwMode="auto">
          <a:xfrm>
            <a:off x="2214433" y="1899738"/>
            <a:ext cx="7763134" cy="1937703"/>
          </a:xfrm>
          <a:prstGeom prst="rect">
            <a:avLst/>
          </a:prstGeom>
          <a:ln>
            <a:noFill/>
          </a:ln>
          <a:extLst>
            <a:ext uri="{53640926-AAD7-44D8-BBD7-CCE9431645EC}">
              <a14:shadowObscured xmlns:a14="http://schemas.microsoft.com/office/drawing/2010/main"/>
            </a:ext>
          </a:extLst>
        </p:spPr>
      </p:pic>
      <p:pic>
        <p:nvPicPr>
          <p:cNvPr id="9" name="Graphic 1046">
            <a:extLst>
              <a:ext uri="{FF2B5EF4-FFF2-40B4-BE49-F238E27FC236}">
                <a16:creationId xmlns:a16="http://schemas.microsoft.com/office/drawing/2014/main" id="{8DB9663C-88D9-AA75-2F3D-3E2EFE9A2E24}"/>
              </a:ext>
            </a:extLst>
          </p:cNvPr>
          <p:cNvPicPr>
            <a:picLocks noChangeAspect="1"/>
          </p:cNvPicPr>
          <p:nvPr/>
        </p:nvPicPr>
        <p:blipFill rotWithShape="1">
          <a:blip>
            <a:extLst>
              <a:ext uri="{96DAC541-7B7A-43D3-8B79-37D633B846F1}">
                <asvg:svgBlip xmlns:asvg="http://schemas.microsoft.com/office/drawing/2016/SVG/main" r:embed="rId4"/>
              </a:ext>
            </a:extLst>
          </a:blip>
          <a:srcRect l="3104" t="23214" r="5078" b="21385"/>
          <a:stretch/>
        </p:blipFill>
        <p:spPr bwMode="auto">
          <a:xfrm>
            <a:off x="0" y="1417638"/>
            <a:ext cx="12197067" cy="4138290"/>
          </a:xfrm>
          <a:prstGeom prst="rect">
            <a:avLst/>
          </a:prstGeom>
          <a:ln>
            <a:noFill/>
          </a:ln>
          <a:extLst>
            <a:ext uri="{53640926-AAD7-44D8-BBD7-CCE9431645EC}">
              <a14:shadowObscured xmlns:a14="http://schemas.microsoft.com/office/drawing/2010/main"/>
            </a:ext>
          </a:extLst>
        </p:spPr>
      </p:pic>
      <p:sp>
        <p:nvSpPr>
          <p:cNvPr id="3" name="Slide Number Placeholder 3">
            <a:extLst>
              <a:ext uri="{FF2B5EF4-FFF2-40B4-BE49-F238E27FC236}">
                <a16:creationId xmlns:a16="http://schemas.microsoft.com/office/drawing/2014/main" id="{223D2203-DCFA-62C3-E37F-58C25DC0B4E1}"/>
              </a:ext>
            </a:extLst>
          </p:cNvPr>
          <p:cNvSpPr>
            <a:spLocks noGrp="1"/>
          </p:cNvSpPr>
          <p:nvPr>
            <p:ph type="sldNum" sz="quarter" idx="10"/>
          </p:nvPr>
        </p:nvSpPr>
        <p:spPr>
          <a:xfrm>
            <a:off x="8302317" y="6412264"/>
            <a:ext cx="1768323" cy="365125"/>
          </a:xfrm>
        </p:spPr>
        <p:txBody>
          <a:bodyPr/>
          <a:lstStyle/>
          <a:p>
            <a:fld id="{712AF26B-5AA3-46FB-B36A-D6DA52437630}" type="slidenum">
              <a:rPr lang="en-US" smtClean="0"/>
              <a:t>10</a:t>
            </a:fld>
            <a:endParaRPr lang="en-US" dirty="0"/>
          </a:p>
        </p:txBody>
      </p:sp>
    </p:spTree>
    <p:extLst>
      <p:ext uri="{BB962C8B-B14F-4D97-AF65-F5344CB8AC3E}">
        <p14:creationId xmlns:p14="http://schemas.microsoft.com/office/powerpoint/2010/main" val="2864368415"/>
      </p:ext>
    </p:extLst>
  </p:cSld>
  <p:clrMapOvr>
    <a:masterClrMapping/>
  </p:clrMapOvr>
  <mc:AlternateContent xmlns:mc="http://schemas.openxmlformats.org/markup-compatibility/2006" xmlns:p14="http://schemas.microsoft.com/office/powerpoint/2010/main">
    <mc:Choice Requires="p14">
      <p:transition spd="slow" p14:dur="2000" advTm="60047"/>
    </mc:Choice>
    <mc:Fallback xmlns="">
      <p:transition spd="slow" advTm="6004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60334"/>
            <a:ext cx="10972800" cy="1143000"/>
          </a:xfrm>
        </p:spPr>
        <p:txBody>
          <a:bodyPr wrap="square" anchor="ctr">
            <a:normAutofit/>
          </a:bodyPr>
          <a:lstStyle/>
          <a:p>
            <a:r>
              <a:rPr lang="en-US" dirty="0"/>
              <a:t>Output Power Training Data Generation</a:t>
            </a:r>
          </a:p>
        </p:txBody>
      </p:sp>
      <p:pic>
        <p:nvPicPr>
          <p:cNvPr id="10" name="Picture 9" descr="A close-up of a graph&#10;&#10;Description automatically generated">
            <a:extLst>
              <a:ext uri="{FF2B5EF4-FFF2-40B4-BE49-F238E27FC236}">
                <a16:creationId xmlns:a16="http://schemas.microsoft.com/office/drawing/2014/main" id="{1D93798A-9F19-5641-8903-26AAF836AA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59400" y="1303334"/>
            <a:ext cx="6070600" cy="2362200"/>
          </a:xfrm>
          <a:prstGeom prst="rect">
            <a:avLst/>
          </a:prstGeom>
        </p:spPr>
      </p:pic>
      <p:sp>
        <p:nvSpPr>
          <p:cNvPr id="11" name="TextBox 10">
            <a:extLst>
              <a:ext uri="{FF2B5EF4-FFF2-40B4-BE49-F238E27FC236}">
                <a16:creationId xmlns:a16="http://schemas.microsoft.com/office/drawing/2014/main" id="{3E3B1AD1-CC2C-ADB7-D1D5-39121CEA14E4}"/>
              </a:ext>
            </a:extLst>
          </p:cNvPr>
          <p:cNvSpPr txBox="1"/>
          <p:nvPr/>
        </p:nvSpPr>
        <p:spPr>
          <a:xfrm>
            <a:off x="742122" y="1303334"/>
            <a:ext cx="4464879" cy="4893647"/>
          </a:xfrm>
          <a:prstGeom prst="rect">
            <a:avLst/>
          </a:prstGeom>
          <a:noFill/>
        </p:spPr>
        <p:txBody>
          <a:bodyPr wrap="square" rtlCol="0">
            <a:spAutoFit/>
          </a:bodyPr>
          <a:lstStyle/>
          <a:p>
            <a:pPr marL="285750" indent="-285750">
              <a:buFont typeface="Arial" panose="020B0604020202020204" pitchFamily="34" charset="0"/>
              <a:buChar char="•"/>
            </a:pPr>
            <a:r>
              <a:rPr lang="en-US" sz="2400" dirty="0"/>
              <a:t>Output power contours from randomly generated, synthetic S-parameters were used to train the GAN model</a:t>
            </a:r>
          </a:p>
          <a:p>
            <a:pPr marL="285750" indent="-285750">
              <a:buFont typeface="Arial" panose="020B0604020202020204" pitchFamily="34" charset="0"/>
              <a:buChar char="•"/>
            </a:pPr>
            <a:r>
              <a:rPr lang="en-US" sz="2400" dirty="0"/>
              <a:t>The bounds from Table 5.1 were used, and filtering was applied so that only unconditionally stable amplifiers were used for training.</a:t>
            </a:r>
          </a:p>
          <a:p>
            <a:pPr marL="285750" indent="-285750">
              <a:buFont typeface="Arial" panose="020B0604020202020204" pitchFamily="34" charset="0"/>
              <a:buChar char="•"/>
            </a:pPr>
            <a:r>
              <a:rPr lang="en-US" sz="2400" dirty="0"/>
              <a:t>More details on network training can be found in [6].</a:t>
            </a:r>
          </a:p>
          <a:p>
            <a:pPr marL="285750" indent="-285750">
              <a:buFont typeface="Arial" panose="020B0604020202020204" pitchFamily="34" charset="0"/>
              <a:buChar char="•"/>
            </a:pPr>
            <a:endParaRPr lang="en-US" sz="2400" dirty="0"/>
          </a:p>
        </p:txBody>
      </p:sp>
      <p:sp>
        <p:nvSpPr>
          <p:cNvPr id="3" name="Slide Number Placeholder 3">
            <a:extLst>
              <a:ext uri="{FF2B5EF4-FFF2-40B4-BE49-F238E27FC236}">
                <a16:creationId xmlns:a16="http://schemas.microsoft.com/office/drawing/2014/main" id="{B5A2C21D-9391-87BF-2723-1D8715B1941A}"/>
              </a:ext>
            </a:extLst>
          </p:cNvPr>
          <p:cNvSpPr>
            <a:spLocks noGrp="1"/>
          </p:cNvSpPr>
          <p:nvPr>
            <p:ph type="sldNum" sz="quarter" idx="10"/>
          </p:nvPr>
        </p:nvSpPr>
        <p:spPr>
          <a:xfrm>
            <a:off x="8302317" y="6412264"/>
            <a:ext cx="1768323" cy="365125"/>
          </a:xfrm>
        </p:spPr>
        <p:txBody>
          <a:bodyPr/>
          <a:lstStyle/>
          <a:p>
            <a:fld id="{712AF26B-5AA3-46FB-B36A-D6DA52437630}" type="slidenum">
              <a:rPr lang="en-US" smtClean="0"/>
              <a:t>11</a:t>
            </a:fld>
            <a:endParaRPr lang="en-US" dirty="0"/>
          </a:p>
        </p:txBody>
      </p:sp>
      <p:sp>
        <p:nvSpPr>
          <p:cNvPr id="6" name="TextBox 5">
            <a:extLst>
              <a:ext uri="{FF2B5EF4-FFF2-40B4-BE49-F238E27FC236}">
                <a16:creationId xmlns:a16="http://schemas.microsoft.com/office/drawing/2014/main" id="{4910A4C0-A9FC-6707-3E1F-C093E75C996C}"/>
              </a:ext>
            </a:extLst>
          </p:cNvPr>
          <p:cNvSpPr txBox="1"/>
          <p:nvPr/>
        </p:nvSpPr>
        <p:spPr>
          <a:xfrm>
            <a:off x="163642" y="5766094"/>
            <a:ext cx="11864715" cy="430887"/>
          </a:xfrm>
          <a:prstGeom prst="rect">
            <a:avLst/>
          </a:prstGeom>
          <a:noFill/>
        </p:spPr>
        <p:txBody>
          <a:bodyPr wrap="square">
            <a:spAutoFit/>
          </a:bodyPr>
          <a:lstStyle/>
          <a:p>
            <a:pPr marL="0" indent="0">
              <a:buNone/>
            </a:pPr>
            <a:r>
              <a:rPr lang="en-US" sz="1100" dirty="0"/>
              <a:t>[6] A. Egbert, C. Baylis and R. J. Marks, "Extrapolation of Load-Pull Data: A Novel Use of GAN Artificial Intelligence Image Completion," in IEEE Trans. </a:t>
            </a:r>
            <a:r>
              <a:rPr lang="en-US" sz="1100" dirty="0" err="1"/>
              <a:t>Microw</a:t>
            </a:r>
            <a:r>
              <a:rPr lang="en-US" sz="1100" dirty="0"/>
              <a:t>. Theory Techn., vol. 70, no. 11, pp. 4849-4856, Nov. 2022, </a:t>
            </a:r>
            <a:r>
              <a:rPr lang="en-US" sz="1100" dirty="0" err="1"/>
              <a:t>doi</a:t>
            </a:r>
            <a:r>
              <a:rPr lang="en-US" sz="1100" dirty="0"/>
              <a:t>: 10.1109/TMTT.2022.3209700. </a:t>
            </a:r>
          </a:p>
        </p:txBody>
      </p:sp>
    </p:spTree>
    <p:extLst>
      <p:ext uri="{BB962C8B-B14F-4D97-AF65-F5344CB8AC3E}">
        <p14:creationId xmlns:p14="http://schemas.microsoft.com/office/powerpoint/2010/main" val="1722984791"/>
      </p:ext>
    </p:extLst>
  </p:cSld>
  <p:clrMapOvr>
    <a:masterClrMapping/>
  </p:clrMapOvr>
  <mc:AlternateContent xmlns:mc="http://schemas.openxmlformats.org/markup-compatibility/2006" xmlns:p14="http://schemas.microsoft.com/office/powerpoint/2010/main">
    <mc:Choice Requires="p14">
      <p:transition spd="slow" p14:dur="2000" advTm="60047"/>
    </mc:Choice>
    <mc:Fallback xmlns="">
      <p:transition spd="slow" advTm="60047"/>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CE126-C82C-2036-7F56-8EDD003500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280F8F-CADD-4E42-974A-5FE346415966}"/>
              </a:ext>
            </a:extLst>
          </p:cNvPr>
          <p:cNvSpPr>
            <a:spLocks noGrp="1"/>
          </p:cNvSpPr>
          <p:nvPr>
            <p:ph type="title"/>
          </p:nvPr>
        </p:nvSpPr>
        <p:spPr>
          <a:xfrm>
            <a:off x="609600" y="274639"/>
            <a:ext cx="10972800" cy="425272"/>
          </a:xfrm>
        </p:spPr>
        <p:txBody>
          <a:bodyPr>
            <a:normAutofit fontScale="90000"/>
          </a:bodyPr>
          <a:lstStyle/>
          <a:p>
            <a:r>
              <a:rPr lang="en-US" sz="3400" dirty="0"/>
              <a:t>Output Power Load-Pull Extrapolation Input Data Preprocessing</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469F4B5-C78B-E83C-84DE-1CFBCA58A8CA}"/>
                  </a:ext>
                </a:extLst>
              </p:cNvPr>
              <p:cNvSpPr txBox="1"/>
              <p:nvPr/>
            </p:nvSpPr>
            <p:spPr>
              <a:xfrm>
                <a:off x="354840" y="1019114"/>
                <a:ext cx="4838700" cy="1692771"/>
              </a:xfrm>
              <a:prstGeom prst="rect">
                <a:avLst/>
              </a:prstGeom>
              <a:noFill/>
            </p:spPr>
            <p:txBody>
              <a:bodyPr wrap="square" rtlCol="0">
                <a:spAutoFit/>
              </a:bodyPr>
              <a:lstStyle/>
              <a:p>
                <a:pPr algn="ctr"/>
                <a:r>
                  <a:rPr lang="en-US" b="1" dirty="0"/>
                  <a:t>Provided Input Preprocessing Steps:</a:t>
                </a:r>
                <a:endParaRPr lang="en-US" dirty="0"/>
              </a:p>
              <a:p>
                <a:pPr marL="342900" indent="-342900">
                  <a:buAutoNum type="arabicPeriod"/>
                </a:pPr>
                <a:r>
                  <a:rPr lang="en-US" dirty="0"/>
                  <a:t>Interpolate data to fill a 32 by 32 pixel grid</a:t>
                </a:r>
              </a:p>
              <a:p>
                <a:pPr marL="342900" indent="-342900">
                  <a:buFontTx/>
                  <a:buAutoNum type="arabicPeriod"/>
                </a:pPr>
                <a:r>
                  <a:rPr lang="en-US" dirty="0"/>
                  <a:t>Standardize – transform the </a:t>
                </a:r>
                <a14:m>
                  <m:oMath xmlns:m="http://schemas.openxmlformats.org/officeDocument/2006/math">
                    <m:sSub>
                      <m:sSubPr>
                        <m:ctrlPr>
                          <a:rPr lang="en-US"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b="1" i="1">
                            <a:effectLst/>
                            <a:latin typeface="Cambria Math" panose="02040503050406030204" pitchFamily="18" charset="0"/>
                            <a:ea typeface="Times New Roman" panose="02020603050405020304" pitchFamily="18" charset="0"/>
                            <a:cs typeface="Times New Roman" panose="02020603050405020304" pitchFamily="18" charset="0"/>
                          </a:rPr>
                          <m:t>𝝁</m:t>
                        </m:r>
                      </m:e>
                      <m:sub>
                        <m:r>
                          <a:rPr lang="en-US" b="1" i="1">
                            <a:effectLst/>
                            <a:latin typeface="Cambria Math" panose="02040503050406030204" pitchFamily="18" charset="0"/>
                            <a:ea typeface="Times New Roman" panose="02020603050405020304" pitchFamily="18" charset="0"/>
                            <a:cs typeface="Times New Roman" panose="02020603050405020304" pitchFamily="18" charset="0"/>
                          </a:rPr>
                          <m:t>𝒙</m:t>
                        </m:r>
                      </m:sub>
                    </m:sSub>
                  </m:oMath>
                </a14:m>
                <a:r>
                  <a:rPr lang="en-US" b="1" dirty="0"/>
                  <a:t> </a:t>
                </a:r>
                <a:r>
                  <a:rPr lang="en-US" dirty="0"/>
                  <a:t>and </a:t>
                </a:r>
                <a14:m>
                  <m:oMath xmlns:m="http://schemas.openxmlformats.org/officeDocument/2006/math">
                    <m:sSub>
                      <m:sSubPr>
                        <m:ctrlPr>
                          <a:rPr lang="en-US" b="1" i="1">
                            <a:latin typeface="Cambria Math" panose="02040503050406030204" pitchFamily="18" charset="0"/>
                            <a:ea typeface="Times New Roman" panose="02020603050405020304" pitchFamily="18" charset="0"/>
                            <a:cs typeface="Times New Roman" panose="02020603050405020304" pitchFamily="18" charset="0"/>
                          </a:rPr>
                        </m:ctrlPr>
                      </m:sSubPr>
                      <m:e>
                        <m:r>
                          <a:rPr lang="en-US" b="1" i="1">
                            <a:latin typeface="Cambria Math" panose="02040503050406030204" pitchFamily="18" charset="0"/>
                            <a:ea typeface="Times New Roman" panose="02020603050405020304" pitchFamily="18" charset="0"/>
                            <a:cs typeface="Times New Roman" panose="02020603050405020304" pitchFamily="18" charset="0"/>
                          </a:rPr>
                          <m:t>𝝈</m:t>
                        </m:r>
                      </m:e>
                      <m:sub>
                        <m:r>
                          <a:rPr lang="en-US" b="1" i="1">
                            <a:latin typeface="Cambria Math" panose="02040503050406030204" pitchFamily="18" charset="0"/>
                            <a:ea typeface="Times New Roman" panose="02020603050405020304" pitchFamily="18" charset="0"/>
                            <a:cs typeface="Times New Roman" panose="02020603050405020304" pitchFamily="18" charset="0"/>
                          </a:rPr>
                          <m:t>𝒙</m:t>
                        </m:r>
                      </m:sub>
                    </m:sSub>
                  </m:oMath>
                </a14:m>
                <a:r>
                  <a:rPr lang="en-US" dirty="0"/>
                  <a:t> of the distribution to 0 and 1/3, respectively</a:t>
                </a:r>
              </a:p>
              <a:p>
                <a:pPr marL="342900" indent="-342900">
                  <a:buAutoNum type="arabicPeriod"/>
                </a:pPr>
                <a:r>
                  <a:rPr lang="en-US" dirty="0"/>
                  <a:t>Apply Sigmoid Normalization Function </a:t>
                </a:r>
              </a:p>
              <a:p>
                <a:r>
                  <a:rPr lang="en-US" sz="1400" dirty="0"/>
                  <a:t>* Values outside the chart are set to -1.</a:t>
                </a:r>
              </a:p>
            </p:txBody>
          </p:sp>
        </mc:Choice>
        <mc:Fallback xmlns="">
          <p:sp>
            <p:nvSpPr>
              <p:cNvPr id="5" name="TextBox 4">
                <a:extLst>
                  <a:ext uri="{FF2B5EF4-FFF2-40B4-BE49-F238E27FC236}">
                    <a16:creationId xmlns:a16="http://schemas.microsoft.com/office/drawing/2014/main" id="{A469F4B5-C78B-E83C-84DE-1CFBCA58A8CA}"/>
                  </a:ext>
                </a:extLst>
              </p:cNvPr>
              <p:cNvSpPr txBox="1">
                <a:spLocks noRot="1" noChangeAspect="1" noMove="1" noResize="1" noEditPoints="1" noAdjustHandles="1" noChangeArrowheads="1" noChangeShapeType="1" noTextEdit="1"/>
              </p:cNvSpPr>
              <p:nvPr/>
            </p:nvSpPr>
            <p:spPr>
              <a:xfrm>
                <a:off x="354840" y="1019114"/>
                <a:ext cx="4838700" cy="1692771"/>
              </a:xfrm>
              <a:prstGeom prst="rect">
                <a:avLst/>
              </a:prstGeom>
              <a:blipFill>
                <a:blip r:embed="rId3"/>
                <a:stretch>
                  <a:fillRect l="-785" t="-1493" b="-2985"/>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EFDC4B8E-4540-A946-0C33-03328B2B8FB0}"/>
              </a:ext>
            </a:extLst>
          </p:cNvPr>
          <p:cNvSpPr/>
          <p:nvPr/>
        </p:nvSpPr>
        <p:spPr bwMode="auto">
          <a:xfrm>
            <a:off x="551528" y="3327438"/>
            <a:ext cx="4146712" cy="2800419"/>
          </a:xfrm>
          <a:prstGeom prst="rect">
            <a:avLst/>
          </a:prstGeom>
          <a:noFill/>
          <a:ln w="1905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1" name="TextBox 10">
            <a:extLst>
              <a:ext uri="{FF2B5EF4-FFF2-40B4-BE49-F238E27FC236}">
                <a16:creationId xmlns:a16="http://schemas.microsoft.com/office/drawing/2014/main" id="{4036694F-B573-80D7-85CD-70F08DCE6DB7}"/>
              </a:ext>
            </a:extLst>
          </p:cNvPr>
          <p:cNvSpPr txBox="1"/>
          <p:nvPr/>
        </p:nvSpPr>
        <p:spPr>
          <a:xfrm>
            <a:off x="969172" y="3318012"/>
            <a:ext cx="3441968" cy="369332"/>
          </a:xfrm>
          <a:prstGeom prst="rect">
            <a:avLst/>
          </a:prstGeom>
          <a:noFill/>
        </p:spPr>
        <p:txBody>
          <a:bodyPr wrap="none" rtlCol="0">
            <a:spAutoFit/>
          </a:bodyPr>
          <a:lstStyle/>
          <a:p>
            <a:r>
              <a:rPr lang="en-US"/>
              <a:t>Sigmoid Normalization Function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83C96A7-40E5-2D76-A656-FA6BD3EBFA59}"/>
                  </a:ext>
                </a:extLst>
              </p:cNvPr>
              <p:cNvSpPr txBox="1"/>
              <p:nvPr/>
            </p:nvSpPr>
            <p:spPr>
              <a:xfrm>
                <a:off x="1702225" y="5450231"/>
                <a:ext cx="1615379" cy="630173"/>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𝑥</m:t>
                          </m:r>
                        </m:e>
                        <m:sup>
                          <m:r>
                            <a:rPr lang="en-US" b="0" i="1" smtClean="0">
                              <a:latin typeface="Cambria Math" panose="02040503050406030204" pitchFamily="18" charset="0"/>
                              <a:ea typeface="Cambria Math" panose="02040503050406030204" pitchFamily="18" charset="0"/>
                            </a:rPr>
                            <m:t>′′</m:t>
                          </m:r>
                        </m:sup>
                      </m:sSup>
                      <m:r>
                        <a:rPr lang="en-US" b="0" i="0"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i="1" baseline="30000">
                                  <a:latin typeface="Cambria Math" panose="02040503050406030204" pitchFamily="18" charset="0"/>
                                  <a:ea typeface="Cambria Math" panose="02040503050406030204" pitchFamily="18" charset="0"/>
                                </a:rPr>
                                <m:t>′</m:t>
                              </m:r>
                            </m:sup>
                          </m:sSup>
                        </m:num>
                        <m:den>
                          <m:r>
                            <a:rPr lang="en-US" b="0" i="1" smtClean="0">
                              <a:latin typeface="Cambria Math" panose="02040503050406030204" pitchFamily="18" charset="0"/>
                              <a:ea typeface="Cambria Math" panose="02040503050406030204" pitchFamily="18" charset="0"/>
                            </a:rPr>
                            <m:t>1+</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i="1" baseline="30000">
                                  <a:latin typeface="Cambria Math" panose="02040503050406030204" pitchFamily="18" charset="0"/>
                                  <a:ea typeface="Cambria Math" panose="02040503050406030204" pitchFamily="18" charset="0"/>
                                </a:rPr>
                                <m:t>′</m:t>
                              </m:r>
                            </m:sup>
                          </m:sSup>
                        </m:den>
                      </m:f>
                    </m:oMath>
                  </m:oMathPara>
                </a14:m>
                <a:endParaRPr lang="en-US"/>
              </a:p>
            </p:txBody>
          </p:sp>
        </mc:Choice>
        <mc:Fallback xmlns="">
          <p:sp>
            <p:nvSpPr>
              <p:cNvPr id="7" name="TextBox 6">
                <a:extLst>
                  <a:ext uri="{FF2B5EF4-FFF2-40B4-BE49-F238E27FC236}">
                    <a16:creationId xmlns:a16="http://schemas.microsoft.com/office/drawing/2014/main" id="{D83C96A7-40E5-2D76-A656-FA6BD3EBFA59}"/>
                  </a:ext>
                </a:extLst>
              </p:cNvPr>
              <p:cNvSpPr txBox="1">
                <a:spLocks noRot="1" noChangeAspect="1" noMove="1" noResize="1" noEditPoints="1" noAdjustHandles="1" noChangeArrowheads="1" noChangeShapeType="1" noTextEdit="1"/>
              </p:cNvSpPr>
              <p:nvPr/>
            </p:nvSpPr>
            <p:spPr>
              <a:xfrm>
                <a:off x="1702225" y="5450231"/>
                <a:ext cx="1615379" cy="630173"/>
              </a:xfrm>
              <a:prstGeom prst="rect">
                <a:avLst/>
              </a:prstGeom>
              <a:blipFill>
                <a:blip r:embed="rId4"/>
                <a:stretch>
                  <a:fillRect b="-4000"/>
                </a:stretch>
              </a:blipFill>
            </p:spPr>
            <p:txBody>
              <a:bodyPr/>
              <a:lstStyle/>
              <a:p>
                <a:r>
                  <a:rPr lang="en-US">
                    <a:noFill/>
                  </a:rPr>
                  <a:t> </a:t>
                </a:r>
              </a:p>
            </p:txBody>
          </p:sp>
        </mc:Fallback>
      </mc:AlternateContent>
      <p:pic>
        <p:nvPicPr>
          <p:cNvPr id="12" name="Picture 11" descr="A graph of a function&#10;&#10;Description automatically generated">
            <a:extLst>
              <a:ext uri="{FF2B5EF4-FFF2-40B4-BE49-F238E27FC236}">
                <a16:creationId xmlns:a16="http://schemas.microsoft.com/office/drawing/2014/main" id="{E0B62DA3-CF54-CD00-3A85-5A692D87FF7D}"/>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0210" r="7137" b="10577"/>
          <a:stretch/>
        </p:blipFill>
        <p:spPr>
          <a:xfrm>
            <a:off x="920531" y="3694533"/>
            <a:ext cx="3539250" cy="1703690"/>
          </a:xfrm>
          <a:prstGeom prst="rect">
            <a:avLst/>
          </a:prstGeom>
          <a:ln>
            <a:solidFill>
              <a:schemeClr val="tx1"/>
            </a:solidFill>
          </a:ln>
        </p:spPr>
      </p:pic>
      <p:sp>
        <p:nvSpPr>
          <p:cNvPr id="9" name="TextBox 8">
            <a:extLst>
              <a:ext uri="{FF2B5EF4-FFF2-40B4-BE49-F238E27FC236}">
                <a16:creationId xmlns:a16="http://schemas.microsoft.com/office/drawing/2014/main" id="{B9BADE70-C8DF-E58C-FCEF-5A0F8770A195}"/>
              </a:ext>
            </a:extLst>
          </p:cNvPr>
          <p:cNvSpPr txBox="1"/>
          <p:nvPr/>
        </p:nvSpPr>
        <p:spPr>
          <a:xfrm>
            <a:off x="5025472" y="2751474"/>
            <a:ext cx="2900153" cy="830997"/>
          </a:xfrm>
          <a:prstGeom prst="rect">
            <a:avLst/>
          </a:prstGeom>
          <a:noFill/>
        </p:spPr>
        <p:txBody>
          <a:bodyPr wrap="square" rtlCol="0">
            <a:spAutoFit/>
          </a:bodyPr>
          <a:lstStyle/>
          <a:p>
            <a:pPr algn="ctr"/>
            <a:r>
              <a:rPr lang="en-US" sz="2400" b="1" dirty="0"/>
              <a:t>Output Power Contours</a:t>
            </a:r>
          </a:p>
        </p:txBody>
      </p:sp>
      <p:sp>
        <p:nvSpPr>
          <p:cNvPr id="17" name="TextBox 16">
            <a:extLst>
              <a:ext uri="{FF2B5EF4-FFF2-40B4-BE49-F238E27FC236}">
                <a16:creationId xmlns:a16="http://schemas.microsoft.com/office/drawing/2014/main" id="{1A8E42F1-0553-EA10-DCC3-3215D064B320}"/>
              </a:ext>
            </a:extLst>
          </p:cNvPr>
          <p:cNvSpPr txBox="1"/>
          <p:nvPr/>
        </p:nvSpPr>
        <p:spPr>
          <a:xfrm>
            <a:off x="9010458" y="2740426"/>
            <a:ext cx="3127779" cy="830997"/>
          </a:xfrm>
          <a:prstGeom prst="rect">
            <a:avLst/>
          </a:prstGeom>
          <a:noFill/>
        </p:spPr>
        <p:txBody>
          <a:bodyPr wrap="none" rtlCol="0">
            <a:spAutoFit/>
          </a:bodyPr>
          <a:lstStyle/>
          <a:p>
            <a:pPr algn="ctr"/>
            <a:r>
              <a:rPr lang="en-US" sz="2400" b="1" dirty="0"/>
              <a:t>Grayscale Image</a:t>
            </a:r>
          </a:p>
          <a:p>
            <a:pPr algn="ctr"/>
            <a:r>
              <a:rPr lang="en-US" sz="2400" b="1" dirty="0"/>
              <a:t>After Preprocessing</a:t>
            </a:r>
          </a:p>
        </p:txBody>
      </p:sp>
      <p:sp>
        <p:nvSpPr>
          <p:cNvPr id="20" name="Right Arrow 19">
            <a:extLst>
              <a:ext uri="{FF2B5EF4-FFF2-40B4-BE49-F238E27FC236}">
                <a16:creationId xmlns:a16="http://schemas.microsoft.com/office/drawing/2014/main" id="{9276CD06-255E-B681-55DC-9AAA111FBF1E}"/>
              </a:ext>
            </a:extLst>
          </p:cNvPr>
          <p:cNvSpPr/>
          <p:nvPr/>
        </p:nvSpPr>
        <p:spPr bwMode="auto">
          <a:xfrm>
            <a:off x="8241475" y="3919514"/>
            <a:ext cx="495300" cy="299519"/>
          </a:xfrm>
          <a:prstGeom prst="rightArrow">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E04E2A2-EC81-84AC-F272-AB826D4B7FA8}"/>
                  </a:ext>
                </a:extLst>
              </p:cNvPr>
              <p:cNvSpPr txBox="1"/>
              <p:nvPr/>
            </p:nvSpPr>
            <p:spPr>
              <a:xfrm>
                <a:off x="5636390" y="801132"/>
                <a:ext cx="6200770" cy="1987595"/>
              </a:xfrm>
              <a:prstGeom prst="rect">
                <a:avLst/>
              </a:prstGeom>
              <a:noFill/>
            </p:spPr>
            <p:txBody>
              <a:bodyPr wrap="square" rtlCol="0">
                <a:spAutoFit/>
              </a:bodyPr>
              <a:lstStyle/>
              <a:p>
                <a:pPr/>
                <a14:m>
                  <m:oMathPara xmlns:m="http://schemas.openxmlformats.org/officeDocument/2006/math">
                    <m:oMath>
                      <m:r>
                        <m:rPr>
                          <m:sty m:val="p"/>
                        </m:rPr>
                        <a:rPr lang="en-US" sz="2400" b="0" i="0" smtClean="0">
                          <a:effectLst/>
                          <a:latin typeface="Cambria Math" panose="02040503050406030204" pitchFamily="18" charset="0"/>
                        </a:rPr>
                        <m:t>Modified</m:t>
                      </m:r>
                      <m:r>
                        <a:rPr lang="en-US" sz="2400" b="0" i="0" smtClean="0">
                          <a:effectLst/>
                          <a:latin typeface="Cambria Math" panose="02040503050406030204" pitchFamily="18" charset="0"/>
                        </a:rPr>
                        <m:t> </m:t>
                      </m:r>
                      <m:r>
                        <m:rPr>
                          <m:sty m:val="p"/>
                        </m:rPr>
                        <a:rPr lang="en-US" sz="2400" b="0" i="0" smtClean="0">
                          <a:effectLst/>
                          <a:latin typeface="Cambria Math" panose="02040503050406030204" pitchFamily="18" charset="0"/>
                        </a:rPr>
                        <m:t>Standardization</m:t>
                      </m:r>
                      <m:r>
                        <a:rPr lang="en-US" sz="2400" b="0" i="0" smtClean="0">
                          <a:effectLst/>
                          <a:latin typeface="Cambria Math" panose="02040503050406030204" pitchFamily="18" charset="0"/>
                        </a:rPr>
                        <m:t>: </m:t>
                      </m:r>
                      <m:sSup>
                        <m:sSup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sup>
                      </m:s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𝜇</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𝑥</m:t>
                              </m:r>
                            </m:sub>
                          </m:sSub>
                        </m:num>
                        <m:den>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1.5</m:t>
                          </m:r>
                          <m:sSub>
                            <m:sSubPr>
                              <m:ctrlPr>
                                <a:rPr lang="en-US" sz="2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𝜎</m:t>
                              </m:r>
                            </m:e>
                            <m:sub>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𝑥</m:t>
                              </m:r>
                            </m:sub>
                          </m:sSub>
                        </m:den>
                      </m:f>
                    </m:oMath>
                  </m:oMathPara>
                </a14:m>
                <a:endParaRPr lang="en-US" sz="2400"/>
              </a:p>
              <a:p>
                <a:endParaRPr lang="en-US" sz="2400">
                  <a:effectLst/>
                </a:endParaRPr>
              </a:p>
              <a:p>
                <a14:m>
                  <m:oMath xmlns:m="http://schemas.openxmlformats.org/officeDocument/2006/math">
                    <m:sSub>
                      <m:sSubPr>
                        <m:ctrlPr>
                          <a:rPr lang="en-US" b="1"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b="1" i="1">
                            <a:effectLst/>
                            <a:latin typeface="Cambria Math" panose="02040503050406030204" pitchFamily="18" charset="0"/>
                            <a:ea typeface="Times New Roman" panose="02020603050405020304" pitchFamily="18" charset="0"/>
                            <a:cs typeface="Times New Roman" panose="02020603050405020304" pitchFamily="18" charset="0"/>
                          </a:rPr>
                          <m:t>𝝁</m:t>
                        </m:r>
                      </m:e>
                      <m:sub>
                        <m:r>
                          <a:rPr lang="en-US" b="1" i="1">
                            <a:effectLst/>
                            <a:latin typeface="Cambria Math" panose="02040503050406030204" pitchFamily="18" charset="0"/>
                            <a:ea typeface="Times New Roman" panose="02020603050405020304" pitchFamily="18" charset="0"/>
                            <a:cs typeface="Times New Roman" panose="02020603050405020304" pitchFamily="18" charset="0"/>
                          </a:rPr>
                          <m:t>𝒙</m:t>
                        </m:r>
                      </m:sub>
                    </m:sSub>
                  </m:oMath>
                </a14:m>
                <a:r>
                  <a:rPr lang="en-US" b="1"/>
                  <a:t> </a:t>
                </a:r>
                <a:r>
                  <a:rPr lang="en-US"/>
                  <a:t>- mean value of the dataset, </a:t>
                </a:r>
                <a:endParaRPr lang="en-US" i="1">
                  <a:latin typeface="Cambria Math" panose="02040503050406030204" pitchFamily="18" charset="0"/>
                </a:endParaRPr>
              </a:p>
              <a:p>
                <a14:m>
                  <m:oMath xmlns:m="http://schemas.openxmlformats.org/officeDocument/2006/math">
                    <m:sSub>
                      <m:sSubPr>
                        <m:ctrlPr>
                          <a:rPr lang="en-US" b="1" i="1">
                            <a:latin typeface="Cambria Math" panose="02040503050406030204" pitchFamily="18" charset="0"/>
                            <a:ea typeface="Times New Roman" panose="02020603050405020304" pitchFamily="18" charset="0"/>
                            <a:cs typeface="Times New Roman" panose="02020603050405020304" pitchFamily="18" charset="0"/>
                          </a:rPr>
                        </m:ctrlPr>
                      </m:sSubPr>
                      <m:e>
                        <m:r>
                          <a:rPr lang="en-US" b="1" i="1">
                            <a:latin typeface="Cambria Math" panose="02040503050406030204" pitchFamily="18" charset="0"/>
                            <a:ea typeface="Times New Roman" panose="02020603050405020304" pitchFamily="18" charset="0"/>
                            <a:cs typeface="Times New Roman" panose="02020603050405020304" pitchFamily="18" charset="0"/>
                          </a:rPr>
                          <m:t>𝝈</m:t>
                        </m:r>
                      </m:e>
                      <m:sub>
                        <m:r>
                          <a:rPr lang="en-US" b="1" i="1">
                            <a:latin typeface="Cambria Math" panose="02040503050406030204" pitchFamily="18" charset="0"/>
                            <a:ea typeface="Times New Roman" panose="02020603050405020304" pitchFamily="18" charset="0"/>
                            <a:cs typeface="Times New Roman" panose="02020603050405020304" pitchFamily="18" charset="0"/>
                          </a:rPr>
                          <m:t>𝒙</m:t>
                        </m:r>
                      </m:sub>
                    </m:sSub>
                  </m:oMath>
                </a14:m>
                <a:r>
                  <a:rPr lang="en-US" b="1">
                    <a:effectLst/>
                  </a:rPr>
                  <a:t> </a:t>
                </a:r>
                <a:r>
                  <a:rPr lang="en-US">
                    <a:effectLst/>
                  </a:rPr>
                  <a:t>- standard deviation of the dataset</a:t>
                </a:r>
                <a:br>
                  <a:rPr lang="en-US">
                    <a:effectLst/>
                  </a:rPr>
                </a:br>
                <a:r>
                  <a:rPr lang="en-US">
                    <a:effectLst/>
                  </a:rPr>
                  <a:t>1.5 factor – used to reduce </a:t>
                </a:r>
                <a:r>
                  <a:rPr lang="en-US"/>
                  <a:t>tail </a:t>
                </a:r>
                <a:r>
                  <a:rPr lang="en-US">
                    <a:effectLst/>
                  </a:rPr>
                  <a:t>compression after sigmoid</a:t>
                </a:r>
              </a:p>
            </p:txBody>
          </p:sp>
        </mc:Choice>
        <mc:Fallback xmlns="">
          <p:sp>
            <p:nvSpPr>
              <p:cNvPr id="13" name="TextBox 12">
                <a:extLst>
                  <a:ext uri="{FF2B5EF4-FFF2-40B4-BE49-F238E27FC236}">
                    <a16:creationId xmlns:a16="http://schemas.microsoft.com/office/drawing/2014/main" id="{7E04E2A2-EC81-84AC-F272-AB826D4B7FA8}"/>
                  </a:ext>
                </a:extLst>
              </p:cNvPr>
              <p:cNvSpPr txBox="1">
                <a:spLocks noRot="1" noChangeAspect="1" noMove="1" noResize="1" noEditPoints="1" noAdjustHandles="1" noChangeArrowheads="1" noChangeShapeType="1" noTextEdit="1"/>
              </p:cNvSpPr>
              <p:nvPr/>
            </p:nvSpPr>
            <p:spPr>
              <a:xfrm>
                <a:off x="5636390" y="801132"/>
                <a:ext cx="6200770" cy="1987595"/>
              </a:xfrm>
              <a:prstGeom prst="rect">
                <a:avLst/>
              </a:prstGeom>
              <a:blipFill>
                <a:blip r:embed="rId6"/>
                <a:stretch>
                  <a:fillRect l="-1022" b="-4430"/>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E57B8C6E-D455-C197-C47D-3F9EEDB56BF3}"/>
              </a:ext>
            </a:extLst>
          </p:cNvPr>
          <p:cNvSpPr txBox="1"/>
          <p:nvPr/>
        </p:nvSpPr>
        <p:spPr>
          <a:xfrm>
            <a:off x="7590846" y="4302542"/>
            <a:ext cx="1797555" cy="1200329"/>
          </a:xfrm>
          <a:prstGeom prst="rect">
            <a:avLst/>
          </a:prstGeom>
          <a:noFill/>
        </p:spPr>
        <p:txBody>
          <a:bodyPr wrap="square" rtlCol="0">
            <a:spAutoFit/>
          </a:bodyPr>
          <a:lstStyle/>
          <a:p>
            <a:r>
              <a:rPr lang="en-US" dirty="0"/>
              <a:t>Map dB output power values to grayscale pixel values</a:t>
            </a:r>
          </a:p>
        </p:txBody>
      </p:sp>
      <p:pic>
        <p:nvPicPr>
          <p:cNvPr id="15" name="Graphic 1">
            <a:extLst>
              <a:ext uri="{FF2B5EF4-FFF2-40B4-BE49-F238E27FC236}">
                <a16:creationId xmlns:a16="http://schemas.microsoft.com/office/drawing/2014/main" id="{E066E629-A5B9-963E-161C-E22CE5B4A716}"/>
              </a:ext>
            </a:extLst>
          </p:cNvPr>
          <p:cNvPicPr>
            <a:picLocks noChangeAspect="1"/>
          </p:cNvPicPr>
          <p:nvPr/>
        </p:nvPicPr>
        <p:blipFill rotWithShape="1">
          <a:blip>
            <a:alphaModFix/>
            <a:extLst>
              <a:ext uri="{96DAC541-7B7A-43D3-8B79-37D633B846F1}">
                <asvg:svgBlip xmlns:asvg="http://schemas.microsoft.com/office/drawing/2016/SVG/main" r:embed="rId7"/>
              </a:ext>
            </a:extLst>
          </a:blip>
          <a:srcRect l="11576" t="14680" r="58250" b="18236"/>
          <a:stretch>
            <a:fillRect/>
          </a:stretch>
        </p:blipFill>
        <p:spPr bwMode="auto">
          <a:xfrm>
            <a:off x="9494292" y="3591814"/>
            <a:ext cx="2338884" cy="2334685"/>
          </a:xfrm>
          <a:prstGeom prst="rect">
            <a:avLst/>
          </a:prstGeom>
          <a:ln>
            <a:noFill/>
          </a:ln>
          <a:extLst>
            <a:ext uri="{53640926-AAD7-44D8-BBD7-CCE9431645EC}">
              <a14:shadowObscured xmlns:a14="http://schemas.microsoft.com/office/drawing/2010/main"/>
            </a:ext>
          </a:extLst>
        </p:spPr>
      </p:pic>
      <p:pic>
        <p:nvPicPr>
          <p:cNvPr id="16" name="Graphic 1">
            <a:extLst>
              <a:ext uri="{FF2B5EF4-FFF2-40B4-BE49-F238E27FC236}">
                <a16:creationId xmlns:a16="http://schemas.microsoft.com/office/drawing/2014/main" id="{DF4AB494-96BA-F49E-216A-62D6DFCE4C4F}"/>
              </a:ext>
            </a:extLst>
          </p:cNvPr>
          <p:cNvPicPr>
            <a:picLocks noChangeAspect="1"/>
          </p:cNvPicPr>
          <p:nvPr/>
        </p:nvPicPr>
        <p:blipFill rotWithShape="1">
          <a:blip>
            <a:alphaModFix/>
            <a:extLst>
              <a:ext uri="{96DAC541-7B7A-43D3-8B79-37D633B846F1}">
                <asvg:svgBlip xmlns:asvg="http://schemas.microsoft.com/office/drawing/2016/SVG/main" r:embed="rId8"/>
              </a:ext>
            </a:extLst>
          </a:blip>
          <a:srcRect l="45673" t="14680" r="14604" b="3371"/>
          <a:stretch/>
        </p:blipFill>
        <p:spPr bwMode="auto">
          <a:xfrm>
            <a:off x="4871617" y="3658657"/>
            <a:ext cx="2719229" cy="2518782"/>
          </a:xfrm>
          <a:prstGeom prst="rect">
            <a:avLst/>
          </a:prstGeom>
          <a:ln>
            <a:noFill/>
          </a:ln>
          <a:extLst>
            <a:ext uri="{53640926-AAD7-44D8-BBD7-CCE9431645EC}">
              <a14:shadowObscured xmlns:a14="http://schemas.microsoft.com/office/drawing/2010/main"/>
            </a:ext>
          </a:extLst>
        </p:spPr>
      </p:pic>
      <p:sp>
        <p:nvSpPr>
          <p:cNvPr id="4" name="Slide Number Placeholder 3">
            <a:extLst>
              <a:ext uri="{FF2B5EF4-FFF2-40B4-BE49-F238E27FC236}">
                <a16:creationId xmlns:a16="http://schemas.microsoft.com/office/drawing/2014/main" id="{550B0F21-2E26-392B-9DA9-A474113AEFA9}"/>
              </a:ext>
            </a:extLst>
          </p:cNvPr>
          <p:cNvSpPr>
            <a:spLocks noGrp="1"/>
          </p:cNvSpPr>
          <p:nvPr>
            <p:ph type="sldNum" sz="quarter" idx="10"/>
          </p:nvPr>
        </p:nvSpPr>
        <p:spPr>
          <a:xfrm>
            <a:off x="8302317" y="6412264"/>
            <a:ext cx="1768323" cy="365125"/>
          </a:xfrm>
        </p:spPr>
        <p:txBody>
          <a:bodyPr/>
          <a:lstStyle/>
          <a:p>
            <a:fld id="{712AF26B-5AA3-46FB-B36A-D6DA52437630}" type="slidenum">
              <a:rPr lang="en-US" smtClean="0"/>
              <a:t>12</a:t>
            </a:fld>
            <a:endParaRPr lang="en-US" dirty="0"/>
          </a:p>
        </p:txBody>
      </p:sp>
    </p:spTree>
    <p:extLst>
      <p:ext uri="{BB962C8B-B14F-4D97-AF65-F5344CB8AC3E}">
        <p14:creationId xmlns:p14="http://schemas.microsoft.com/office/powerpoint/2010/main" val="2023151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22" presetClass="entr" presetSubtype="8"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wipe(left)">
                                      <p:cBhvr>
                                        <p:cTn id="9" dur="500"/>
                                        <p:tgtEl>
                                          <p:spTgt spid="9"/>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left)">
                                      <p:cBhvr>
                                        <p:cTn id="13" dur="500"/>
                                        <p:tgtEl>
                                          <p:spTgt spid="3"/>
                                        </p:tgtEl>
                                      </p:cBhvr>
                                    </p:animEffect>
                                  </p:childTnLst>
                                </p:cTn>
                              </p:par>
                            </p:childTnLst>
                          </p:cTn>
                        </p:par>
                        <p:par>
                          <p:cTn id="14" fill="hold">
                            <p:stCondLst>
                              <p:cond delay="1000"/>
                            </p:stCondLst>
                            <p:childTnLst>
                              <p:par>
                                <p:cTn id="15" presetID="22" presetClass="entr" presetSubtype="8" fill="hold" grpId="0" nodeType="after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left)">
                                      <p:cBhvr>
                                        <p:cTn id="20" dur="500"/>
                                        <p:tgtEl>
                                          <p:spTgt spid="17"/>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1" end="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xEl>
                                              <p:pRg st="2" end="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xEl>
                                              <p:pRg st="2" end="2"/>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3" end="3"/>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
                                            <p:txEl>
                                              <p:pRg st="4" end="4"/>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10" grpId="0" animBg="1"/>
      <p:bldP spid="11" grpId="0"/>
      <p:bldP spid="7" grpId="0"/>
      <p:bldP spid="9" grpId="0"/>
      <p:bldP spid="17" grpId="0"/>
      <p:bldP spid="20" grpId="0" animBg="1"/>
      <p:bldP spid="13"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90DD5-2596-817F-4BD7-833E85B09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871B6A-A70C-6F48-61B8-0E31757DDCCF}"/>
              </a:ext>
            </a:extLst>
          </p:cNvPr>
          <p:cNvSpPr>
            <a:spLocks noGrp="1"/>
          </p:cNvSpPr>
          <p:nvPr>
            <p:ph type="title"/>
          </p:nvPr>
        </p:nvSpPr>
        <p:spPr/>
        <p:txBody>
          <a:bodyPr>
            <a:normAutofit fontScale="90000"/>
          </a:bodyPr>
          <a:lstStyle/>
          <a:p>
            <a:r>
              <a:rPr lang="en-US" dirty="0"/>
              <a:t>GAN Inference Loss Functions from Tuner Impedances</a:t>
            </a:r>
          </a:p>
        </p:txBody>
      </p:sp>
      <p:sp>
        <p:nvSpPr>
          <p:cNvPr id="4" name="TextBox 3">
            <a:extLst>
              <a:ext uri="{FF2B5EF4-FFF2-40B4-BE49-F238E27FC236}">
                <a16:creationId xmlns:a16="http://schemas.microsoft.com/office/drawing/2014/main" id="{EB2BA692-A24A-E7B5-A184-380850EEB52D}"/>
              </a:ext>
            </a:extLst>
          </p:cNvPr>
          <p:cNvSpPr txBox="1"/>
          <p:nvPr/>
        </p:nvSpPr>
        <p:spPr>
          <a:xfrm>
            <a:off x="4416777" y="4941550"/>
            <a:ext cx="548548" cy="461665"/>
          </a:xfrm>
          <a:prstGeom prst="rect">
            <a:avLst/>
          </a:prstGeom>
          <a:noFill/>
        </p:spPr>
        <p:txBody>
          <a:bodyPr wrap="none" rtlCol="0">
            <a:spAutoFit/>
          </a:bodyPr>
          <a:lstStyle/>
          <a:p>
            <a:r>
              <a:rPr lang="en-US" sz="2400" dirty="0">
                <a:solidFill>
                  <a:schemeClr val="bg1"/>
                </a:solidFill>
              </a:rPr>
              <a:t>[A]</a:t>
            </a:r>
            <a:endParaRPr lang="en-US" sz="1400" dirty="0">
              <a:solidFill>
                <a:schemeClr val="bg1"/>
              </a:solidFill>
            </a:endParaRPr>
          </a:p>
        </p:txBody>
      </p:sp>
      <p:sp>
        <p:nvSpPr>
          <p:cNvPr id="5" name="TextBox 4">
            <a:extLst>
              <a:ext uri="{FF2B5EF4-FFF2-40B4-BE49-F238E27FC236}">
                <a16:creationId xmlns:a16="http://schemas.microsoft.com/office/drawing/2014/main" id="{97E15A03-B77C-D822-7D78-56197485D29B}"/>
              </a:ext>
            </a:extLst>
          </p:cNvPr>
          <p:cNvSpPr txBox="1"/>
          <p:nvPr/>
        </p:nvSpPr>
        <p:spPr>
          <a:xfrm>
            <a:off x="6443132" y="4941549"/>
            <a:ext cx="553357" cy="461665"/>
          </a:xfrm>
          <a:prstGeom prst="rect">
            <a:avLst/>
          </a:prstGeom>
          <a:noFill/>
        </p:spPr>
        <p:txBody>
          <a:bodyPr wrap="none" rtlCol="0">
            <a:spAutoFit/>
          </a:bodyPr>
          <a:lstStyle/>
          <a:p>
            <a:r>
              <a:rPr lang="en-US" sz="2400" dirty="0">
                <a:solidFill>
                  <a:schemeClr val="bg1"/>
                </a:solidFill>
              </a:rPr>
              <a:t>[B]</a:t>
            </a:r>
            <a:endParaRPr lang="en-US" sz="1400" dirty="0">
              <a:solidFill>
                <a:schemeClr val="bg1"/>
              </a:solidFill>
            </a:endParaRPr>
          </a:p>
        </p:txBody>
      </p:sp>
      <p:sp>
        <p:nvSpPr>
          <p:cNvPr id="6" name="TextBox 5">
            <a:extLst>
              <a:ext uri="{FF2B5EF4-FFF2-40B4-BE49-F238E27FC236}">
                <a16:creationId xmlns:a16="http://schemas.microsoft.com/office/drawing/2014/main" id="{D9D227BF-40BE-DCA1-42D4-435025B94A37}"/>
              </a:ext>
            </a:extLst>
          </p:cNvPr>
          <p:cNvSpPr txBox="1"/>
          <p:nvPr/>
        </p:nvSpPr>
        <p:spPr>
          <a:xfrm>
            <a:off x="7588314" y="4710716"/>
            <a:ext cx="580608" cy="461665"/>
          </a:xfrm>
          <a:prstGeom prst="rect">
            <a:avLst/>
          </a:prstGeom>
          <a:noFill/>
        </p:spPr>
        <p:txBody>
          <a:bodyPr wrap="none" rtlCol="0">
            <a:spAutoFit/>
          </a:bodyPr>
          <a:lstStyle/>
          <a:p>
            <a:r>
              <a:rPr lang="en-US" sz="2400" dirty="0">
                <a:solidFill>
                  <a:schemeClr val="bg1"/>
                </a:solidFill>
              </a:rPr>
              <a:t>[C]</a:t>
            </a:r>
            <a:endParaRPr lang="en-US" sz="1400" dirty="0">
              <a:solidFill>
                <a:schemeClr val="bg1"/>
              </a:solidFill>
            </a:endParaRPr>
          </a:p>
        </p:txBody>
      </p:sp>
      <p:sp>
        <p:nvSpPr>
          <p:cNvPr id="7" name="TextBox 6">
            <a:extLst>
              <a:ext uri="{FF2B5EF4-FFF2-40B4-BE49-F238E27FC236}">
                <a16:creationId xmlns:a16="http://schemas.microsoft.com/office/drawing/2014/main" id="{E74A1F4C-7497-37D3-FECA-2E38AD31BC48}"/>
              </a:ext>
            </a:extLst>
          </p:cNvPr>
          <p:cNvSpPr txBox="1"/>
          <p:nvPr/>
        </p:nvSpPr>
        <p:spPr>
          <a:xfrm>
            <a:off x="7827187" y="5146268"/>
            <a:ext cx="580608" cy="461665"/>
          </a:xfrm>
          <a:prstGeom prst="rect">
            <a:avLst/>
          </a:prstGeom>
          <a:noFill/>
        </p:spPr>
        <p:txBody>
          <a:bodyPr wrap="none" rtlCol="0">
            <a:spAutoFit/>
          </a:bodyPr>
          <a:lstStyle/>
          <a:p>
            <a:r>
              <a:rPr lang="en-US" sz="2400" dirty="0">
                <a:solidFill>
                  <a:schemeClr val="bg1"/>
                </a:solidFill>
              </a:rPr>
              <a:t>[D]</a:t>
            </a:r>
            <a:endParaRPr lang="en-US" sz="1400" dirty="0">
              <a:solidFill>
                <a:schemeClr val="bg1"/>
              </a:solidFill>
            </a:endParaRPr>
          </a:p>
        </p:txBody>
      </p:sp>
      <p:sp>
        <p:nvSpPr>
          <p:cNvPr id="8" name="TextBox 7">
            <a:extLst>
              <a:ext uri="{FF2B5EF4-FFF2-40B4-BE49-F238E27FC236}">
                <a16:creationId xmlns:a16="http://schemas.microsoft.com/office/drawing/2014/main" id="{A668B9E6-C231-C3E8-4B89-9AD476451A06}"/>
              </a:ext>
            </a:extLst>
          </p:cNvPr>
          <p:cNvSpPr txBox="1"/>
          <p:nvPr/>
        </p:nvSpPr>
        <p:spPr>
          <a:xfrm>
            <a:off x="8219903" y="4079468"/>
            <a:ext cx="538930" cy="461665"/>
          </a:xfrm>
          <a:prstGeom prst="rect">
            <a:avLst/>
          </a:prstGeom>
          <a:noFill/>
        </p:spPr>
        <p:txBody>
          <a:bodyPr wrap="none" rtlCol="0">
            <a:spAutoFit/>
          </a:bodyPr>
          <a:lstStyle/>
          <a:p>
            <a:r>
              <a:rPr lang="en-US" sz="2400" dirty="0">
                <a:solidFill>
                  <a:schemeClr val="bg1"/>
                </a:solidFill>
              </a:rPr>
              <a:t>[E]</a:t>
            </a:r>
            <a:endParaRPr lang="en-US" sz="1400" dirty="0">
              <a:solidFill>
                <a:schemeClr val="bg1"/>
              </a:solidFill>
            </a:endParaRPr>
          </a:p>
        </p:txBody>
      </p:sp>
      <p:sp>
        <p:nvSpPr>
          <p:cNvPr id="9" name="TextBox 8">
            <a:extLst>
              <a:ext uri="{FF2B5EF4-FFF2-40B4-BE49-F238E27FC236}">
                <a16:creationId xmlns:a16="http://schemas.microsoft.com/office/drawing/2014/main" id="{89FE3A7E-2963-9416-356A-BE2F4FF6B83C}"/>
              </a:ext>
            </a:extLst>
          </p:cNvPr>
          <p:cNvSpPr txBox="1"/>
          <p:nvPr/>
        </p:nvSpPr>
        <p:spPr>
          <a:xfrm>
            <a:off x="8846436" y="1669290"/>
            <a:ext cx="538930" cy="461665"/>
          </a:xfrm>
          <a:prstGeom prst="rect">
            <a:avLst/>
          </a:prstGeom>
          <a:noFill/>
        </p:spPr>
        <p:txBody>
          <a:bodyPr wrap="none" rtlCol="0">
            <a:spAutoFit/>
          </a:bodyPr>
          <a:lstStyle/>
          <a:p>
            <a:r>
              <a:rPr lang="en-US" sz="2400" dirty="0">
                <a:solidFill>
                  <a:schemeClr val="bg1"/>
                </a:solidFill>
              </a:rPr>
              <a:t>[F]</a:t>
            </a:r>
            <a:endParaRPr lang="en-US" sz="1400" dirty="0">
              <a:solidFill>
                <a:schemeClr val="bg1"/>
              </a:solidFill>
            </a:endParaRPr>
          </a:p>
        </p:txBody>
      </p:sp>
      <p:sp>
        <p:nvSpPr>
          <p:cNvPr id="10" name="TextBox 9">
            <a:extLst>
              <a:ext uri="{FF2B5EF4-FFF2-40B4-BE49-F238E27FC236}">
                <a16:creationId xmlns:a16="http://schemas.microsoft.com/office/drawing/2014/main" id="{9EBB844D-4BBC-A17B-DB7B-470C409B8141}"/>
              </a:ext>
            </a:extLst>
          </p:cNvPr>
          <p:cNvSpPr txBox="1"/>
          <p:nvPr/>
        </p:nvSpPr>
        <p:spPr>
          <a:xfrm>
            <a:off x="10827381" y="5017087"/>
            <a:ext cx="585417" cy="461665"/>
          </a:xfrm>
          <a:prstGeom prst="rect">
            <a:avLst/>
          </a:prstGeom>
          <a:noFill/>
        </p:spPr>
        <p:txBody>
          <a:bodyPr wrap="none" rtlCol="0">
            <a:spAutoFit/>
          </a:bodyPr>
          <a:lstStyle/>
          <a:p>
            <a:r>
              <a:rPr lang="en-US" sz="2400" dirty="0">
                <a:solidFill>
                  <a:schemeClr val="bg1"/>
                </a:solidFill>
              </a:rPr>
              <a:t>[G]</a:t>
            </a:r>
            <a:endParaRPr lang="en-US" sz="1400" dirty="0">
              <a:solidFill>
                <a:schemeClr val="bg1"/>
              </a:solidFill>
            </a:endParaRPr>
          </a:p>
        </p:txBody>
      </p:sp>
      <p:sp>
        <p:nvSpPr>
          <p:cNvPr id="11" name="TextBox 10">
            <a:extLst>
              <a:ext uri="{FF2B5EF4-FFF2-40B4-BE49-F238E27FC236}">
                <a16:creationId xmlns:a16="http://schemas.microsoft.com/office/drawing/2014/main" id="{A41858CA-96A1-CDC7-70B1-CD4F98F576A9}"/>
              </a:ext>
            </a:extLst>
          </p:cNvPr>
          <p:cNvSpPr txBox="1"/>
          <p:nvPr/>
        </p:nvSpPr>
        <p:spPr>
          <a:xfrm>
            <a:off x="10570067" y="4541133"/>
            <a:ext cx="585417" cy="461665"/>
          </a:xfrm>
          <a:prstGeom prst="rect">
            <a:avLst/>
          </a:prstGeom>
          <a:noFill/>
        </p:spPr>
        <p:txBody>
          <a:bodyPr wrap="none" rtlCol="0">
            <a:spAutoFit/>
          </a:bodyPr>
          <a:lstStyle/>
          <a:p>
            <a:r>
              <a:rPr lang="en-US" sz="2400" dirty="0">
                <a:solidFill>
                  <a:schemeClr val="bg1"/>
                </a:solidFill>
              </a:rPr>
              <a:t>[H]</a:t>
            </a:r>
            <a:endParaRPr lang="en-US" sz="1400" dirty="0">
              <a:solidFill>
                <a:schemeClr val="bg1"/>
              </a:solidFill>
            </a:endParaRPr>
          </a:p>
        </p:txBody>
      </p:sp>
      <p:sp>
        <p:nvSpPr>
          <p:cNvPr id="12" name="TextBox 11">
            <a:extLst>
              <a:ext uri="{FF2B5EF4-FFF2-40B4-BE49-F238E27FC236}">
                <a16:creationId xmlns:a16="http://schemas.microsoft.com/office/drawing/2014/main" id="{DD2E1FA6-80AB-32CA-D7D8-B9AE593AD429}"/>
              </a:ext>
            </a:extLst>
          </p:cNvPr>
          <p:cNvSpPr txBox="1"/>
          <p:nvPr/>
        </p:nvSpPr>
        <p:spPr>
          <a:xfrm>
            <a:off x="11742500" y="4710716"/>
            <a:ext cx="447558" cy="461665"/>
          </a:xfrm>
          <a:prstGeom prst="rect">
            <a:avLst/>
          </a:prstGeom>
          <a:noFill/>
        </p:spPr>
        <p:txBody>
          <a:bodyPr wrap="none" rtlCol="0">
            <a:spAutoFit/>
          </a:bodyPr>
          <a:lstStyle/>
          <a:p>
            <a:r>
              <a:rPr lang="en-US" sz="2400" dirty="0">
                <a:solidFill>
                  <a:schemeClr val="bg1"/>
                </a:solidFill>
              </a:rPr>
              <a:t>[I]</a:t>
            </a:r>
            <a:endParaRPr lang="en-US" sz="1400" dirty="0">
              <a:solidFill>
                <a:schemeClr val="bg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A179457-00B6-24D1-8E26-575319C3FFBD}"/>
                  </a:ext>
                </a:extLst>
              </p:cNvPr>
              <p:cNvSpPr txBox="1"/>
              <p:nvPr/>
            </p:nvSpPr>
            <p:spPr>
              <a:xfrm>
                <a:off x="338883" y="996633"/>
                <a:ext cx="11512295" cy="5237844"/>
              </a:xfrm>
              <a:prstGeom prst="rect">
                <a:avLst/>
              </a:prstGeom>
              <a:noFill/>
            </p:spPr>
            <p:txBody>
              <a:bodyPr wrap="square">
                <a:spAutoFit/>
              </a:bodyPr>
              <a:lstStyle/>
              <a:p>
                <a:r>
                  <a:rPr lang="en-US" sz="2400" dirty="0"/>
                  <a:t>Known data measured from the custom impedance tuner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r>
                      <a:rPr lang="en-US" sz="2400" i="1">
                        <a:latin typeface="Cambria Math" panose="02040503050406030204" pitchFamily="18" charset="0"/>
                      </a:rPr>
                      <m:t>′</m:t>
                    </m:r>
                  </m:oMath>
                </a14:m>
                <a:endParaRPr lang="en-US" sz="2400" dirty="0"/>
              </a:p>
              <a:p>
                <a:pPr marL="800100" lvl="1" indent="-342900">
                  <a:buFont typeface="Arial" panose="020B0604020202020204" pitchFamily="34" charset="0"/>
                  <a:buChar char="•"/>
                </a:pPr>
                <a:r>
                  <a:rPr lang="en-US" dirty="0"/>
                  <a:t>These impedances are not on the same grid as the pixel. </a:t>
                </a:r>
              </a:p>
              <a:p>
                <a:pPr lvl="1"/>
                <a:r>
                  <a:rPr lang="en-US" dirty="0"/>
                  <a:t>        So we need to interpolate before applying the cost function.</a:t>
                </a:r>
              </a:p>
              <a:p>
                <a:r>
                  <a:rPr lang="en-US" sz="2400" dirty="0"/>
                  <a:t>Images produced by the generator </a:t>
                </a:r>
                <a14:m>
                  <m:oMath xmlns:m="http://schemas.openxmlformats.org/officeDocument/2006/math">
                    <m:r>
                      <a:rPr lang="en-US" sz="2400" i="1">
                        <a:latin typeface="Cambria Math" panose="02040503050406030204" pitchFamily="18" charset="0"/>
                      </a:rPr>
                      <m:t>𝐺</m:t>
                    </m:r>
                    <m:r>
                      <a:rPr lang="en-US" sz="2400" i="1">
                        <a:latin typeface="Cambria Math" panose="02040503050406030204" pitchFamily="18" charset="0"/>
                      </a:rPr>
                      <m:t>()</m:t>
                    </m:r>
                  </m:oMath>
                </a14:m>
                <a:r>
                  <a:rPr lang="en-US" sz="2400" dirty="0"/>
                  <a:t> for initial input seed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panose="02040503050406030204" pitchFamily="18" charset="0"/>
                          </a:rPr>
                          <m:t>𝑧</m:t>
                        </m:r>
                      </m:e>
                    </m:acc>
                  </m:oMath>
                </a14:m>
                <a:r>
                  <a:rPr lang="en-US" sz="2400" dirty="0"/>
                  <a:t> are denoted as </a:t>
                </a:r>
                <a14:m>
                  <m:oMath xmlns:m="http://schemas.openxmlformats.org/officeDocument/2006/math">
                    <m:r>
                      <a:rPr lang="en-US" sz="2400" i="1">
                        <a:latin typeface="Cambria Math" panose="02040503050406030204" pitchFamily="18" charset="0"/>
                      </a:rPr>
                      <m:t>𝐺</m:t>
                    </m:r>
                    <m:d>
                      <m:dPr>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𝑧</m:t>
                            </m:r>
                          </m:e>
                        </m:acc>
                      </m:e>
                    </m:d>
                  </m:oMath>
                </a14:m>
                <a:endParaRPr lang="en-US" sz="2400" dirty="0"/>
              </a:p>
              <a:p>
                <a14:m>
                  <m:oMath xmlns:m="http://schemas.openxmlformats.org/officeDocument/2006/math">
                    <m:r>
                      <a:rPr lang="en-US" sz="2400" i="1">
                        <a:latin typeface="Cambria Math" panose="02040503050406030204" pitchFamily="18" charset="0"/>
                      </a:rPr>
                      <m:t>𝐺</m:t>
                    </m:r>
                    <m:r>
                      <a:rPr lang="en-US" sz="2400" i="1">
                        <a:latin typeface="Cambria Math" panose="02040503050406030204" pitchFamily="18" charset="0"/>
                      </a:rPr>
                      <m:t>′</m:t>
                    </m:r>
                    <m:d>
                      <m:dPr>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𝑧</m:t>
                            </m:r>
                          </m:e>
                        </m:acc>
                      </m:e>
                    </m:d>
                  </m:oMath>
                </a14:m>
                <a:r>
                  <a:rPr lang="en-US" sz="2400" dirty="0"/>
                  <a:t> is a vector of predicted measurements obtained by bilinear interpolation of </a:t>
                </a:r>
                <a14:m>
                  <m:oMath xmlns:m="http://schemas.openxmlformats.org/officeDocument/2006/math">
                    <m:r>
                      <a:rPr lang="en-US" sz="2400" i="1">
                        <a:latin typeface="Cambria Math" panose="02040503050406030204" pitchFamily="18" charset="0"/>
                      </a:rPr>
                      <m:t>𝐺</m:t>
                    </m:r>
                    <m:d>
                      <m:dPr>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𝑧</m:t>
                            </m:r>
                          </m:e>
                        </m:acc>
                      </m:e>
                    </m:d>
                    <m:r>
                      <a:rPr lang="en-US" sz="2400" i="1">
                        <a:latin typeface="Cambria Math" panose="02040503050406030204" pitchFamily="18" charset="0"/>
                      </a:rPr>
                      <m:t> </m:t>
                    </m:r>
                  </m:oMath>
                </a14:m>
                <a:r>
                  <a:rPr lang="en-US" sz="2400" dirty="0"/>
                  <a:t>to the same impedances as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r>
                      <a:rPr lang="en-US" sz="2400" i="1">
                        <a:latin typeface="Cambria Math" panose="02040503050406030204" pitchFamily="18" charset="0"/>
                      </a:rPr>
                      <m:t>′</m:t>
                    </m:r>
                  </m:oMath>
                </a14:m>
                <a:r>
                  <a:rPr lang="en-US" sz="2400" dirty="0"/>
                  <a:t>.</a:t>
                </a:r>
              </a:p>
              <a:p>
                <a:r>
                  <a:rPr lang="en-US" sz="2400" dirty="0"/>
                  <a:t>The critic’s score for the generated image is denoted as </a:t>
                </a:r>
                <a14:m>
                  <m:oMath xmlns:m="http://schemas.openxmlformats.org/officeDocument/2006/math">
                    <m:r>
                      <a:rPr lang="en-US" sz="2400" i="1">
                        <a:latin typeface="Cambria Math" panose="02040503050406030204" pitchFamily="18" charset="0"/>
                      </a:rPr>
                      <m:t>𝐶</m:t>
                    </m:r>
                    <m:d>
                      <m:dPr>
                        <m:ctrlPr>
                          <a:rPr lang="en-US" sz="2400" i="1">
                            <a:latin typeface="Cambria Math" panose="02040503050406030204" pitchFamily="18" charset="0"/>
                          </a:rPr>
                        </m:ctrlPr>
                      </m:dPr>
                      <m:e>
                        <m:r>
                          <a:rPr lang="en-US" sz="2400" i="1">
                            <a:latin typeface="Cambria Math" panose="02040503050406030204" pitchFamily="18" charset="0"/>
                          </a:rPr>
                          <m:t>𝐺</m:t>
                        </m:r>
                        <m:r>
                          <a:rPr lang="en-US" sz="2400" i="1">
                            <a:latin typeface="Cambria Math" panose="02040503050406030204" pitchFamily="18" charset="0"/>
                          </a:rPr>
                          <m:t>′</m:t>
                        </m:r>
                        <m:d>
                          <m:dPr>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𝑧</m:t>
                                </m:r>
                              </m:e>
                            </m:acc>
                          </m:e>
                        </m:d>
                      </m:e>
                    </m:d>
                  </m:oMath>
                </a14:m>
                <a:endParaRPr lang="en-US" sz="2400" dirty="0"/>
              </a:p>
              <a:p>
                <a:r>
                  <a:rPr lang="en-US" sz="2400" dirty="0"/>
                  <a:t>The loss function associated with similarity to known data is</a:t>
                </a:r>
              </a:p>
              <a:p>
                <a:pPr/>
                <a14:m>
                  <m:oMathPara xmlns:m="http://schemas.openxmlformats.org/officeDocument/2006/math">
                    <m:oMath>
                      <m:sSub>
                        <m:sSubPr>
                          <m:ctrlPr>
                            <a:rPr lang="en-US" sz="2400" i="1">
                              <a:latin typeface="Cambria Math" panose="02040503050406030204" pitchFamily="18" charset="0"/>
                            </a:rPr>
                          </m:ctrlPr>
                        </m:sSubPr>
                        <m:e>
                          <m:r>
                            <a:rPr lang="en-US" sz="2400" i="1">
                              <a:latin typeface="Cambria Math" panose="02040503050406030204" pitchFamily="18" charset="0"/>
                            </a:rPr>
                            <m:t>𝐿</m:t>
                          </m:r>
                        </m:e>
                        <m:sub>
                          <m:r>
                            <a:rPr lang="en-US" sz="2400" i="1">
                              <a:latin typeface="Cambria Math" panose="02040503050406030204" pitchFamily="18" charset="0"/>
                            </a:rPr>
                            <m:t>𝑐𝑜𝑛𝑡𝑒𝑥𝑡</m:t>
                          </m:r>
                        </m:sub>
                      </m:sSub>
                      <m:d>
                        <m:dPr>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𝑧</m:t>
                              </m:r>
                            </m:e>
                          </m:acc>
                        </m:e>
                      </m:d>
                      <m:r>
                        <a:rPr lang="en-US" sz="2400" i="1">
                          <a:latin typeface="Cambria Math" panose="02040503050406030204" pitchFamily="18" charset="0"/>
                        </a:rPr>
                        <m:t>=</m:t>
                      </m:r>
                      <m:sSub>
                        <m:sSubPr>
                          <m:ctrlPr>
                            <a:rPr lang="en-US" sz="2400" i="1">
                              <a:latin typeface="Cambria Math" panose="02040503050406030204" pitchFamily="18" charset="0"/>
                            </a:rPr>
                          </m:ctrlPr>
                        </m:sSub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𝐺</m:t>
                              </m:r>
                              <m:r>
                                <a:rPr lang="en-US" sz="2400" i="1">
                                  <a:latin typeface="Cambria Math" panose="02040503050406030204" pitchFamily="18" charset="0"/>
                                </a:rPr>
                                <m:t>′</m:t>
                              </m:r>
                              <m:d>
                                <m:dPr>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𝑧</m:t>
                                      </m:r>
                                    </m:e>
                                  </m:acc>
                                </m:e>
                              </m:d>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𝑥</m:t>
                                  </m:r>
                                </m:e>
                              </m:acc>
                              <m:r>
                                <a:rPr lang="en-US" sz="2400" i="1">
                                  <a:latin typeface="Cambria Math" panose="02040503050406030204" pitchFamily="18" charset="0"/>
                                </a:rPr>
                                <m:t>′</m:t>
                              </m:r>
                            </m:e>
                          </m:d>
                        </m:e>
                        <m:sub>
                          <m:r>
                            <a:rPr lang="en-US" sz="2400" i="1">
                              <a:latin typeface="Cambria Math" panose="02040503050406030204" pitchFamily="18" charset="0"/>
                            </a:rPr>
                            <m:t>1</m:t>
                          </m:r>
                        </m:sub>
                      </m:sSub>
                    </m:oMath>
                  </m:oMathPara>
                </a14:m>
                <a:endParaRPr lang="en-US" sz="2400" dirty="0"/>
              </a:p>
              <a:p>
                <a:r>
                  <a:rPr lang="en-US" sz="2400" dirty="0"/>
                  <a:t>The loss function associated with validity of generated contours is</a:t>
                </a:r>
              </a:p>
              <a:p>
                <a:pPr/>
                <a14:m>
                  <m:oMathPara xmlns:m="http://schemas.openxmlformats.org/officeDocument/2006/math">
                    <m:oMath>
                      <m:sSub>
                        <m:sSubPr>
                          <m:ctrlPr>
                            <a:rPr lang="en-US" sz="2400" i="1">
                              <a:latin typeface="Cambria Math" panose="02040503050406030204" pitchFamily="18" charset="0"/>
                            </a:rPr>
                          </m:ctrlPr>
                        </m:sSubPr>
                        <m:e>
                          <m:r>
                            <a:rPr lang="en-US" sz="2400" i="1">
                              <a:latin typeface="Cambria Math" panose="02040503050406030204" pitchFamily="18" charset="0"/>
                            </a:rPr>
                            <m:t>𝐿</m:t>
                          </m:r>
                        </m:e>
                        <m:sub>
                          <m:r>
                            <a:rPr lang="en-US" sz="2400" i="1">
                              <a:latin typeface="Cambria Math" panose="02040503050406030204" pitchFamily="18" charset="0"/>
                            </a:rPr>
                            <m:t>𝑝𝑒𝑟𝑐𝑒𝑝𝑡</m:t>
                          </m:r>
                        </m:sub>
                      </m:sSub>
                      <m:d>
                        <m:dPr>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𝑧</m:t>
                              </m:r>
                            </m:e>
                          </m:acc>
                        </m:e>
                      </m:d>
                      <m:r>
                        <a:rPr lang="en-US" sz="2400" i="1">
                          <a:latin typeface="Cambria Math" panose="02040503050406030204" pitchFamily="18" charset="0"/>
                        </a:rPr>
                        <m:t>=−</m:t>
                      </m:r>
                      <m:r>
                        <a:rPr lang="en-US" sz="2400" i="1">
                          <a:latin typeface="Cambria Math" panose="02040503050406030204" pitchFamily="18" charset="0"/>
                        </a:rPr>
                        <m:t>𝐶</m:t>
                      </m:r>
                      <m:d>
                        <m:dPr>
                          <m:ctrlPr>
                            <a:rPr lang="en-US" sz="2400" i="1">
                              <a:latin typeface="Cambria Math" panose="02040503050406030204" pitchFamily="18" charset="0"/>
                            </a:rPr>
                          </m:ctrlPr>
                        </m:dPr>
                        <m:e>
                          <m:r>
                            <a:rPr lang="en-US" sz="2400" i="1">
                              <a:latin typeface="Cambria Math" panose="02040503050406030204" pitchFamily="18" charset="0"/>
                            </a:rPr>
                            <m:t>𝐺</m:t>
                          </m:r>
                          <m:r>
                            <a:rPr lang="en-US" sz="2400" i="1">
                              <a:latin typeface="Cambria Math" panose="02040503050406030204" pitchFamily="18" charset="0"/>
                            </a:rPr>
                            <m:t>′</m:t>
                          </m:r>
                          <m:d>
                            <m:dPr>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𝑧</m:t>
                                  </m:r>
                                </m:e>
                              </m:acc>
                            </m:e>
                          </m:d>
                        </m:e>
                      </m:d>
                    </m:oMath>
                  </m:oMathPara>
                </a14:m>
                <a:endParaRPr lang="en-US" sz="2400" dirty="0"/>
              </a:p>
              <a:p>
                <a:r>
                  <a:rPr lang="en-US" sz="2400" dirty="0"/>
                  <a:t>The loss function used for gradient descent where is </a:t>
                </a:r>
                <a14:m>
                  <m:oMath xmlns:m="http://schemas.openxmlformats.org/officeDocument/2006/math">
                    <m:r>
                      <a:rPr lang="en-US" sz="2400" i="1">
                        <a:latin typeface="Cambria Math" panose="02040503050406030204" pitchFamily="18" charset="0"/>
                        <a:ea typeface="Cambria Math" panose="02040503050406030204" pitchFamily="18" charset="0"/>
                      </a:rPr>
                      <m:t>𝜆</m:t>
                    </m:r>
                  </m:oMath>
                </a14:m>
                <a:r>
                  <a:rPr lang="en-US" sz="2400" dirty="0"/>
                  <a:t> balences the contribution of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𝐿</m:t>
                        </m:r>
                      </m:e>
                      <m:sub>
                        <m:r>
                          <a:rPr lang="en-US" sz="2400" i="1">
                            <a:latin typeface="Cambria Math" panose="02040503050406030204" pitchFamily="18" charset="0"/>
                          </a:rPr>
                          <m:t>𝑐𝑜𝑛𝑡𝑒𝑥𝑡</m:t>
                        </m:r>
                      </m:sub>
                    </m:sSub>
                  </m:oMath>
                </a14:m>
                <a:r>
                  <a:rPr lang="en-US" sz="2400" dirty="0"/>
                  <a:t> and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𝐿</m:t>
                        </m:r>
                      </m:e>
                      <m:sub>
                        <m:r>
                          <a:rPr lang="en-US" sz="2400" i="1">
                            <a:latin typeface="Cambria Math" panose="02040503050406030204" pitchFamily="18" charset="0"/>
                          </a:rPr>
                          <m:t>𝑝𝑒𝑟𝑐𝑒𝑝𝑡</m:t>
                        </m:r>
                      </m:sub>
                    </m:sSub>
                  </m:oMath>
                </a14:m>
                <a:r>
                  <a:rPr lang="en-US" sz="2400" dirty="0"/>
                  <a:t>. Currently </a:t>
                </a:r>
                <a14:m>
                  <m:oMath xmlns:m="http://schemas.openxmlformats.org/officeDocument/2006/math">
                    <m:r>
                      <a:rPr lang="en-US" sz="2400" i="1">
                        <a:latin typeface="Cambria Math" panose="02040503050406030204" pitchFamily="18" charset="0"/>
                        <a:ea typeface="Cambria Math" panose="02040503050406030204" pitchFamily="18" charset="0"/>
                      </a:rPr>
                      <m:t>𝜆</m:t>
                    </m:r>
                    <m:r>
                      <a:rPr lang="en-US" sz="2400" i="1">
                        <a:latin typeface="Cambria Math" panose="02040503050406030204" pitchFamily="18" charset="0"/>
                        <a:ea typeface="Cambria Math" panose="02040503050406030204" pitchFamily="18" charset="0"/>
                      </a:rPr>
                      <m:t>=0.1</m:t>
                    </m:r>
                  </m:oMath>
                </a14:m>
                <a:endParaRPr lang="en-US" sz="2400" dirty="0"/>
              </a:p>
              <a:p>
                <a:pPr/>
                <a14:m>
                  <m:oMathPara xmlns:m="http://schemas.openxmlformats.org/officeDocument/2006/math">
                    <m:oMath>
                      <m:r>
                        <a:rPr lang="en-US" sz="2400" i="1">
                          <a:latin typeface="Cambria Math" panose="02040503050406030204" pitchFamily="18" charset="0"/>
                        </a:rPr>
                        <m:t>𝐿</m:t>
                      </m:r>
                      <m:d>
                        <m:dPr>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𝑧</m:t>
                              </m:r>
                            </m:e>
                          </m:acc>
                        </m:e>
                      </m:d>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(1−</m:t>
                          </m:r>
                          <m:r>
                            <a:rPr lang="en-US" sz="2400" i="1">
                              <a:latin typeface="Cambria Math" panose="02040503050406030204" pitchFamily="18" charset="0"/>
                              <a:ea typeface="Cambria Math" panose="02040503050406030204" pitchFamily="18" charset="0"/>
                            </a:rPr>
                            <m:t>𝜆</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𝐿</m:t>
                          </m:r>
                        </m:e>
                        <m:sub>
                          <m:r>
                            <a:rPr lang="en-US" sz="2400" i="1">
                              <a:latin typeface="Cambria Math" panose="02040503050406030204" pitchFamily="18" charset="0"/>
                            </a:rPr>
                            <m:t>𝑐𝑜𝑛𝑡𝑒𝑥𝑡</m:t>
                          </m:r>
                        </m:sub>
                      </m:sSub>
                      <m:d>
                        <m:dPr>
                          <m:ctrlPr>
                            <a:rPr lang="en-US" sz="2400" i="1">
                              <a:latin typeface="Cambria Math" panose="02040503050406030204" pitchFamily="18" charset="0"/>
                            </a:rPr>
                          </m:ctrlPr>
                        </m:dPr>
                        <m:e>
                          <m:acc>
                            <m:accPr>
                              <m:chr m:val="̂"/>
                              <m:ctrlPr>
                                <a:rPr lang="en-US" sz="2400" i="1">
                                  <a:latin typeface="Cambria Math" panose="02040503050406030204" pitchFamily="18" charset="0"/>
                                </a:rPr>
                              </m:ctrlPr>
                            </m:accPr>
                            <m:e>
                              <m:r>
                                <a:rPr lang="en-US" sz="2400" i="1">
                                  <a:latin typeface="Cambria Math" panose="02040503050406030204" pitchFamily="18" charset="0"/>
                                </a:rPr>
                                <m:t>𝑧</m:t>
                              </m:r>
                            </m:e>
                          </m:acc>
                        </m:e>
                      </m:d>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𝜆</m:t>
                      </m:r>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𝐿</m:t>
                          </m:r>
                        </m:e>
                        <m:sub>
                          <m:r>
                            <a:rPr lang="en-US" sz="2400" i="1">
                              <a:latin typeface="Cambria Math" panose="02040503050406030204" pitchFamily="18" charset="0"/>
                            </a:rPr>
                            <m:t>𝑝𝑒𝑟𝑐𝑒𝑝𝑡</m:t>
                          </m:r>
                        </m:sub>
                      </m:sSub>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𝑧</m:t>
                          </m:r>
                        </m:e>
                      </m:acc>
                      <m:r>
                        <a:rPr lang="en-US" sz="2400" i="1">
                          <a:latin typeface="Cambria Math" panose="02040503050406030204" pitchFamily="18" charset="0"/>
                        </a:rPr>
                        <m:t>)</m:t>
                      </m:r>
                    </m:oMath>
                  </m:oMathPara>
                </a14:m>
                <a:endParaRPr lang="en-US" sz="2400" dirty="0"/>
              </a:p>
            </p:txBody>
          </p:sp>
        </mc:Choice>
        <mc:Fallback xmlns="">
          <p:sp>
            <p:nvSpPr>
              <p:cNvPr id="16" name="TextBox 15">
                <a:extLst>
                  <a:ext uri="{FF2B5EF4-FFF2-40B4-BE49-F238E27FC236}">
                    <a16:creationId xmlns:a16="http://schemas.microsoft.com/office/drawing/2014/main" id="{CA179457-00B6-24D1-8E26-575319C3FFBD}"/>
                  </a:ext>
                </a:extLst>
              </p:cNvPr>
              <p:cNvSpPr txBox="1">
                <a:spLocks noRot="1" noChangeAspect="1" noMove="1" noResize="1" noEditPoints="1" noAdjustHandles="1" noChangeArrowheads="1" noChangeShapeType="1" noTextEdit="1"/>
              </p:cNvSpPr>
              <p:nvPr/>
            </p:nvSpPr>
            <p:spPr>
              <a:xfrm>
                <a:off x="338883" y="996633"/>
                <a:ext cx="11512295" cy="5237844"/>
              </a:xfrm>
              <a:prstGeom prst="rect">
                <a:avLst/>
              </a:prstGeom>
              <a:blipFill>
                <a:blip r:embed="rId3"/>
                <a:stretch>
                  <a:fillRect l="-771" t="-966"/>
                </a:stretch>
              </a:blipFill>
            </p:spPr>
            <p:txBody>
              <a:bodyPr/>
              <a:lstStyle/>
              <a:p>
                <a:r>
                  <a:rPr lang="en-US">
                    <a:noFill/>
                  </a:rPr>
                  <a:t> </a:t>
                </a:r>
              </a:p>
            </p:txBody>
          </p:sp>
        </mc:Fallback>
      </mc:AlternateContent>
      <p:sp>
        <p:nvSpPr>
          <p:cNvPr id="17" name="Slide Number Placeholder 3">
            <a:extLst>
              <a:ext uri="{FF2B5EF4-FFF2-40B4-BE49-F238E27FC236}">
                <a16:creationId xmlns:a16="http://schemas.microsoft.com/office/drawing/2014/main" id="{73E77CBC-23F4-3E9F-C4F0-3E800773850E}"/>
              </a:ext>
            </a:extLst>
          </p:cNvPr>
          <p:cNvSpPr>
            <a:spLocks noGrp="1"/>
          </p:cNvSpPr>
          <p:nvPr>
            <p:ph type="sldNum" sz="quarter" idx="10"/>
          </p:nvPr>
        </p:nvSpPr>
        <p:spPr>
          <a:xfrm>
            <a:off x="8302317" y="6412264"/>
            <a:ext cx="1768323" cy="365125"/>
          </a:xfrm>
        </p:spPr>
        <p:txBody>
          <a:bodyPr/>
          <a:lstStyle/>
          <a:p>
            <a:fld id="{712AF26B-5AA3-46FB-B36A-D6DA52437630}" type="slidenum">
              <a:rPr lang="en-US" smtClean="0"/>
              <a:t>13</a:t>
            </a:fld>
            <a:endParaRPr lang="en-US" dirty="0"/>
          </a:p>
        </p:txBody>
      </p:sp>
    </p:spTree>
    <p:extLst>
      <p:ext uri="{BB962C8B-B14F-4D97-AF65-F5344CB8AC3E}">
        <p14:creationId xmlns:p14="http://schemas.microsoft.com/office/powerpoint/2010/main" val="791967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9B0F4-5C1C-DD7C-9AA8-3080946F5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064F11-2AD7-289E-87DF-4C3EF855A34E}"/>
              </a:ext>
            </a:extLst>
          </p:cNvPr>
          <p:cNvSpPr>
            <a:spLocks noGrp="1"/>
          </p:cNvSpPr>
          <p:nvPr>
            <p:ph type="title"/>
          </p:nvPr>
        </p:nvSpPr>
        <p:spPr/>
        <p:txBody>
          <a:bodyPr/>
          <a:lstStyle/>
          <a:p>
            <a:r>
              <a:rPr lang="en-US" dirty="0"/>
              <a:t>64 Multi-shot Images</a:t>
            </a:r>
          </a:p>
        </p:txBody>
      </p:sp>
      <p:sp>
        <p:nvSpPr>
          <p:cNvPr id="4" name="TextBox 3">
            <a:extLst>
              <a:ext uri="{FF2B5EF4-FFF2-40B4-BE49-F238E27FC236}">
                <a16:creationId xmlns:a16="http://schemas.microsoft.com/office/drawing/2014/main" id="{E3948FBC-D76B-EB88-2B6F-D22618AE36E3}"/>
              </a:ext>
            </a:extLst>
          </p:cNvPr>
          <p:cNvSpPr txBox="1"/>
          <p:nvPr/>
        </p:nvSpPr>
        <p:spPr>
          <a:xfrm>
            <a:off x="4416777" y="4941550"/>
            <a:ext cx="548548" cy="461665"/>
          </a:xfrm>
          <a:prstGeom prst="rect">
            <a:avLst/>
          </a:prstGeom>
          <a:noFill/>
        </p:spPr>
        <p:txBody>
          <a:bodyPr wrap="none" rtlCol="0">
            <a:spAutoFit/>
          </a:bodyPr>
          <a:lstStyle/>
          <a:p>
            <a:r>
              <a:rPr lang="en-US" sz="2400" dirty="0">
                <a:solidFill>
                  <a:schemeClr val="bg1"/>
                </a:solidFill>
              </a:rPr>
              <a:t>[A]</a:t>
            </a:r>
            <a:endParaRPr lang="en-US" sz="1400" dirty="0">
              <a:solidFill>
                <a:schemeClr val="bg1"/>
              </a:solidFill>
            </a:endParaRPr>
          </a:p>
        </p:txBody>
      </p:sp>
      <p:sp>
        <p:nvSpPr>
          <p:cNvPr id="5" name="TextBox 4">
            <a:extLst>
              <a:ext uri="{FF2B5EF4-FFF2-40B4-BE49-F238E27FC236}">
                <a16:creationId xmlns:a16="http://schemas.microsoft.com/office/drawing/2014/main" id="{B7D36774-42E2-3188-13D1-C750A27776D0}"/>
              </a:ext>
            </a:extLst>
          </p:cNvPr>
          <p:cNvSpPr txBox="1"/>
          <p:nvPr/>
        </p:nvSpPr>
        <p:spPr>
          <a:xfrm>
            <a:off x="6443132" y="4941549"/>
            <a:ext cx="553357" cy="461665"/>
          </a:xfrm>
          <a:prstGeom prst="rect">
            <a:avLst/>
          </a:prstGeom>
          <a:noFill/>
        </p:spPr>
        <p:txBody>
          <a:bodyPr wrap="none" rtlCol="0">
            <a:spAutoFit/>
          </a:bodyPr>
          <a:lstStyle/>
          <a:p>
            <a:r>
              <a:rPr lang="en-US" sz="2400" dirty="0">
                <a:solidFill>
                  <a:schemeClr val="bg1"/>
                </a:solidFill>
              </a:rPr>
              <a:t>[B]</a:t>
            </a:r>
            <a:endParaRPr lang="en-US" sz="1400" dirty="0">
              <a:solidFill>
                <a:schemeClr val="bg1"/>
              </a:solidFill>
            </a:endParaRPr>
          </a:p>
        </p:txBody>
      </p:sp>
      <p:sp>
        <p:nvSpPr>
          <p:cNvPr id="6" name="TextBox 5">
            <a:extLst>
              <a:ext uri="{FF2B5EF4-FFF2-40B4-BE49-F238E27FC236}">
                <a16:creationId xmlns:a16="http://schemas.microsoft.com/office/drawing/2014/main" id="{6169DB8E-AAAE-6129-B3E8-37FA51E1EC0D}"/>
              </a:ext>
            </a:extLst>
          </p:cNvPr>
          <p:cNvSpPr txBox="1"/>
          <p:nvPr/>
        </p:nvSpPr>
        <p:spPr>
          <a:xfrm>
            <a:off x="7588314" y="4710716"/>
            <a:ext cx="580608" cy="461665"/>
          </a:xfrm>
          <a:prstGeom prst="rect">
            <a:avLst/>
          </a:prstGeom>
          <a:noFill/>
        </p:spPr>
        <p:txBody>
          <a:bodyPr wrap="none" rtlCol="0">
            <a:spAutoFit/>
          </a:bodyPr>
          <a:lstStyle/>
          <a:p>
            <a:r>
              <a:rPr lang="en-US" sz="2400" dirty="0">
                <a:solidFill>
                  <a:schemeClr val="bg1"/>
                </a:solidFill>
              </a:rPr>
              <a:t>[C]</a:t>
            </a:r>
            <a:endParaRPr lang="en-US" sz="1400" dirty="0">
              <a:solidFill>
                <a:schemeClr val="bg1"/>
              </a:solidFill>
            </a:endParaRPr>
          </a:p>
        </p:txBody>
      </p:sp>
      <p:sp>
        <p:nvSpPr>
          <p:cNvPr id="7" name="TextBox 6">
            <a:extLst>
              <a:ext uri="{FF2B5EF4-FFF2-40B4-BE49-F238E27FC236}">
                <a16:creationId xmlns:a16="http://schemas.microsoft.com/office/drawing/2014/main" id="{A26E811F-D463-BABE-1161-F6C889A635EF}"/>
              </a:ext>
            </a:extLst>
          </p:cNvPr>
          <p:cNvSpPr txBox="1"/>
          <p:nvPr/>
        </p:nvSpPr>
        <p:spPr>
          <a:xfrm>
            <a:off x="7827187" y="5146268"/>
            <a:ext cx="580608" cy="461665"/>
          </a:xfrm>
          <a:prstGeom prst="rect">
            <a:avLst/>
          </a:prstGeom>
          <a:noFill/>
        </p:spPr>
        <p:txBody>
          <a:bodyPr wrap="none" rtlCol="0">
            <a:spAutoFit/>
          </a:bodyPr>
          <a:lstStyle/>
          <a:p>
            <a:r>
              <a:rPr lang="en-US" sz="2400" dirty="0">
                <a:solidFill>
                  <a:schemeClr val="bg1"/>
                </a:solidFill>
              </a:rPr>
              <a:t>[D]</a:t>
            </a:r>
            <a:endParaRPr lang="en-US" sz="1400" dirty="0">
              <a:solidFill>
                <a:schemeClr val="bg1"/>
              </a:solidFill>
            </a:endParaRPr>
          </a:p>
        </p:txBody>
      </p:sp>
      <p:sp>
        <p:nvSpPr>
          <p:cNvPr id="8" name="TextBox 7">
            <a:extLst>
              <a:ext uri="{FF2B5EF4-FFF2-40B4-BE49-F238E27FC236}">
                <a16:creationId xmlns:a16="http://schemas.microsoft.com/office/drawing/2014/main" id="{CCF57D41-FD53-2404-FA9B-5C7558C10F5E}"/>
              </a:ext>
            </a:extLst>
          </p:cNvPr>
          <p:cNvSpPr txBox="1"/>
          <p:nvPr/>
        </p:nvSpPr>
        <p:spPr>
          <a:xfrm>
            <a:off x="8219903" y="4079468"/>
            <a:ext cx="538930" cy="461665"/>
          </a:xfrm>
          <a:prstGeom prst="rect">
            <a:avLst/>
          </a:prstGeom>
          <a:noFill/>
        </p:spPr>
        <p:txBody>
          <a:bodyPr wrap="none" rtlCol="0">
            <a:spAutoFit/>
          </a:bodyPr>
          <a:lstStyle/>
          <a:p>
            <a:r>
              <a:rPr lang="en-US" sz="2400" dirty="0">
                <a:solidFill>
                  <a:schemeClr val="bg1"/>
                </a:solidFill>
              </a:rPr>
              <a:t>[E]</a:t>
            </a:r>
            <a:endParaRPr lang="en-US" sz="1400" dirty="0">
              <a:solidFill>
                <a:schemeClr val="bg1"/>
              </a:solidFill>
            </a:endParaRPr>
          </a:p>
        </p:txBody>
      </p:sp>
      <p:sp>
        <p:nvSpPr>
          <p:cNvPr id="9" name="TextBox 8">
            <a:extLst>
              <a:ext uri="{FF2B5EF4-FFF2-40B4-BE49-F238E27FC236}">
                <a16:creationId xmlns:a16="http://schemas.microsoft.com/office/drawing/2014/main" id="{A6D1A1D1-0E7A-750B-F560-B2B5000A606A}"/>
              </a:ext>
            </a:extLst>
          </p:cNvPr>
          <p:cNvSpPr txBox="1"/>
          <p:nvPr/>
        </p:nvSpPr>
        <p:spPr>
          <a:xfrm>
            <a:off x="8846436" y="1669290"/>
            <a:ext cx="538930" cy="461665"/>
          </a:xfrm>
          <a:prstGeom prst="rect">
            <a:avLst/>
          </a:prstGeom>
          <a:noFill/>
        </p:spPr>
        <p:txBody>
          <a:bodyPr wrap="none" rtlCol="0">
            <a:spAutoFit/>
          </a:bodyPr>
          <a:lstStyle/>
          <a:p>
            <a:r>
              <a:rPr lang="en-US" sz="2400" dirty="0">
                <a:solidFill>
                  <a:schemeClr val="bg1"/>
                </a:solidFill>
              </a:rPr>
              <a:t>[F]</a:t>
            </a:r>
            <a:endParaRPr lang="en-US" sz="1400" dirty="0">
              <a:solidFill>
                <a:schemeClr val="bg1"/>
              </a:solidFill>
            </a:endParaRPr>
          </a:p>
        </p:txBody>
      </p:sp>
      <p:sp>
        <p:nvSpPr>
          <p:cNvPr id="10" name="TextBox 9">
            <a:extLst>
              <a:ext uri="{FF2B5EF4-FFF2-40B4-BE49-F238E27FC236}">
                <a16:creationId xmlns:a16="http://schemas.microsoft.com/office/drawing/2014/main" id="{707298E9-B30E-031C-1CC9-38B15A5937A2}"/>
              </a:ext>
            </a:extLst>
          </p:cNvPr>
          <p:cNvSpPr txBox="1"/>
          <p:nvPr/>
        </p:nvSpPr>
        <p:spPr>
          <a:xfrm>
            <a:off x="10827381" y="5017087"/>
            <a:ext cx="585417" cy="461665"/>
          </a:xfrm>
          <a:prstGeom prst="rect">
            <a:avLst/>
          </a:prstGeom>
          <a:noFill/>
        </p:spPr>
        <p:txBody>
          <a:bodyPr wrap="none" rtlCol="0">
            <a:spAutoFit/>
          </a:bodyPr>
          <a:lstStyle/>
          <a:p>
            <a:r>
              <a:rPr lang="en-US" sz="2400" dirty="0">
                <a:solidFill>
                  <a:schemeClr val="bg1"/>
                </a:solidFill>
              </a:rPr>
              <a:t>[G]</a:t>
            </a:r>
            <a:endParaRPr lang="en-US" sz="1400" dirty="0">
              <a:solidFill>
                <a:schemeClr val="bg1"/>
              </a:solidFill>
            </a:endParaRPr>
          </a:p>
        </p:txBody>
      </p:sp>
      <p:sp>
        <p:nvSpPr>
          <p:cNvPr id="11" name="TextBox 10">
            <a:extLst>
              <a:ext uri="{FF2B5EF4-FFF2-40B4-BE49-F238E27FC236}">
                <a16:creationId xmlns:a16="http://schemas.microsoft.com/office/drawing/2014/main" id="{20EE0A5A-F7CD-4A5F-DC32-5A7C7C34C9D7}"/>
              </a:ext>
            </a:extLst>
          </p:cNvPr>
          <p:cNvSpPr txBox="1"/>
          <p:nvPr/>
        </p:nvSpPr>
        <p:spPr>
          <a:xfrm>
            <a:off x="10570067" y="4541133"/>
            <a:ext cx="585417" cy="461665"/>
          </a:xfrm>
          <a:prstGeom prst="rect">
            <a:avLst/>
          </a:prstGeom>
          <a:noFill/>
        </p:spPr>
        <p:txBody>
          <a:bodyPr wrap="none" rtlCol="0">
            <a:spAutoFit/>
          </a:bodyPr>
          <a:lstStyle/>
          <a:p>
            <a:r>
              <a:rPr lang="en-US" sz="2400" dirty="0">
                <a:solidFill>
                  <a:schemeClr val="bg1"/>
                </a:solidFill>
              </a:rPr>
              <a:t>[H]</a:t>
            </a:r>
            <a:endParaRPr lang="en-US" sz="1400" dirty="0">
              <a:solidFill>
                <a:schemeClr val="bg1"/>
              </a:solidFill>
            </a:endParaRPr>
          </a:p>
        </p:txBody>
      </p:sp>
      <p:sp>
        <p:nvSpPr>
          <p:cNvPr id="12" name="TextBox 11">
            <a:extLst>
              <a:ext uri="{FF2B5EF4-FFF2-40B4-BE49-F238E27FC236}">
                <a16:creationId xmlns:a16="http://schemas.microsoft.com/office/drawing/2014/main" id="{6FABB4CB-DE34-CCE0-465C-567510FAE4A2}"/>
              </a:ext>
            </a:extLst>
          </p:cNvPr>
          <p:cNvSpPr txBox="1"/>
          <p:nvPr/>
        </p:nvSpPr>
        <p:spPr>
          <a:xfrm>
            <a:off x="11742500" y="4710716"/>
            <a:ext cx="447558" cy="461665"/>
          </a:xfrm>
          <a:prstGeom prst="rect">
            <a:avLst/>
          </a:prstGeom>
          <a:noFill/>
        </p:spPr>
        <p:txBody>
          <a:bodyPr wrap="none" rtlCol="0">
            <a:spAutoFit/>
          </a:bodyPr>
          <a:lstStyle/>
          <a:p>
            <a:r>
              <a:rPr lang="en-US" sz="2400" dirty="0">
                <a:solidFill>
                  <a:schemeClr val="bg1"/>
                </a:solidFill>
              </a:rPr>
              <a:t>[I]</a:t>
            </a:r>
            <a:endParaRPr lang="en-US" sz="1400" dirty="0">
              <a:solidFill>
                <a:schemeClr val="bg1"/>
              </a:solidFill>
            </a:endParaRPr>
          </a:p>
        </p:txBody>
      </p:sp>
      <p:sp>
        <p:nvSpPr>
          <p:cNvPr id="16" name="TextBox 15">
            <a:extLst>
              <a:ext uri="{FF2B5EF4-FFF2-40B4-BE49-F238E27FC236}">
                <a16:creationId xmlns:a16="http://schemas.microsoft.com/office/drawing/2014/main" id="{853FD7AC-D0FF-FE5E-EC45-1D4314593808}"/>
              </a:ext>
            </a:extLst>
          </p:cNvPr>
          <p:cNvSpPr txBox="1"/>
          <p:nvPr/>
        </p:nvSpPr>
        <p:spPr>
          <a:xfrm>
            <a:off x="338882" y="1053078"/>
            <a:ext cx="11512295" cy="5724644"/>
          </a:xfrm>
          <a:prstGeom prst="rect">
            <a:avLst/>
          </a:prstGeom>
          <a:noFill/>
        </p:spPr>
        <p:txBody>
          <a:bodyPr wrap="square">
            <a:spAutoFit/>
          </a:bodyPr>
          <a:lstStyle/>
          <a:p>
            <a:r>
              <a:rPr lang="en-US" sz="2600" dirty="0"/>
              <a:t>Because of the stochastic nature of the AI image completion process, the extrapolated contours are obtained by averaging the results of 64 different extrapolations performed on the same measured data. This improves performance.</a:t>
            </a:r>
          </a:p>
          <a:p>
            <a:endParaRPr lang="en-US" sz="2600" dirty="0"/>
          </a:p>
          <a:p>
            <a:r>
              <a:rPr lang="en-US" sz="2600" dirty="0"/>
              <a:t>To report the error, three metrics are used:</a:t>
            </a:r>
          </a:p>
          <a:p>
            <a:r>
              <a:rPr lang="en-US" sz="2600" dirty="0"/>
              <a:t>	1. Average Output Power Error (dB)</a:t>
            </a:r>
          </a:p>
          <a:p>
            <a:r>
              <a:rPr lang="en-US" sz="2600" dirty="0"/>
              <a:t>	2. Average Opt. Reflection Coefficient Magnitude Error</a:t>
            </a:r>
          </a:p>
          <a:p>
            <a:r>
              <a:rPr lang="en-US" sz="2600" dirty="0"/>
              <a:t>	3. Uncertainty Radius</a:t>
            </a:r>
          </a:p>
          <a:p>
            <a:endParaRPr lang="en-US" sz="2600" dirty="0"/>
          </a:p>
          <a:p>
            <a:r>
              <a:rPr lang="en-US" sz="2600" dirty="0"/>
              <a:t>Uncertainty Radius is defined by choosing the greater of the standard deviations in the real and imaginary components of the extrapolations’ optimal reflection coefficients over the 64 images.</a:t>
            </a:r>
          </a:p>
          <a:p>
            <a:endParaRPr lang="en-US" sz="2800" dirty="0"/>
          </a:p>
        </p:txBody>
      </p:sp>
      <p:sp>
        <p:nvSpPr>
          <p:cNvPr id="3" name="Slide Number Placeholder 3">
            <a:extLst>
              <a:ext uri="{FF2B5EF4-FFF2-40B4-BE49-F238E27FC236}">
                <a16:creationId xmlns:a16="http://schemas.microsoft.com/office/drawing/2014/main" id="{841D518F-6D8B-00C5-FEE8-F2368A3B0442}"/>
              </a:ext>
            </a:extLst>
          </p:cNvPr>
          <p:cNvSpPr>
            <a:spLocks noGrp="1"/>
          </p:cNvSpPr>
          <p:nvPr>
            <p:ph type="sldNum" sz="quarter" idx="10"/>
          </p:nvPr>
        </p:nvSpPr>
        <p:spPr>
          <a:xfrm>
            <a:off x="8302317" y="6412264"/>
            <a:ext cx="1768323" cy="365125"/>
          </a:xfrm>
        </p:spPr>
        <p:txBody>
          <a:bodyPr/>
          <a:lstStyle/>
          <a:p>
            <a:fld id="{712AF26B-5AA3-46FB-B36A-D6DA52437630}" type="slidenum">
              <a:rPr lang="en-US" smtClean="0"/>
              <a:t>14</a:t>
            </a:fld>
            <a:endParaRPr lang="en-US" dirty="0"/>
          </a:p>
        </p:txBody>
      </p:sp>
    </p:spTree>
    <p:extLst>
      <p:ext uri="{BB962C8B-B14F-4D97-AF65-F5344CB8AC3E}">
        <p14:creationId xmlns:p14="http://schemas.microsoft.com/office/powerpoint/2010/main" val="689321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881DD-3019-E044-9523-B8A556D480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E8709B-A819-993A-2870-0C1E86ADCACF}"/>
              </a:ext>
            </a:extLst>
          </p:cNvPr>
          <p:cNvSpPr>
            <a:spLocks noGrp="1"/>
          </p:cNvSpPr>
          <p:nvPr>
            <p:ph type="title"/>
          </p:nvPr>
        </p:nvSpPr>
        <p:spPr/>
        <p:txBody>
          <a:bodyPr/>
          <a:lstStyle/>
          <a:p>
            <a:r>
              <a:rPr lang="en-US" dirty="0"/>
              <a:t>Measurement Setup</a:t>
            </a:r>
          </a:p>
        </p:txBody>
      </p:sp>
      <p:sp>
        <p:nvSpPr>
          <p:cNvPr id="21" name="Content Placeholder 2">
            <a:extLst>
              <a:ext uri="{FF2B5EF4-FFF2-40B4-BE49-F238E27FC236}">
                <a16:creationId xmlns:a16="http://schemas.microsoft.com/office/drawing/2014/main" id="{D4695C54-E8DE-7B21-2C8B-4BD284130CA7}"/>
              </a:ext>
            </a:extLst>
          </p:cNvPr>
          <p:cNvSpPr txBox="1">
            <a:spLocks/>
          </p:cNvSpPr>
          <p:nvPr/>
        </p:nvSpPr>
        <p:spPr bwMode="auto">
          <a:xfrm>
            <a:off x="71785" y="1090675"/>
            <a:ext cx="4074059" cy="405559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kern="0" dirty="0"/>
              <a:t>A) DC Power Supply</a:t>
            </a:r>
          </a:p>
          <a:p>
            <a:r>
              <a:rPr lang="en-US" sz="2400" kern="0" dirty="0"/>
              <a:t>B) Vector Signal Generator</a:t>
            </a:r>
          </a:p>
          <a:p>
            <a:r>
              <a:rPr lang="en-US" sz="2400" kern="0" dirty="0"/>
              <a:t>C) Isolator</a:t>
            </a:r>
          </a:p>
          <a:p>
            <a:r>
              <a:rPr lang="en-US" sz="2400" kern="0" dirty="0"/>
              <a:t>D) Power Amplifier</a:t>
            </a:r>
          </a:p>
          <a:p>
            <a:r>
              <a:rPr lang="en-US" sz="2400" kern="0" dirty="0"/>
              <a:t>E) Bias Tees</a:t>
            </a:r>
          </a:p>
          <a:p>
            <a:r>
              <a:rPr lang="en-US" sz="2400" kern="0" dirty="0"/>
              <a:t>F) Maury Microwave Tuner</a:t>
            </a:r>
          </a:p>
          <a:p>
            <a:r>
              <a:rPr lang="en-US" sz="2400" kern="0" dirty="0"/>
              <a:t>G) Low-Cost Switch Tuner</a:t>
            </a:r>
          </a:p>
          <a:p>
            <a:r>
              <a:rPr lang="en-US" sz="2400" kern="0" dirty="0"/>
              <a:t>H) 10 dB Attenuator</a:t>
            </a:r>
          </a:p>
          <a:p>
            <a:r>
              <a:rPr lang="en-US" sz="2400" kern="0" dirty="0"/>
              <a:t>I) Power Meter</a:t>
            </a:r>
          </a:p>
        </p:txBody>
      </p:sp>
      <p:grpSp>
        <p:nvGrpSpPr>
          <p:cNvPr id="13" name="Group 12">
            <a:extLst>
              <a:ext uri="{FF2B5EF4-FFF2-40B4-BE49-F238E27FC236}">
                <a16:creationId xmlns:a16="http://schemas.microsoft.com/office/drawing/2014/main" id="{F4E315DD-7C3C-D13F-A3DF-6BFEA458AD16}"/>
              </a:ext>
            </a:extLst>
          </p:cNvPr>
          <p:cNvGrpSpPr/>
          <p:nvPr/>
        </p:nvGrpSpPr>
        <p:grpSpPr>
          <a:xfrm>
            <a:off x="4157598" y="1090114"/>
            <a:ext cx="7777120" cy="3958964"/>
            <a:chOff x="4145844" y="1090114"/>
            <a:chExt cx="8046156" cy="4526523"/>
          </a:xfrm>
        </p:grpSpPr>
        <p:pic>
          <p:nvPicPr>
            <p:cNvPr id="3" name="Picture 2" descr="A computer with wires and a machine&#10;&#10;Description automatically generated with medium confidence">
              <a:extLst>
                <a:ext uri="{FF2B5EF4-FFF2-40B4-BE49-F238E27FC236}">
                  <a16:creationId xmlns:a16="http://schemas.microsoft.com/office/drawing/2014/main" id="{5A4F6D90-0F98-29C7-8F44-F2A41EEECADD}"/>
                </a:ext>
              </a:extLst>
            </p:cNvPr>
            <p:cNvPicPr>
              <a:picLocks noChangeAspect="1"/>
            </p:cNvPicPr>
            <p:nvPr/>
          </p:nvPicPr>
          <p:blipFill rotWithShape="1">
            <a:blip r:embed="rId3"/>
            <a:srcRect l="1" t="118" r="2432" b="3417"/>
            <a:stretch>
              <a:fillRect/>
            </a:stretch>
          </p:blipFill>
          <p:spPr bwMode="auto">
            <a:xfrm>
              <a:off x="4145844" y="1090114"/>
              <a:ext cx="8046156" cy="4526523"/>
            </a:xfrm>
            <a:prstGeom prst="rect">
              <a:avLst/>
            </a:prstGeom>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9520F88E-60DB-C117-7047-1DEDBA3AEBF7}"/>
                </a:ext>
              </a:extLst>
            </p:cNvPr>
            <p:cNvSpPr txBox="1"/>
            <p:nvPr/>
          </p:nvSpPr>
          <p:spPr>
            <a:xfrm>
              <a:off x="4416777" y="4941550"/>
              <a:ext cx="548548" cy="461665"/>
            </a:xfrm>
            <a:prstGeom prst="rect">
              <a:avLst/>
            </a:prstGeom>
            <a:noFill/>
          </p:spPr>
          <p:txBody>
            <a:bodyPr wrap="none" rtlCol="0">
              <a:spAutoFit/>
            </a:bodyPr>
            <a:lstStyle/>
            <a:p>
              <a:r>
                <a:rPr lang="en-US" sz="2400" dirty="0">
                  <a:solidFill>
                    <a:schemeClr val="bg1"/>
                  </a:solidFill>
                </a:rPr>
                <a:t>[A]</a:t>
              </a:r>
              <a:endParaRPr lang="en-US" sz="1400" dirty="0">
                <a:solidFill>
                  <a:schemeClr val="bg1"/>
                </a:solidFill>
              </a:endParaRPr>
            </a:p>
          </p:txBody>
        </p:sp>
        <p:sp>
          <p:nvSpPr>
            <p:cNvPr id="5" name="TextBox 4">
              <a:extLst>
                <a:ext uri="{FF2B5EF4-FFF2-40B4-BE49-F238E27FC236}">
                  <a16:creationId xmlns:a16="http://schemas.microsoft.com/office/drawing/2014/main" id="{5C4BAEF8-12BF-00A0-30E8-C66D5A81AD7B}"/>
                </a:ext>
              </a:extLst>
            </p:cNvPr>
            <p:cNvSpPr txBox="1"/>
            <p:nvPr/>
          </p:nvSpPr>
          <p:spPr>
            <a:xfrm>
              <a:off x="6443132" y="4941549"/>
              <a:ext cx="553357" cy="461665"/>
            </a:xfrm>
            <a:prstGeom prst="rect">
              <a:avLst/>
            </a:prstGeom>
            <a:noFill/>
          </p:spPr>
          <p:txBody>
            <a:bodyPr wrap="none" rtlCol="0">
              <a:spAutoFit/>
            </a:bodyPr>
            <a:lstStyle/>
            <a:p>
              <a:r>
                <a:rPr lang="en-US" sz="2400" dirty="0">
                  <a:solidFill>
                    <a:schemeClr val="bg1"/>
                  </a:solidFill>
                </a:rPr>
                <a:t>[B]</a:t>
              </a:r>
              <a:endParaRPr lang="en-US" sz="1400" dirty="0">
                <a:solidFill>
                  <a:schemeClr val="bg1"/>
                </a:solidFill>
              </a:endParaRPr>
            </a:p>
          </p:txBody>
        </p:sp>
        <p:sp>
          <p:nvSpPr>
            <p:cNvPr id="6" name="TextBox 5">
              <a:extLst>
                <a:ext uri="{FF2B5EF4-FFF2-40B4-BE49-F238E27FC236}">
                  <a16:creationId xmlns:a16="http://schemas.microsoft.com/office/drawing/2014/main" id="{A337E81A-9CCC-7953-D130-1CFEA7DF103E}"/>
                </a:ext>
              </a:extLst>
            </p:cNvPr>
            <p:cNvSpPr txBox="1"/>
            <p:nvPr/>
          </p:nvSpPr>
          <p:spPr>
            <a:xfrm>
              <a:off x="7588314" y="4710716"/>
              <a:ext cx="580608" cy="461665"/>
            </a:xfrm>
            <a:prstGeom prst="rect">
              <a:avLst/>
            </a:prstGeom>
            <a:noFill/>
          </p:spPr>
          <p:txBody>
            <a:bodyPr wrap="none" rtlCol="0">
              <a:spAutoFit/>
            </a:bodyPr>
            <a:lstStyle/>
            <a:p>
              <a:r>
                <a:rPr lang="en-US" sz="2400" dirty="0">
                  <a:solidFill>
                    <a:schemeClr val="bg1"/>
                  </a:solidFill>
                </a:rPr>
                <a:t>[C]</a:t>
              </a:r>
              <a:endParaRPr lang="en-US" sz="1400" dirty="0">
                <a:solidFill>
                  <a:schemeClr val="bg1"/>
                </a:solidFill>
              </a:endParaRPr>
            </a:p>
          </p:txBody>
        </p:sp>
        <p:sp>
          <p:nvSpPr>
            <p:cNvPr id="7" name="TextBox 6">
              <a:extLst>
                <a:ext uri="{FF2B5EF4-FFF2-40B4-BE49-F238E27FC236}">
                  <a16:creationId xmlns:a16="http://schemas.microsoft.com/office/drawing/2014/main" id="{48F3C318-C6F1-A0D7-984F-5BD4C6239BFD}"/>
                </a:ext>
              </a:extLst>
            </p:cNvPr>
            <p:cNvSpPr txBox="1"/>
            <p:nvPr/>
          </p:nvSpPr>
          <p:spPr>
            <a:xfrm>
              <a:off x="7827187" y="5146268"/>
              <a:ext cx="580608" cy="461665"/>
            </a:xfrm>
            <a:prstGeom prst="rect">
              <a:avLst/>
            </a:prstGeom>
            <a:noFill/>
          </p:spPr>
          <p:txBody>
            <a:bodyPr wrap="none" rtlCol="0">
              <a:spAutoFit/>
            </a:bodyPr>
            <a:lstStyle/>
            <a:p>
              <a:r>
                <a:rPr lang="en-US" sz="2400" dirty="0">
                  <a:solidFill>
                    <a:schemeClr val="bg1"/>
                  </a:solidFill>
                </a:rPr>
                <a:t>[D]</a:t>
              </a:r>
              <a:endParaRPr lang="en-US" sz="1400" dirty="0">
                <a:solidFill>
                  <a:schemeClr val="bg1"/>
                </a:solidFill>
              </a:endParaRPr>
            </a:p>
          </p:txBody>
        </p:sp>
        <p:sp>
          <p:nvSpPr>
            <p:cNvPr id="8" name="TextBox 7">
              <a:extLst>
                <a:ext uri="{FF2B5EF4-FFF2-40B4-BE49-F238E27FC236}">
                  <a16:creationId xmlns:a16="http://schemas.microsoft.com/office/drawing/2014/main" id="{8BC19902-F989-8D6B-C56B-86A295F498CD}"/>
                </a:ext>
              </a:extLst>
            </p:cNvPr>
            <p:cNvSpPr txBox="1"/>
            <p:nvPr/>
          </p:nvSpPr>
          <p:spPr>
            <a:xfrm>
              <a:off x="8219903" y="4079468"/>
              <a:ext cx="538930" cy="461665"/>
            </a:xfrm>
            <a:prstGeom prst="rect">
              <a:avLst/>
            </a:prstGeom>
            <a:noFill/>
          </p:spPr>
          <p:txBody>
            <a:bodyPr wrap="none" rtlCol="0">
              <a:spAutoFit/>
            </a:bodyPr>
            <a:lstStyle/>
            <a:p>
              <a:r>
                <a:rPr lang="en-US" sz="2400" dirty="0">
                  <a:solidFill>
                    <a:schemeClr val="bg1"/>
                  </a:solidFill>
                </a:rPr>
                <a:t>[E]</a:t>
              </a:r>
              <a:endParaRPr lang="en-US" sz="1400" dirty="0">
                <a:solidFill>
                  <a:schemeClr val="bg1"/>
                </a:solidFill>
              </a:endParaRPr>
            </a:p>
          </p:txBody>
        </p:sp>
        <p:sp>
          <p:nvSpPr>
            <p:cNvPr id="9" name="TextBox 8">
              <a:extLst>
                <a:ext uri="{FF2B5EF4-FFF2-40B4-BE49-F238E27FC236}">
                  <a16:creationId xmlns:a16="http://schemas.microsoft.com/office/drawing/2014/main" id="{84816F48-23FF-86C2-FE08-35622F8F8874}"/>
                </a:ext>
              </a:extLst>
            </p:cNvPr>
            <p:cNvSpPr txBox="1"/>
            <p:nvPr/>
          </p:nvSpPr>
          <p:spPr>
            <a:xfrm>
              <a:off x="8846436" y="1669290"/>
              <a:ext cx="538930" cy="461665"/>
            </a:xfrm>
            <a:prstGeom prst="rect">
              <a:avLst/>
            </a:prstGeom>
            <a:noFill/>
          </p:spPr>
          <p:txBody>
            <a:bodyPr wrap="none" rtlCol="0">
              <a:spAutoFit/>
            </a:bodyPr>
            <a:lstStyle/>
            <a:p>
              <a:r>
                <a:rPr lang="en-US" sz="2400" dirty="0">
                  <a:solidFill>
                    <a:schemeClr val="bg1"/>
                  </a:solidFill>
                </a:rPr>
                <a:t>[F]</a:t>
              </a:r>
              <a:endParaRPr lang="en-US" sz="1400" dirty="0">
                <a:solidFill>
                  <a:schemeClr val="bg1"/>
                </a:solidFill>
              </a:endParaRPr>
            </a:p>
          </p:txBody>
        </p:sp>
        <p:sp>
          <p:nvSpPr>
            <p:cNvPr id="10" name="TextBox 9">
              <a:extLst>
                <a:ext uri="{FF2B5EF4-FFF2-40B4-BE49-F238E27FC236}">
                  <a16:creationId xmlns:a16="http://schemas.microsoft.com/office/drawing/2014/main" id="{A9BB0B84-3E1E-A672-EA4C-3E88FAC7FED8}"/>
                </a:ext>
              </a:extLst>
            </p:cNvPr>
            <p:cNvSpPr txBox="1"/>
            <p:nvPr/>
          </p:nvSpPr>
          <p:spPr>
            <a:xfrm>
              <a:off x="10827381" y="5017087"/>
              <a:ext cx="585417" cy="461665"/>
            </a:xfrm>
            <a:prstGeom prst="rect">
              <a:avLst/>
            </a:prstGeom>
            <a:noFill/>
          </p:spPr>
          <p:txBody>
            <a:bodyPr wrap="none" rtlCol="0">
              <a:spAutoFit/>
            </a:bodyPr>
            <a:lstStyle/>
            <a:p>
              <a:r>
                <a:rPr lang="en-US" sz="2400" dirty="0">
                  <a:solidFill>
                    <a:schemeClr val="bg1"/>
                  </a:solidFill>
                </a:rPr>
                <a:t>[G]</a:t>
              </a:r>
              <a:endParaRPr lang="en-US" sz="1400" dirty="0">
                <a:solidFill>
                  <a:schemeClr val="bg1"/>
                </a:solidFill>
              </a:endParaRPr>
            </a:p>
          </p:txBody>
        </p:sp>
        <p:sp>
          <p:nvSpPr>
            <p:cNvPr id="11" name="TextBox 10">
              <a:extLst>
                <a:ext uri="{FF2B5EF4-FFF2-40B4-BE49-F238E27FC236}">
                  <a16:creationId xmlns:a16="http://schemas.microsoft.com/office/drawing/2014/main" id="{D85352D0-2FBE-95E4-7FBD-5173C5B33768}"/>
                </a:ext>
              </a:extLst>
            </p:cNvPr>
            <p:cNvSpPr txBox="1"/>
            <p:nvPr/>
          </p:nvSpPr>
          <p:spPr>
            <a:xfrm>
              <a:off x="10570067" y="4541133"/>
              <a:ext cx="585417" cy="461665"/>
            </a:xfrm>
            <a:prstGeom prst="rect">
              <a:avLst/>
            </a:prstGeom>
            <a:noFill/>
          </p:spPr>
          <p:txBody>
            <a:bodyPr wrap="none" rtlCol="0">
              <a:spAutoFit/>
            </a:bodyPr>
            <a:lstStyle/>
            <a:p>
              <a:r>
                <a:rPr lang="en-US" sz="2400" dirty="0">
                  <a:solidFill>
                    <a:schemeClr val="bg1"/>
                  </a:solidFill>
                </a:rPr>
                <a:t>[H]</a:t>
              </a:r>
              <a:endParaRPr lang="en-US" sz="1400" dirty="0">
                <a:solidFill>
                  <a:schemeClr val="bg1"/>
                </a:solidFill>
              </a:endParaRPr>
            </a:p>
          </p:txBody>
        </p:sp>
        <p:sp>
          <p:nvSpPr>
            <p:cNvPr id="12" name="TextBox 11">
              <a:extLst>
                <a:ext uri="{FF2B5EF4-FFF2-40B4-BE49-F238E27FC236}">
                  <a16:creationId xmlns:a16="http://schemas.microsoft.com/office/drawing/2014/main" id="{B47A5C76-9949-6B80-396E-918AF12BA0D6}"/>
                </a:ext>
              </a:extLst>
            </p:cNvPr>
            <p:cNvSpPr txBox="1"/>
            <p:nvPr/>
          </p:nvSpPr>
          <p:spPr>
            <a:xfrm>
              <a:off x="11742500" y="4710716"/>
              <a:ext cx="447558" cy="461665"/>
            </a:xfrm>
            <a:prstGeom prst="rect">
              <a:avLst/>
            </a:prstGeom>
            <a:noFill/>
          </p:spPr>
          <p:txBody>
            <a:bodyPr wrap="none" rtlCol="0">
              <a:spAutoFit/>
            </a:bodyPr>
            <a:lstStyle/>
            <a:p>
              <a:r>
                <a:rPr lang="en-US" sz="2400" dirty="0">
                  <a:solidFill>
                    <a:schemeClr val="bg1"/>
                  </a:solidFill>
                </a:rPr>
                <a:t>[I]</a:t>
              </a:r>
              <a:endParaRPr lang="en-US" sz="1400" dirty="0">
                <a:solidFill>
                  <a:schemeClr val="bg1"/>
                </a:solidFill>
              </a:endParaRPr>
            </a:p>
          </p:txBody>
        </p:sp>
      </p:grpSp>
      <p:sp>
        <p:nvSpPr>
          <p:cNvPr id="14" name="TextBox 13">
            <a:extLst>
              <a:ext uri="{FF2B5EF4-FFF2-40B4-BE49-F238E27FC236}">
                <a16:creationId xmlns:a16="http://schemas.microsoft.com/office/drawing/2014/main" id="{243A2035-672C-274C-31D0-969BCA5419D9}"/>
              </a:ext>
            </a:extLst>
          </p:cNvPr>
          <p:cNvSpPr txBox="1"/>
          <p:nvPr/>
        </p:nvSpPr>
        <p:spPr>
          <a:xfrm>
            <a:off x="-22485" y="5205194"/>
            <a:ext cx="12236970" cy="1092735"/>
          </a:xfrm>
          <a:prstGeom prst="rect">
            <a:avLst/>
          </a:prstGeom>
          <a:noFill/>
        </p:spPr>
        <p:txBody>
          <a:bodyPr wrap="square" rtlCol="0">
            <a:spAutoFit/>
          </a:bodyPr>
          <a:lstStyle/>
          <a:p>
            <a:pPr marR="0" lvl="0" algn="ctr" defTabSz="914400" rtl="0" eaLnBrk="0" fontAlgn="base" latinLnBrk="0" hangingPunct="0">
              <a:lnSpc>
                <a:spcPct val="90000"/>
              </a:lnSpc>
              <a:spcBef>
                <a:spcPct val="20000"/>
              </a:spcBef>
              <a:spcAft>
                <a:spcPct val="0"/>
              </a:spcAft>
              <a:buClrTx/>
              <a:buSzTx/>
              <a:tabLst/>
              <a:defRPr/>
            </a:pPr>
            <a:r>
              <a:rPr lang="en-US" sz="3600" dirty="0"/>
              <a:t>This standard load-pull setup was used to validate extrapolation performance.</a:t>
            </a:r>
            <a:endParaRPr lang="en-US" sz="2400" dirty="0"/>
          </a:p>
        </p:txBody>
      </p:sp>
      <p:sp>
        <p:nvSpPr>
          <p:cNvPr id="15" name="Slide Number Placeholder 3">
            <a:extLst>
              <a:ext uri="{FF2B5EF4-FFF2-40B4-BE49-F238E27FC236}">
                <a16:creationId xmlns:a16="http://schemas.microsoft.com/office/drawing/2014/main" id="{D381BA67-3B1E-5D90-F765-EFD6945DBDB7}"/>
              </a:ext>
            </a:extLst>
          </p:cNvPr>
          <p:cNvSpPr>
            <a:spLocks noGrp="1"/>
          </p:cNvSpPr>
          <p:nvPr>
            <p:ph type="sldNum" sz="quarter" idx="10"/>
          </p:nvPr>
        </p:nvSpPr>
        <p:spPr>
          <a:xfrm>
            <a:off x="8302317" y="6412264"/>
            <a:ext cx="1768323" cy="365125"/>
          </a:xfrm>
        </p:spPr>
        <p:txBody>
          <a:bodyPr/>
          <a:lstStyle/>
          <a:p>
            <a:fld id="{712AF26B-5AA3-46FB-B36A-D6DA52437630}" type="slidenum">
              <a:rPr lang="en-US" smtClean="0"/>
              <a:t>15</a:t>
            </a:fld>
            <a:endParaRPr lang="en-US" dirty="0"/>
          </a:p>
        </p:txBody>
      </p:sp>
    </p:spTree>
    <p:extLst>
      <p:ext uri="{BB962C8B-B14F-4D97-AF65-F5344CB8AC3E}">
        <p14:creationId xmlns:p14="http://schemas.microsoft.com/office/powerpoint/2010/main" val="3027454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EA94E-E91C-1B87-C9E7-DECC202218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2346CA-2738-2C9F-26C4-229CB892BB90}"/>
              </a:ext>
            </a:extLst>
          </p:cNvPr>
          <p:cNvSpPr>
            <a:spLocks noGrp="1"/>
          </p:cNvSpPr>
          <p:nvPr>
            <p:ph type="title"/>
          </p:nvPr>
        </p:nvSpPr>
        <p:spPr/>
        <p:txBody>
          <a:bodyPr/>
          <a:lstStyle/>
          <a:p>
            <a:r>
              <a:rPr lang="en-US" dirty="0"/>
              <a:t>Linear Extrapolation</a:t>
            </a:r>
          </a:p>
        </p:txBody>
      </p:sp>
      <p:sp>
        <p:nvSpPr>
          <p:cNvPr id="4" name="Slide Number Placeholder 3">
            <a:extLst>
              <a:ext uri="{FF2B5EF4-FFF2-40B4-BE49-F238E27FC236}">
                <a16:creationId xmlns:a16="http://schemas.microsoft.com/office/drawing/2014/main" id="{52B0C28D-94F6-58D4-52A7-33BBAB34902E}"/>
              </a:ext>
            </a:extLst>
          </p:cNvPr>
          <p:cNvSpPr>
            <a:spLocks noGrp="1"/>
          </p:cNvSpPr>
          <p:nvPr>
            <p:ph type="sldNum" sz="quarter" idx="10"/>
          </p:nvPr>
        </p:nvSpPr>
        <p:spPr/>
        <p:txBody>
          <a:bodyPr/>
          <a:lstStyle/>
          <a:p>
            <a:fld id="{712AF26B-5AA3-46FB-B36A-D6DA52437630}" type="slidenum">
              <a:rPr lang="en-US" smtClean="0"/>
              <a:t>16</a:t>
            </a:fld>
            <a:endParaRPr lang="en-US"/>
          </a:p>
        </p:txBody>
      </p:sp>
      <p:pic>
        <p:nvPicPr>
          <p:cNvPr id="8" name="Graphic 7">
            <a:extLst>
              <a:ext uri="{FF2B5EF4-FFF2-40B4-BE49-F238E27FC236}">
                <a16:creationId xmlns:a16="http://schemas.microsoft.com/office/drawing/2014/main" id="{3455E732-DBD1-6C2D-9189-7E9594E4FFAB}"/>
              </a:ext>
            </a:extLst>
          </p:cNvPr>
          <p:cNvPicPr>
            <a:picLocks noChangeAspect="1"/>
          </p:cNvPicPr>
          <p:nvPr/>
        </p:nvPicPr>
        <p:blipFill rotWithShape="1">
          <a:blip>
            <a:extLst>
              <a:ext uri="{96DAC541-7B7A-43D3-8B79-37D633B846F1}">
                <asvg:svgBlip xmlns:asvg="http://schemas.microsoft.com/office/drawing/2016/SVG/main" r:embed="rId3"/>
              </a:ext>
            </a:extLst>
          </a:blip>
          <a:srcRect l="5753" t="11316"/>
          <a:stretch>
            <a:fillRect/>
          </a:stretch>
        </p:blipFill>
        <p:spPr bwMode="auto">
          <a:xfrm>
            <a:off x="6927005" y="1303020"/>
            <a:ext cx="4518946" cy="4251960"/>
          </a:xfrm>
          <a:prstGeom prst="rect">
            <a:avLst/>
          </a:prstGeom>
          <a:ln>
            <a:noFill/>
          </a:ln>
          <a:extLst>
            <a:ext uri="{53640926-AAD7-44D8-BBD7-CCE9431645EC}">
              <a14:shadowObscured xmlns:a14="http://schemas.microsoft.com/office/drawing/2010/main"/>
            </a:ext>
          </a:extLst>
        </p:spPr>
      </p:pic>
      <p:sp>
        <p:nvSpPr>
          <p:cNvPr id="3" name="Content Placeholder 2">
            <a:extLst>
              <a:ext uri="{FF2B5EF4-FFF2-40B4-BE49-F238E27FC236}">
                <a16:creationId xmlns:a16="http://schemas.microsoft.com/office/drawing/2014/main" id="{04063143-7211-5216-82C1-68385ACF926A}"/>
              </a:ext>
            </a:extLst>
          </p:cNvPr>
          <p:cNvSpPr>
            <a:spLocks noGrp="1"/>
          </p:cNvSpPr>
          <p:nvPr>
            <p:ph idx="1"/>
          </p:nvPr>
        </p:nvSpPr>
        <p:spPr>
          <a:xfrm>
            <a:off x="340823" y="1178524"/>
            <a:ext cx="6263178" cy="4998439"/>
          </a:xfrm>
        </p:spPr>
        <p:txBody>
          <a:bodyPr>
            <a:normAutofit/>
          </a:bodyPr>
          <a:lstStyle/>
          <a:p>
            <a:r>
              <a:rPr lang="en-US" dirty="0"/>
              <a:t>Overall, the extrapolation process applied to the low-cost tuner measurements provides good agreement with the standard load-pull setup.</a:t>
            </a:r>
          </a:p>
          <a:p>
            <a:r>
              <a:rPr lang="en-US" dirty="0"/>
              <a:t>In this example, the contour shape, optimum, and predicted output power level are in good agreement.</a:t>
            </a:r>
          </a:p>
        </p:txBody>
      </p:sp>
    </p:spTree>
    <p:extLst>
      <p:ext uri="{BB962C8B-B14F-4D97-AF65-F5344CB8AC3E}">
        <p14:creationId xmlns:p14="http://schemas.microsoft.com/office/powerpoint/2010/main" val="3383283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3838E-28CC-8A53-2FD3-2DCCAC609A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D683C3-706D-75BF-4CC3-0FCC1D67D3AE}"/>
              </a:ext>
            </a:extLst>
          </p:cNvPr>
          <p:cNvSpPr>
            <a:spLocks noGrp="1"/>
          </p:cNvSpPr>
          <p:nvPr>
            <p:ph type="title"/>
          </p:nvPr>
        </p:nvSpPr>
        <p:spPr/>
        <p:txBody>
          <a:bodyPr/>
          <a:lstStyle/>
          <a:p>
            <a:r>
              <a:rPr lang="en-US" dirty="0"/>
              <a:t>Non-Linear Extrapolation</a:t>
            </a:r>
          </a:p>
        </p:txBody>
      </p:sp>
      <p:sp>
        <p:nvSpPr>
          <p:cNvPr id="4" name="Slide Number Placeholder 3">
            <a:extLst>
              <a:ext uri="{FF2B5EF4-FFF2-40B4-BE49-F238E27FC236}">
                <a16:creationId xmlns:a16="http://schemas.microsoft.com/office/drawing/2014/main" id="{94E43DEF-8DAC-B660-F3A0-F3D1D0F2FD8A}"/>
              </a:ext>
            </a:extLst>
          </p:cNvPr>
          <p:cNvSpPr>
            <a:spLocks noGrp="1"/>
          </p:cNvSpPr>
          <p:nvPr>
            <p:ph type="sldNum" sz="quarter" idx="10"/>
          </p:nvPr>
        </p:nvSpPr>
        <p:spPr/>
        <p:txBody>
          <a:bodyPr/>
          <a:lstStyle/>
          <a:p>
            <a:fld id="{712AF26B-5AA3-46FB-B36A-D6DA52437630}" type="slidenum">
              <a:rPr lang="en-US" smtClean="0"/>
              <a:t>17</a:t>
            </a:fld>
            <a:endParaRPr lang="en-US"/>
          </a:p>
        </p:txBody>
      </p:sp>
      <p:pic>
        <p:nvPicPr>
          <p:cNvPr id="7" name="Graphic 2">
            <a:extLst>
              <a:ext uri="{FF2B5EF4-FFF2-40B4-BE49-F238E27FC236}">
                <a16:creationId xmlns:a16="http://schemas.microsoft.com/office/drawing/2014/main" id="{67809D73-EE0B-04E6-EE94-99D60020F477}"/>
              </a:ext>
            </a:extLst>
          </p:cNvPr>
          <p:cNvPicPr>
            <a:picLocks noChangeAspect="1"/>
          </p:cNvPicPr>
          <p:nvPr/>
        </p:nvPicPr>
        <p:blipFill rotWithShape="1">
          <a:blip>
            <a:extLst>
              <a:ext uri="{96DAC541-7B7A-43D3-8B79-37D633B846F1}">
                <asvg:svgBlip xmlns:asvg="http://schemas.microsoft.com/office/drawing/2016/SVG/main" r:embed="rId3"/>
              </a:ext>
            </a:extLst>
          </a:blip>
          <a:srcRect l="8612" t="10000"/>
          <a:stretch/>
        </p:blipFill>
        <p:spPr bwMode="auto">
          <a:xfrm>
            <a:off x="7028005" y="1303020"/>
            <a:ext cx="4316946" cy="4251960"/>
          </a:xfrm>
          <a:prstGeom prst="rect">
            <a:avLst/>
          </a:prstGeom>
          <a:ln>
            <a:noFill/>
          </a:ln>
          <a:extLst>
            <a:ext uri="{53640926-AAD7-44D8-BBD7-CCE9431645EC}">
              <a14:shadowObscured xmlns:a14="http://schemas.microsoft.com/office/drawing/2010/main"/>
            </a:ext>
          </a:extLst>
        </p:spPr>
      </p:pic>
      <p:sp>
        <p:nvSpPr>
          <p:cNvPr id="3" name="Content Placeholder 2">
            <a:extLst>
              <a:ext uri="{FF2B5EF4-FFF2-40B4-BE49-F238E27FC236}">
                <a16:creationId xmlns:a16="http://schemas.microsoft.com/office/drawing/2014/main" id="{6E0A3988-1C3D-DC54-4AB1-B3426B1195B1}"/>
              </a:ext>
            </a:extLst>
          </p:cNvPr>
          <p:cNvSpPr>
            <a:spLocks noGrp="1"/>
          </p:cNvSpPr>
          <p:nvPr>
            <p:ph idx="1"/>
          </p:nvPr>
        </p:nvSpPr>
        <p:spPr>
          <a:xfrm>
            <a:off x="340823" y="1178524"/>
            <a:ext cx="6263178" cy="4998439"/>
          </a:xfrm>
        </p:spPr>
        <p:txBody>
          <a:bodyPr>
            <a:normAutofit/>
          </a:bodyPr>
          <a:lstStyle/>
          <a:p>
            <a:r>
              <a:rPr lang="en-US" dirty="0"/>
              <a:t>This example shows a load-pull extrapolation of a device operating nonlinearly at 2 GHz on the MwT1 transistor. </a:t>
            </a:r>
          </a:p>
          <a:p>
            <a:r>
              <a:rPr lang="en-US" dirty="0"/>
              <a:t>The extrapolation fails to capture the more ovular contour shape toward the right-half of the chart, though the contours are in good agreement on the left half where the measurements were taken.</a:t>
            </a:r>
          </a:p>
          <a:p>
            <a:pPr marL="0" indent="0">
              <a:buNone/>
            </a:pPr>
            <a:endParaRPr lang="en-US" dirty="0"/>
          </a:p>
        </p:txBody>
      </p:sp>
    </p:spTree>
    <p:extLst>
      <p:ext uri="{BB962C8B-B14F-4D97-AF65-F5344CB8AC3E}">
        <p14:creationId xmlns:p14="http://schemas.microsoft.com/office/powerpoint/2010/main" val="29030790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C6955-7BCC-A085-83AA-C65268698E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02CACF-8322-D7C5-CA07-FC830344C3E9}"/>
              </a:ext>
            </a:extLst>
          </p:cNvPr>
          <p:cNvSpPr>
            <a:spLocks noGrp="1"/>
          </p:cNvSpPr>
          <p:nvPr>
            <p:ph type="title"/>
          </p:nvPr>
        </p:nvSpPr>
        <p:spPr/>
        <p:txBody>
          <a:bodyPr/>
          <a:lstStyle/>
          <a:p>
            <a:r>
              <a:rPr lang="en-US" dirty="0"/>
              <a:t>Non-Linear Extrapolation</a:t>
            </a:r>
          </a:p>
        </p:txBody>
      </p:sp>
      <p:sp>
        <p:nvSpPr>
          <p:cNvPr id="4" name="Slide Number Placeholder 3">
            <a:extLst>
              <a:ext uri="{FF2B5EF4-FFF2-40B4-BE49-F238E27FC236}">
                <a16:creationId xmlns:a16="http://schemas.microsoft.com/office/drawing/2014/main" id="{8EE72E2E-327B-3ED7-7630-26B882FEC141}"/>
              </a:ext>
            </a:extLst>
          </p:cNvPr>
          <p:cNvSpPr>
            <a:spLocks noGrp="1"/>
          </p:cNvSpPr>
          <p:nvPr>
            <p:ph type="sldNum" sz="quarter" idx="10"/>
          </p:nvPr>
        </p:nvSpPr>
        <p:spPr/>
        <p:txBody>
          <a:bodyPr/>
          <a:lstStyle/>
          <a:p>
            <a:fld id="{712AF26B-5AA3-46FB-B36A-D6DA52437630}" type="slidenum">
              <a:rPr lang="en-US" smtClean="0"/>
              <a:t>18</a:t>
            </a:fld>
            <a:endParaRPr lang="en-US"/>
          </a:p>
        </p:txBody>
      </p:sp>
      <p:pic>
        <p:nvPicPr>
          <p:cNvPr id="7" name="Graphic 2">
            <a:extLst>
              <a:ext uri="{FF2B5EF4-FFF2-40B4-BE49-F238E27FC236}">
                <a16:creationId xmlns:a16="http://schemas.microsoft.com/office/drawing/2014/main" id="{F5577DDD-AE30-CDCE-6739-AC30A57511F0}"/>
              </a:ext>
            </a:extLst>
          </p:cNvPr>
          <p:cNvPicPr>
            <a:picLocks noChangeAspect="1"/>
          </p:cNvPicPr>
          <p:nvPr/>
        </p:nvPicPr>
        <p:blipFill rotWithShape="1">
          <a:blip>
            <a:extLst>
              <a:ext uri="{96DAC541-7B7A-43D3-8B79-37D633B846F1}">
                <asvg:svgBlip xmlns:asvg="http://schemas.microsoft.com/office/drawing/2016/SVG/main" r:embed="rId3"/>
              </a:ext>
            </a:extLst>
          </a:blip>
          <a:srcRect l="8612" t="10000"/>
          <a:stretch/>
        </p:blipFill>
        <p:spPr bwMode="auto">
          <a:xfrm>
            <a:off x="7028005" y="1303020"/>
            <a:ext cx="4316946" cy="4251960"/>
          </a:xfrm>
          <a:prstGeom prst="rect">
            <a:avLst/>
          </a:prstGeom>
          <a:ln>
            <a:noFill/>
          </a:ln>
          <a:extLst>
            <a:ext uri="{53640926-AAD7-44D8-BBD7-CCE9431645EC}">
              <a14:shadowObscured xmlns:a14="http://schemas.microsoft.com/office/drawing/2010/main"/>
            </a:ext>
          </a:extLst>
        </p:spPr>
      </p:pic>
      <p:sp>
        <p:nvSpPr>
          <p:cNvPr id="3" name="Content Placeholder 2">
            <a:extLst>
              <a:ext uri="{FF2B5EF4-FFF2-40B4-BE49-F238E27FC236}">
                <a16:creationId xmlns:a16="http://schemas.microsoft.com/office/drawing/2014/main" id="{71505732-14DB-2A44-80F3-FAB76BE294D4}"/>
              </a:ext>
            </a:extLst>
          </p:cNvPr>
          <p:cNvSpPr>
            <a:spLocks noGrp="1"/>
          </p:cNvSpPr>
          <p:nvPr>
            <p:ph idx="1"/>
          </p:nvPr>
        </p:nvSpPr>
        <p:spPr>
          <a:xfrm>
            <a:off x="340823" y="1178524"/>
            <a:ext cx="6263178" cy="4998439"/>
          </a:xfrm>
        </p:spPr>
        <p:txBody>
          <a:bodyPr>
            <a:normAutofit/>
          </a:bodyPr>
          <a:lstStyle/>
          <a:p>
            <a:r>
              <a:rPr lang="en-US" dirty="0"/>
              <a:t>The neural network was trained on linear contours generated from synthetic S-Parameter data, with some simulated measurement noise applied (about 0.1 dB of noise at 15 dBm) to facilitate the extrapolation of non-linear contours. </a:t>
            </a:r>
          </a:p>
          <a:p>
            <a:r>
              <a:rPr lang="en-US" dirty="0"/>
              <a:t>We expect that accuracy could be improved by training a network with non-linear load-pull data collected from devices operating in compression.</a:t>
            </a:r>
          </a:p>
          <a:p>
            <a:pPr marL="0" indent="0">
              <a:buNone/>
            </a:pPr>
            <a:endParaRPr lang="en-US" dirty="0"/>
          </a:p>
        </p:txBody>
      </p:sp>
    </p:spTree>
    <p:extLst>
      <p:ext uri="{BB962C8B-B14F-4D97-AF65-F5344CB8AC3E}">
        <p14:creationId xmlns:p14="http://schemas.microsoft.com/office/powerpoint/2010/main" val="41672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D1319-278C-5D93-532D-DA2CEDB75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CC7BD9-7412-DDE5-DC9D-1A69A1DFA466}"/>
              </a:ext>
            </a:extLst>
          </p:cNvPr>
          <p:cNvSpPr>
            <a:spLocks noGrp="1"/>
          </p:cNvSpPr>
          <p:nvPr>
            <p:ph type="title"/>
          </p:nvPr>
        </p:nvSpPr>
        <p:spPr/>
        <p:txBody>
          <a:bodyPr/>
          <a:lstStyle/>
          <a:p>
            <a:r>
              <a:rPr lang="en-US" dirty="0"/>
              <a:t>Performance Results</a:t>
            </a:r>
          </a:p>
        </p:txBody>
      </p:sp>
      <p:sp>
        <p:nvSpPr>
          <p:cNvPr id="4" name="Slide Number Placeholder 3">
            <a:extLst>
              <a:ext uri="{FF2B5EF4-FFF2-40B4-BE49-F238E27FC236}">
                <a16:creationId xmlns:a16="http://schemas.microsoft.com/office/drawing/2014/main" id="{34739D4B-E734-7FFB-2FAC-D938F8C605E1}"/>
              </a:ext>
            </a:extLst>
          </p:cNvPr>
          <p:cNvSpPr>
            <a:spLocks noGrp="1"/>
          </p:cNvSpPr>
          <p:nvPr>
            <p:ph type="sldNum" sz="quarter" idx="10"/>
          </p:nvPr>
        </p:nvSpPr>
        <p:spPr/>
        <p:txBody>
          <a:bodyPr/>
          <a:lstStyle/>
          <a:p>
            <a:fld id="{712AF26B-5AA3-46FB-B36A-D6DA52437630}" type="slidenum">
              <a:rPr lang="en-US" smtClean="0"/>
              <a:t>19</a:t>
            </a:fld>
            <a:endParaRPr lang="en-US"/>
          </a:p>
        </p:txBody>
      </p:sp>
      <p:sp>
        <p:nvSpPr>
          <p:cNvPr id="8" name="Content Placeholder 2">
            <a:extLst>
              <a:ext uri="{FF2B5EF4-FFF2-40B4-BE49-F238E27FC236}">
                <a16:creationId xmlns:a16="http://schemas.microsoft.com/office/drawing/2014/main" id="{52CBA687-D127-6922-012A-4C943F4D5BDC}"/>
              </a:ext>
            </a:extLst>
          </p:cNvPr>
          <p:cNvSpPr txBox="1">
            <a:spLocks/>
          </p:cNvSpPr>
          <p:nvPr/>
        </p:nvSpPr>
        <p:spPr>
          <a:xfrm>
            <a:off x="339853" y="1042309"/>
            <a:ext cx="11512294" cy="144697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dirty="0"/>
              <a:t>Performances were tested over different devices, frequencies, and numbers of provided impedances over the provided metrics.</a:t>
            </a:r>
          </a:p>
        </p:txBody>
      </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7AB808D5-4245-8200-C3E1-9F8E0BB70506}"/>
                  </a:ext>
                </a:extLst>
              </p:cNvPr>
              <p:cNvGraphicFramePr>
                <a:graphicFrameLocks noGrp="1"/>
              </p:cNvGraphicFramePr>
              <p:nvPr>
                <p:extLst>
                  <p:ext uri="{D42A27DB-BD31-4B8C-83A1-F6EECF244321}">
                    <p14:modId xmlns:p14="http://schemas.microsoft.com/office/powerpoint/2010/main" val="2943922422"/>
                  </p:ext>
                </p:extLst>
              </p:nvPr>
            </p:nvGraphicFramePr>
            <p:xfrm>
              <a:off x="1236895" y="2116957"/>
              <a:ext cx="9718210" cy="4043602"/>
            </p:xfrm>
            <a:graphic>
              <a:graphicData uri="http://schemas.openxmlformats.org/drawingml/2006/table">
                <a:tbl>
                  <a:tblPr firstRow="1" firstCol="1" bandRow="1">
                    <a:tableStyleId>{5940675A-B579-460E-94D1-54222C63F5DA}</a:tableStyleId>
                  </a:tblPr>
                  <a:tblGrid>
                    <a:gridCol w="758398">
                      <a:extLst>
                        <a:ext uri="{9D8B030D-6E8A-4147-A177-3AD203B41FA5}">
                          <a16:colId xmlns:a16="http://schemas.microsoft.com/office/drawing/2014/main" val="1861715746"/>
                        </a:ext>
                      </a:extLst>
                    </a:gridCol>
                    <a:gridCol w="855406">
                      <a:extLst>
                        <a:ext uri="{9D8B030D-6E8A-4147-A177-3AD203B41FA5}">
                          <a16:colId xmlns:a16="http://schemas.microsoft.com/office/drawing/2014/main" val="932767172"/>
                        </a:ext>
                      </a:extLst>
                    </a:gridCol>
                    <a:gridCol w="530942">
                      <a:extLst>
                        <a:ext uri="{9D8B030D-6E8A-4147-A177-3AD203B41FA5}">
                          <a16:colId xmlns:a16="http://schemas.microsoft.com/office/drawing/2014/main" val="3024089015"/>
                        </a:ext>
                      </a:extLst>
                    </a:gridCol>
                    <a:gridCol w="1091381">
                      <a:extLst>
                        <a:ext uri="{9D8B030D-6E8A-4147-A177-3AD203B41FA5}">
                          <a16:colId xmlns:a16="http://schemas.microsoft.com/office/drawing/2014/main" val="1610761328"/>
                        </a:ext>
                      </a:extLst>
                    </a:gridCol>
                    <a:gridCol w="1216910">
                      <a:extLst>
                        <a:ext uri="{9D8B030D-6E8A-4147-A177-3AD203B41FA5}">
                          <a16:colId xmlns:a16="http://schemas.microsoft.com/office/drawing/2014/main" val="3524925140"/>
                        </a:ext>
                      </a:extLst>
                    </a:gridCol>
                    <a:gridCol w="1091380">
                      <a:extLst>
                        <a:ext uri="{9D8B030D-6E8A-4147-A177-3AD203B41FA5}">
                          <a16:colId xmlns:a16="http://schemas.microsoft.com/office/drawing/2014/main" val="635595739"/>
                        </a:ext>
                      </a:extLst>
                    </a:gridCol>
                    <a:gridCol w="1150374">
                      <a:extLst>
                        <a:ext uri="{9D8B030D-6E8A-4147-A177-3AD203B41FA5}">
                          <a16:colId xmlns:a16="http://schemas.microsoft.com/office/drawing/2014/main" val="3030292213"/>
                        </a:ext>
                      </a:extLst>
                    </a:gridCol>
                    <a:gridCol w="1696065">
                      <a:extLst>
                        <a:ext uri="{9D8B030D-6E8A-4147-A177-3AD203B41FA5}">
                          <a16:colId xmlns:a16="http://schemas.microsoft.com/office/drawing/2014/main" val="4125615087"/>
                        </a:ext>
                      </a:extLst>
                    </a:gridCol>
                    <a:gridCol w="1327354">
                      <a:extLst>
                        <a:ext uri="{9D8B030D-6E8A-4147-A177-3AD203B41FA5}">
                          <a16:colId xmlns:a16="http://schemas.microsoft.com/office/drawing/2014/main" val="396143672"/>
                        </a:ext>
                      </a:extLst>
                    </a:gridCol>
                  </a:tblGrid>
                  <a:tr h="199565">
                    <a:tc gridSpan="3">
                      <a:txBody>
                        <a:bodyPr/>
                        <a:lstStyle/>
                        <a:p>
                          <a:pPr marL="0" marR="0" algn="ctr">
                            <a:lnSpc>
                              <a:spcPct val="115000"/>
                            </a:lnSpc>
                            <a:spcAft>
                              <a:spcPts val="1000"/>
                            </a:spcAft>
                            <a:buNone/>
                          </a:pPr>
                          <a:r>
                            <a:rPr lang="en-US" sz="1200">
                              <a:effectLst/>
                            </a:rPr>
                            <a:t>DUT Details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hMerge="1">
                      <a:txBody>
                        <a:bodyPr/>
                        <a:lstStyle/>
                        <a:p>
                          <a:endParaRPr lang="en-US"/>
                        </a:p>
                      </a:txBody>
                      <a:tcPr/>
                    </a:tc>
                    <a:tc hMerge="1">
                      <a:txBody>
                        <a:bodyPr/>
                        <a:lstStyle/>
                        <a:p>
                          <a:endParaRPr lang="en-US"/>
                        </a:p>
                      </a:txBody>
                      <a:tcPr/>
                    </a:tc>
                    <a:tc rowSpan="2">
                      <a:txBody>
                        <a:bodyPr/>
                        <a:lstStyle/>
                        <a:p>
                          <a:pPr marL="0" marR="0" algn="ctr">
                            <a:lnSpc>
                              <a:spcPct val="115000"/>
                            </a:lnSpc>
                            <a:spcAft>
                              <a:spcPts val="1000"/>
                            </a:spcAft>
                            <a:buNone/>
                          </a:pPr>
                          <a:r>
                            <a:rPr lang="en-US" sz="1200" dirty="0">
                              <a:effectLst/>
                            </a:rPr>
                            <a:t>True Max Output Power (dBm)</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rowSpan="2">
                      <a:txBody>
                        <a:bodyPr/>
                        <a:lstStyle/>
                        <a:p>
                          <a:pPr marL="0" marR="0" algn="ctr">
                            <a:lnSpc>
                              <a:spcPct val="115000"/>
                            </a:lnSpc>
                            <a:spcAft>
                              <a:spcPts val="1000"/>
                            </a:spcAft>
                            <a:buNone/>
                          </a:pPr>
                          <a:r>
                            <a:rPr lang="en-US" sz="1200" dirty="0">
                              <a:effectLst/>
                            </a:rPr>
                            <a:t>Predicted Max Output Power (dBm) (</a:t>
                          </a:r>
                          <a14:m>
                            <m:oMath xmlns:m="http://schemas.openxmlformats.org/officeDocument/2006/math">
                              <m:r>
                                <a:rPr lang="en-US" sz="1200">
                                  <a:effectLst/>
                                  <a:latin typeface="Cambria Math" panose="02040503050406030204" pitchFamily="18" charset="0"/>
                                </a:rPr>
                                <m:t>±</m:t>
                              </m:r>
                              <m:r>
                                <a:rPr lang="en-US" sz="1200">
                                  <a:effectLst/>
                                  <a:latin typeface="Cambria Math" panose="02040503050406030204" pitchFamily="18" charset="0"/>
                                </a:rPr>
                                <m:t>𝜎</m:t>
                              </m:r>
                            </m:oMath>
                          </a14:m>
                          <a:r>
                            <a:rPr lang="en-US" sz="1200" dirty="0">
                              <a:effectLst/>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rowSpan="2">
                      <a:txBody>
                        <a:bodyPr/>
                        <a:lstStyle/>
                        <a:p>
                          <a:pPr marL="0" marR="0" algn="ctr">
                            <a:lnSpc>
                              <a:spcPts val="1200"/>
                            </a:lnSpc>
                            <a:buNone/>
                          </a:pPr>
                          <a:r>
                            <a:rPr lang="en-US" sz="1200" cap="small" dirty="0">
                              <a:effectLst/>
                            </a:rPr>
                            <a:t>Average Output Power Error (dB)</a:t>
                          </a:r>
                          <a:endParaRPr lang="en-US" sz="1200" cap="small"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rowSpan="2">
                      <a:txBody>
                        <a:bodyPr/>
                        <a:lstStyle/>
                        <a:p>
                          <a:pPr marL="0" marR="0" algn="ctr">
                            <a:lnSpc>
                              <a:spcPts val="1200"/>
                            </a:lnSpc>
                            <a:buNone/>
                          </a:pPr>
                          <a:r>
                            <a:rPr lang="en-US" sz="1200" cap="small">
                              <a:effectLst/>
                            </a:rPr>
                            <a:t>True Opt. Reflection Coefficient</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rowSpan="2">
                      <a:txBody>
                        <a:bodyPr/>
                        <a:lstStyle/>
                        <a:p>
                          <a:pPr marL="0" marR="0" algn="ctr">
                            <a:lnSpc>
                              <a:spcPts val="1200"/>
                            </a:lnSpc>
                            <a:buNone/>
                          </a:pPr>
                          <a:r>
                            <a:rPr lang="en-US" sz="1200" cap="small" dirty="0">
                              <a:effectLst/>
                            </a:rPr>
                            <a:t>Predicted Opt. Reflection Coefficient (</a:t>
                          </a:r>
                          <a14:m>
                            <m:oMath xmlns:m="http://schemas.openxmlformats.org/officeDocument/2006/math">
                              <m:r>
                                <m:rPr>
                                  <m:sty m:val="p"/>
                                </m:rPr>
                                <a:rPr lang="en-US" sz="1200" cap="small">
                                  <a:effectLst/>
                                  <a:latin typeface="Cambria Math" panose="02040503050406030204" pitchFamily="18" charset="0"/>
                                </a:rPr>
                                <m:t>uncertainty</m:t>
                              </m:r>
                              <m:r>
                                <a:rPr lang="en-US" sz="1200" cap="small">
                                  <a:effectLst/>
                                  <a:latin typeface="Cambria Math" panose="02040503050406030204" pitchFamily="18" charset="0"/>
                                </a:rPr>
                                <m:t> </m:t>
                              </m:r>
                              <m:r>
                                <m:rPr>
                                  <m:sty m:val="p"/>
                                </m:rPr>
                                <a:rPr lang="en-US" sz="1200" cap="small">
                                  <a:effectLst/>
                                  <a:latin typeface="Cambria Math" panose="02040503050406030204" pitchFamily="18" charset="0"/>
                                </a:rPr>
                                <m:t>radius</m:t>
                              </m:r>
                            </m:oMath>
                          </a14:m>
                          <a:r>
                            <a:rPr lang="en-US" sz="1200" cap="small" dirty="0">
                              <a:effectLst/>
                            </a:rPr>
                            <a:t>)</a:t>
                          </a:r>
                          <a:endParaRPr lang="en-US" sz="1200" cap="small"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rowSpan="2">
                      <a:txBody>
                        <a:bodyPr/>
                        <a:lstStyle/>
                        <a:p>
                          <a:pPr marL="0" marR="0" algn="ctr">
                            <a:lnSpc>
                              <a:spcPts val="1200"/>
                            </a:lnSpc>
                            <a:buNone/>
                          </a:pPr>
                          <a:r>
                            <a:rPr lang="en-US" sz="1200" cap="small" dirty="0">
                              <a:effectLst/>
                            </a:rPr>
                            <a:t>Average Opt. Reflection Coefficient Error Magnitude</a:t>
                          </a:r>
                          <a:endParaRPr lang="en-US" sz="1200" cap="small"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474391885"/>
                      </a:ext>
                    </a:extLst>
                  </a:tr>
                  <a:tr h="620291">
                    <a:tc>
                      <a:txBody>
                        <a:bodyPr/>
                        <a:lstStyle/>
                        <a:p>
                          <a:pPr marL="0" marR="0" algn="ctr">
                            <a:lnSpc>
                              <a:spcPts val="1200"/>
                            </a:lnSpc>
                            <a:spcAft>
                              <a:spcPts val="1000"/>
                            </a:spcAft>
                            <a:buNone/>
                          </a:pPr>
                          <a:r>
                            <a:rPr lang="en-US" sz="1200" dirty="0">
                              <a:effectLst/>
                            </a:rPr>
                            <a:t>Device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1000"/>
                            </a:spcAft>
                            <a:buNone/>
                          </a:pPr>
                          <a:r>
                            <a:rPr lang="en-US" sz="1200" dirty="0">
                              <a:effectLst/>
                            </a:rPr>
                            <a:t>Frequency (GHz)</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1000"/>
                            </a:spcAft>
                            <a:buNone/>
                          </a:pPr>
                          <a:r>
                            <a:rPr lang="en-US" sz="1200" dirty="0">
                              <a:effectLst/>
                            </a:rPr>
                            <a:t># Meas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519938164"/>
                      </a:ext>
                    </a:extLst>
                  </a:tr>
                  <a:tr h="199565">
                    <a:tc rowSpan="6">
                      <a:txBody>
                        <a:bodyPr/>
                        <a:lstStyle/>
                        <a:p>
                          <a:pPr marL="0" marR="0" algn="ctr">
                            <a:lnSpc>
                              <a:spcPts val="1200"/>
                            </a:lnSpc>
                            <a:spcAft>
                              <a:spcPts val="1000"/>
                            </a:spcAft>
                            <a:buNone/>
                          </a:pPr>
                          <a:r>
                            <a:rPr lang="en-US" sz="1200" dirty="0">
                              <a:effectLst/>
                            </a:rPr>
                            <a:t>Skyworks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rowSpan="2">
                      <a:txBody>
                        <a:bodyPr/>
                        <a:lstStyle/>
                        <a:p>
                          <a:pPr marL="0" marR="0" algn="ctr">
                            <a:lnSpc>
                              <a:spcPct val="115000"/>
                            </a:lnSpc>
                            <a:spcAft>
                              <a:spcPts val="1000"/>
                            </a:spcAft>
                            <a:buNone/>
                          </a:pPr>
                          <a:r>
                            <a:rPr lang="en-US" sz="1200" dirty="0">
                              <a:effectLst/>
                            </a:rPr>
                            <a:t>2.0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16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17.33</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17.72 (0.535)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a:effectLst/>
                            </a:rPr>
                            <a:t>0.39</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14:m>
                            <m:oMath xmlns:m="http://schemas.openxmlformats.org/officeDocument/2006/math">
                              <m:r>
                                <a:rPr lang="en-US" sz="1200">
                                  <a:effectLst/>
                                  <a:latin typeface="Cambria Math" panose="02040503050406030204" pitchFamily="18" charset="0"/>
                                </a:rPr>
                                <m:t>0.53∠</m:t>
                              </m:r>
                            </m:oMath>
                          </a14:m>
                          <a:r>
                            <a:rPr lang="en-US" sz="1200" dirty="0">
                              <a:effectLst/>
                            </a:rPr>
                            <a:t>-115.0</a:t>
                          </a:r>
                          <a14:m>
                            <m:oMath xmlns:m="http://schemas.openxmlformats.org/officeDocument/2006/math">
                              <m:r>
                                <a:rPr lang="en-US" sz="1200">
                                  <a:effectLst/>
                                  <a:latin typeface="Cambria Math" panose="02040503050406030204" pitchFamily="18" charset="0"/>
                                </a:rPr>
                                <m:t>°</m:t>
                              </m:r>
                            </m:oMath>
                          </a14:m>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defTabSz="914400" rtl="0" eaLnBrk="1" latinLnBrk="0" hangingPunct="1">
                            <a:lnSpc>
                              <a:spcPct val="115000"/>
                            </a:lnSpc>
                            <a:spcAft>
                              <a:spcPts val="1000"/>
                            </a:spcAft>
                            <a:buNone/>
                          </a:pPr>
                          <a:r>
                            <a:rPr lang="en-US" sz="1200" kern="1200" dirty="0">
                              <a:solidFill>
                                <a:schemeClr val="tx1"/>
                              </a:solidFill>
                              <a:effectLst/>
                              <a:latin typeface="+mn-lt"/>
                              <a:ea typeface="+mn-ea"/>
                              <a:cs typeface="+mn-cs"/>
                            </a:rPr>
                            <a:t>0.62</a:t>
                          </a:r>
                          <a14:m>
                            <m:oMath xmlns:m="http://schemas.openxmlformats.org/officeDocument/2006/math">
                              <m:r>
                                <a:rPr lang="en-US" sz="1200" kern="1200">
                                  <a:solidFill>
                                    <a:schemeClr val="tx1"/>
                                  </a:solidFill>
                                  <a:effectLst/>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-99.0</a:t>
                          </a:r>
                          <a14:m>
                            <m:oMath xmlns:m="http://schemas.openxmlformats.org/officeDocument/2006/math">
                              <m:r>
                                <a:rPr lang="en-US" sz="1200" kern="1200">
                                  <a:solidFill>
                                    <a:schemeClr val="tx1"/>
                                  </a:solidFill>
                                  <a:effectLst/>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 </a:t>
                          </a:r>
                          <a14:m>
                            <m:oMath xmlns:m="http://schemas.openxmlformats.org/officeDocument/2006/math">
                              <m:r>
                                <a:rPr lang="en-US" sz="1200" kern="1200">
                                  <a:solidFill>
                                    <a:schemeClr val="tx1"/>
                                  </a:solidFill>
                                  <a:effectLst/>
                                  <a:latin typeface="Cambria Math" panose="02040503050406030204" pitchFamily="18" charset="0"/>
                                  <a:ea typeface="+mn-ea"/>
                                  <a:cs typeface="+mn-cs"/>
                                </a:rPr>
                                <m:t>(0.083</m:t>
                              </m:r>
                            </m:oMath>
                          </a14:m>
                          <a:r>
                            <a:rPr lang="en-US" sz="1200" kern="1200" dirty="0">
                              <a:solidFill>
                                <a:schemeClr val="tx1"/>
                              </a:solidFill>
                              <a:effectLst/>
                              <a:latin typeface="+mn-lt"/>
                              <a:ea typeface="+mn-ea"/>
                              <a:cs typeface="+mn-cs"/>
                            </a:rPr>
                            <a:t>)</a:t>
                          </a:r>
                        </a:p>
                      </a:txBody>
                      <a:tcPr marL="68580" marR="68580" marT="0" marB="0"/>
                    </a:tc>
                    <a:tc>
                      <a:txBody>
                        <a:bodyPr/>
                        <a:lstStyle/>
                        <a:p>
                          <a:pPr marL="0" marR="0" algn="ctr">
                            <a:lnSpc>
                              <a:spcPts val="1200"/>
                            </a:lnSpc>
                            <a:buNone/>
                          </a:pPr>
                          <a:r>
                            <a:rPr lang="en-US" sz="1200" cap="small">
                              <a:effectLst/>
                            </a:rPr>
                            <a:t>0.182</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42008944"/>
                      </a:ext>
                    </a:extLst>
                  </a:tr>
                  <a:tr h="201557">
                    <a:tc vMerge="1">
                      <a:txBody>
                        <a:bodyPr/>
                        <a:lstStyle/>
                        <a:p>
                          <a:endParaRPr lang="en-US"/>
                        </a:p>
                      </a:txBody>
                      <a:tcPr/>
                    </a:tc>
                    <a:tc vMerge="1">
                      <a:txBody>
                        <a:bodyPr/>
                        <a:lstStyle/>
                        <a:p>
                          <a:endParaRPr lang="en-US"/>
                        </a:p>
                      </a:txBody>
                      <a:tcPr/>
                    </a:tc>
                    <a:tc>
                      <a:txBody>
                        <a:bodyPr/>
                        <a:lstStyle/>
                        <a:p>
                          <a:pPr marL="0" marR="0" algn="ctr">
                            <a:lnSpc>
                              <a:spcPct val="115000"/>
                            </a:lnSpc>
                            <a:spcAft>
                              <a:spcPts val="1000"/>
                            </a:spcAft>
                            <a:buNone/>
                          </a:pPr>
                          <a:r>
                            <a:rPr lang="en-US" sz="1200">
                              <a:effectLst/>
                            </a:rPr>
                            <a:t>7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17.33</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17.78 (0.580)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a:effectLst/>
                            </a:rPr>
                            <a:t>0.45</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14:m>
                            <m:oMath xmlns:m="http://schemas.openxmlformats.org/officeDocument/2006/math">
                              <m:r>
                                <a:rPr lang="en-US" sz="1200">
                                  <a:effectLst/>
                                  <a:latin typeface="Cambria Math" panose="02040503050406030204" pitchFamily="18" charset="0"/>
                                </a:rPr>
                                <m:t>0.53∠</m:t>
                              </m:r>
                            </m:oMath>
                          </a14:m>
                          <a:r>
                            <a:rPr lang="en-US" sz="1200" dirty="0">
                              <a:effectLst/>
                            </a:rPr>
                            <a:t>-115.0</a:t>
                          </a:r>
                          <a14:m>
                            <m:oMath xmlns:m="http://schemas.openxmlformats.org/officeDocument/2006/math">
                              <m:r>
                                <a:rPr lang="en-US" sz="1200">
                                  <a:effectLst/>
                                  <a:latin typeface="Cambria Math" panose="02040503050406030204" pitchFamily="18" charset="0"/>
                                </a:rPr>
                                <m:t>°</m:t>
                              </m:r>
                            </m:oMath>
                          </a14:m>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0.6</a:t>
                          </a:r>
                          <a14:m>
                            <m:oMath xmlns:m="http://schemas.openxmlformats.org/officeDocument/2006/math">
                              <m:r>
                                <a:rPr lang="en-US" sz="1200">
                                  <a:effectLst/>
                                  <a:latin typeface="Cambria Math" panose="02040503050406030204" pitchFamily="18" charset="0"/>
                                </a:rPr>
                                <m:t>2∠</m:t>
                              </m:r>
                            </m:oMath>
                          </a14:m>
                          <a:r>
                            <a:rPr lang="en-US" sz="1200">
                              <a:effectLst/>
                            </a:rPr>
                            <a:t>-93.0</a:t>
                          </a:r>
                          <a14:m>
                            <m:oMath xmlns:m="http://schemas.openxmlformats.org/officeDocument/2006/math">
                              <m:r>
                                <a:rPr lang="en-US" sz="1200">
                                  <a:effectLst/>
                                  <a:latin typeface="Cambria Math" panose="02040503050406030204" pitchFamily="18" charset="0"/>
                                </a:rPr>
                                <m:t>°</m:t>
                              </m:r>
                            </m:oMath>
                          </a14:m>
                          <a:r>
                            <a:rPr lang="en-US" sz="1200">
                              <a:effectLst/>
                            </a:rPr>
                            <a:t> (0.070)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a:effectLst/>
                            </a:rPr>
                            <a:t>0.181</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39278258"/>
                      </a:ext>
                    </a:extLst>
                  </a:tr>
                  <a:tr h="337394">
                    <a:tc vMerge="1">
                      <a:txBody>
                        <a:bodyPr/>
                        <a:lstStyle/>
                        <a:p>
                          <a:endParaRPr lang="en-US"/>
                        </a:p>
                      </a:txBody>
                      <a:tcPr/>
                    </a:tc>
                    <a:tc rowSpan="2">
                      <a:txBody>
                        <a:bodyPr/>
                        <a:lstStyle/>
                        <a:p>
                          <a:pPr marL="0" marR="0" algn="ctr">
                            <a:lnSpc>
                              <a:spcPct val="115000"/>
                            </a:lnSpc>
                            <a:spcAft>
                              <a:spcPts val="1000"/>
                            </a:spcAft>
                            <a:buNone/>
                          </a:pPr>
                          <a:r>
                            <a:rPr lang="en-US" sz="1200" dirty="0">
                              <a:effectLst/>
                            </a:rPr>
                            <a:t>3.0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16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18.19</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18.40 (</a:t>
                          </a:r>
                          <a14:m>
                            <m:oMath xmlns:m="http://schemas.openxmlformats.org/officeDocument/2006/math">
                              <m:r>
                                <a:rPr lang="en-US" sz="1200">
                                  <a:effectLst/>
                                  <a:latin typeface="Cambria Math" panose="02040503050406030204" pitchFamily="18" charset="0"/>
                                </a:rPr>
                                <m:t>0.627</m:t>
                              </m:r>
                            </m:oMath>
                          </a14:m>
                          <a:r>
                            <a:rPr lang="en-US" sz="1200" dirty="0">
                              <a:effectLst/>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dirty="0">
                              <a:effectLst/>
                            </a:rPr>
                            <a:t>0.21</a:t>
                          </a:r>
                          <a:endParaRPr lang="en-US" sz="1200" cap="small"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14:m>
                            <m:oMathPara xmlns:m="http://schemas.openxmlformats.org/officeDocument/2006/math">
                              <m:oMath>
                                <m:r>
                                  <a:rPr lang="en-US" sz="1200">
                                    <a:effectLst/>
                                    <a:latin typeface="Cambria Math" panose="02040503050406030204" pitchFamily="18" charset="0"/>
                                  </a:rPr>
                                  <m:t>0.37∠15.3°</m:t>
                                </m:r>
                              </m:oMath>
                            </m:oMathPara>
                          </a14:m>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defTabSz="914400" rtl="0" eaLnBrk="1" latinLnBrk="0" hangingPunct="1">
                            <a:lnSpc>
                              <a:spcPct val="115000"/>
                            </a:lnSpc>
                            <a:spcAft>
                              <a:spcPts val="1000"/>
                            </a:spcAft>
                            <a:buNone/>
                          </a:pPr>
                          <a:r>
                            <a:rPr lang="en-US" sz="1200" kern="1200" dirty="0">
                              <a:solidFill>
                                <a:schemeClr val="tx1"/>
                              </a:solidFill>
                              <a:effectLst/>
                              <a:latin typeface="+mn-lt"/>
                              <a:ea typeface="+mn-ea"/>
                              <a:cs typeface="+mn-cs"/>
                            </a:rPr>
                            <a:t>0.43</a:t>
                          </a:r>
                          <a14:m>
                            <m:oMath xmlns:m="http://schemas.openxmlformats.org/officeDocument/2006/math">
                              <m:r>
                                <a:rPr lang="en-US" sz="1200" kern="1200">
                                  <a:solidFill>
                                    <a:schemeClr val="tx1"/>
                                  </a:solidFill>
                                  <a:effectLst/>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-13.0</a:t>
                          </a:r>
                          <a14:m>
                            <m:oMath xmlns:m="http://schemas.openxmlformats.org/officeDocument/2006/math">
                              <m:r>
                                <a:rPr lang="en-US" sz="1200" kern="1200">
                                  <a:solidFill>
                                    <a:schemeClr val="tx1"/>
                                  </a:solidFill>
                                  <a:effectLst/>
                                  <a:latin typeface="Cambria Math" panose="02040503050406030204" pitchFamily="18" charset="0"/>
                                  <a:ea typeface="+mn-ea"/>
                                  <a:cs typeface="+mn-cs"/>
                                </a:rPr>
                                <m:t>°</m:t>
                              </m:r>
                            </m:oMath>
                          </a14:m>
                          <a:r>
                            <a:rPr lang="en-US" sz="1200" kern="1200" dirty="0">
                              <a:solidFill>
                                <a:schemeClr val="tx1"/>
                              </a:solidFill>
                              <a:effectLst/>
                              <a:latin typeface="+mn-lt"/>
                              <a:ea typeface="+mn-ea"/>
                              <a:cs typeface="+mn-cs"/>
                            </a:rPr>
                            <a:t> (0.080)</a:t>
                          </a:r>
                        </a:p>
                      </a:txBody>
                      <a:tcPr marL="68580" marR="68580" marT="0" marB="0"/>
                    </a:tc>
                    <a:tc>
                      <a:txBody>
                        <a:bodyPr/>
                        <a:lstStyle/>
                        <a:p>
                          <a:pPr marL="0" marR="0" algn="ctr">
                            <a:lnSpc>
                              <a:spcPts val="1200"/>
                            </a:lnSpc>
                            <a:buNone/>
                          </a:pPr>
                          <a:r>
                            <a:rPr lang="en-US" sz="1200" cap="small">
                              <a:effectLst/>
                            </a:rPr>
                            <a:t>0.064</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172567"/>
                      </a:ext>
                    </a:extLst>
                  </a:tr>
                  <a:tr h="337394">
                    <a:tc vMerge="1">
                      <a:txBody>
                        <a:bodyPr/>
                        <a:lstStyle/>
                        <a:p>
                          <a:endParaRPr lang="en-US"/>
                        </a:p>
                      </a:txBody>
                      <a:tcPr/>
                    </a:tc>
                    <a:tc vMerge="1">
                      <a:txBody>
                        <a:bodyPr/>
                        <a:lstStyle/>
                        <a:p>
                          <a:endParaRPr lang="en-US"/>
                        </a:p>
                      </a:txBody>
                      <a:tcPr/>
                    </a:tc>
                    <a:tc>
                      <a:txBody>
                        <a:bodyPr/>
                        <a:lstStyle/>
                        <a:p>
                          <a:pPr marL="0" marR="0" algn="ctr">
                            <a:lnSpc>
                              <a:spcPct val="115000"/>
                            </a:lnSpc>
                            <a:spcAft>
                              <a:spcPts val="1000"/>
                            </a:spcAft>
                            <a:buNone/>
                          </a:pPr>
                          <a:r>
                            <a:rPr lang="en-US" sz="1200" dirty="0">
                              <a:effectLst/>
                            </a:rPr>
                            <a:t>7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18.19</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18.33 (</a:t>
                          </a:r>
                          <a14:m>
                            <m:oMath xmlns:m="http://schemas.openxmlformats.org/officeDocument/2006/math">
                              <m:r>
                                <a:rPr lang="en-US" sz="1200">
                                  <a:effectLst/>
                                  <a:latin typeface="Cambria Math" panose="02040503050406030204" pitchFamily="18" charset="0"/>
                                </a:rPr>
                                <m:t>0.051</m:t>
                              </m:r>
                            </m:oMath>
                          </a14:m>
                          <a:r>
                            <a:rPr lang="en-US" sz="1200" dirty="0">
                              <a:effectLst/>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a:effectLst/>
                            </a:rPr>
                            <a:t>0.14</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14:m>
                            <m:oMathPara xmlns:m="http://schemas.openxmlformats.org/officeDocument/2006/math">
                              <m:oMath>
                                <m:r>
                                  <a:rPr lang="en-US" sz="1200">
                                    <a:effectLst/>
                                    <a:latin typeface="Cambria Math" panose="02040503050406030204" pitchFamily="18" charset="0"/>
                                  </a:rPr>
                                  <m:t>0.37∠15.3°</m:t>
                                </m:r>
                              </m:oMath>
                            </m:oMathPara>
                          </a14:m>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0.36</a:t>
                          </a:r>
                          <a14:m>
                            <m:oMath xmlns:m="http://schemas.openxmlformats.org/officeDocument/2006/math">
                              <m:r>
                                <a:rPr lang="en-US" sz="1200">
                                  <a:effectLst/>
                                  <a:latin typeface="Cambria Math" panose="02040503050406030204" pitchFamily="18" charset="0"/>
                                </a:rPr>
                                <m:t>∠</m:t>
                              </m:r>
                            </m:oMath>
                          </a14:m>
                          <a:r>
                            <a:rPr lang="en-US" sz="1200" dirty="0">
                              <a:effectLst/>
                            </a:rPr>
                            <a:t>-5.2</a:t>
                          </a:r>
                          <a14:m>
                            <m:oMath xmlns:m="http://schemas.openxmlformats.org/officeDocument/2006/math">
                              <m:r>
                                <a:rPr lang="en-US" sz="1200">
                                  <a:effectLst/>
                                  <a:latin typeface="Cambria Math" panose="02040503050406030204" pitchFamily="18" charset="0"/>
                                </a:rPr>
                                <m:t>°</m:t>
                              </m:r>
                            </m:oMath>
                          </a14:m>
                          <a:r>
                            <a:rPr lang="en-US" sz="1200" baseline="30000" dirty="0">
                              <a:effectLst/>
                            </a:rPr>
                            <a:t> </a:t>
                          </a:r>
                          <a:r>
                            <a:rPr lang="en-US" sz="1200" dirty="0">
                              <a:effectLst/>
                            </a:rPr>
                            <a:t>(0.063)</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a:effectLst/>
                            </a:rPr>
                            <a:t>0.064</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48285246"/>
                      </a:ext>
                    </a:extLst>
                  </a:tr>
                  <a:tr h="199565">
                    <a:tc vMerge="1">
                      <a:txBody>
                        <a:bodyPr/>
                        <a:lstStyle/>
                        <a:p>
                          <a:endParaRPr lang="en-US"/>
                        </a:p>
                      </a:txBody>
                      <a:tcPr/>
                    </a:tc>
                    <a:tc rowSpan="2">
                      <a:txBody>
                        <a:bodyPr/>
                        <a:lstStyle/>
                        <a:p>
                          <a:pPr marL="0" marR="0" algn="ctr">
                            <a:lnSpc>
                              <a:spcPct val="115000"/>
                            </a:lnSpc>
                            <a:spcAft>
                              <a:spcPts val="1000"/>
                            </a:spcAft>
                            <a:buNone/>
                          </a:pPr>
                          <a:r>
                            <a:rPr lang="en-US" sz="1200">
                              <a:effectLst/>
                            </a:rPr>
                            <a:t>4.0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16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17.29</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17.15 (0.040)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a:effectLst/>
                            </a:rPr>
                            <a:t>0.14</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0.36</a:t>
                          </a:r>
                          <a14:m>
                            <m:oMath xmlns:m="http://schemas.openxmlformats.org/officeDocument/2006/math">
                              <m:r>
                                <a:rPr lang="en-US" sz="1200">
                                  <a:effectLst/>
                                  <a:latin typeface="Cambria Math" panose="02040503050406030204" pitchFamily="18" charset="0"/>
                                </a:rPr>
                                <m:t>∠</m:t>
                              </m:r>
                            </m:oMath>
                          </a14:m>
                          <a:r>
                            <a:rPr lang="en-US" sz="1200" dirty="0">
                              <a:effectLst/>
                            </a:rPr>
                            <a:t>5.2</a:t>
                          </a:r>
                          <a14:m>
                            <m:oMath xmlns:m="http://schemas.openxmlformats.org/officeDocument/2006/math">
                              <m:r>
                                <a:rPr lang="en-US" sz="1200">
                                  <a:effectLst/>
                                  <a:latin typeface="Cambria Math" panose="02040503050406030204" pitchFamily="18" charset="0"/>
                                </a:rPr>
                                <m:t>°</m:t>
                              </m:r>
                            </m:oMath>
                          </a14:m>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0.36</a:t>
                          </a:r>
                          <a14:m>
                            <m:oMath xmlns:m="http://schemas.openxmlformats.org/officeDocument/2006/math">
                              <m:r>
                                <a:rPr lang="en-US" sz="1200">
                                  <a:effectLst/>
                                  <a:latin typeface="Cambria Math" panose="02040503050406030204" pitchFamily="18" charset="0"/>
                                </a:rPr>
                                <m:t>∠</m:t>
                              </m:r>
                            </m:oMath>
                          </a14:m>
                          <a:r>
                            <a:rPr lang="en-US" sz="1200" dirty="0">
                              <a:effectLst/>
                            </a:rPr>
                            <a:t>-5.2</a:t>
                          </a:r>
                          <a14:m>
                            <m:oMath xmlns:m="http://schemas.openxmlformats.org/officeDocument/2006/math">
                              <m:r>
                                <a:rPr lang="en-US" sz="1200">
                                  <a:effectLst/>
                                  <a:latin typeface="Cambria Math" panose="02040503050406030204" pitchFamily="18" charset="0"/>
                                </a:rPr>
                                <m:t>°</m:t>
                              </m:r>
                            </m:oMath>
                          </a14:m>
                          <a:r>
                            <a:rPr lang="en-US" sz="1200" dirty="0">
                              <a:effectLst/>
                            </a:rPr>
                            <a:t> (0.073)</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a:effectLst/>
                            </a:rPr>
                            <a:t>0.064</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2812067"/>
                      </a:ext>
                    </a:extLst>
                  </a:tr>
                  <a:tr h="199565">
                    <a:tc vMerge="1">
                      <a:txBody>
                        <a:bodyPr/>
                        <a:lstStyle/>
                        <a:p>
                          <a:endParaRPr lang="en-US"/>
                        </a:p>
                      </a:txBody>
                      <a:tcPr/>
                    </a:tc>
                    <a:tc vMerge="1">
                      <a:txBody>
                        <a:bodyPr/>
                        <a:lstStyle/>
                        <a:p>
                          <a:endParaRPr lang="en-US"/>
                        </a:p>
                      </a:txBody>
                      <a:tcPr/>
                    </a:tc>
                    <a:tc>
                      <a:txBody>
                        <a:bodyPr/>
                        <a:lstStyle/>
                        <a:p>
                          <a:pPr marL="0" marR="0" algn="ctr">
                            <a:lnSpc>
                              <a:spcPct val="115000"/>
                            </a:lnSpc>
                            <a:spcAft>
                              <a:spcPts val="1000"/>
                            </a:spcAft>
                            <a:buNone/>
                          </a:pPr>
                          <a:r>
                            <a:rPr lang="en-US" sz="1200">
                              <a:effectLst/>
                            </a:rPr>
                            <a:t>7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17.29</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17.10 (0.080)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a:effectLst/>
                            </a:rPr>
                            <a:t>0.19</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0.36</a:t>
                          </a:r>
                          <a14:m>
                            <m:oMath xmlns:m="http://schemas.openxmlformats.org/officeDocument/2006/math">
                              <m:r>
                                <a:rPr lang="en-US" sz="1200">
                                  <a:effectLst/>
                                  <a:latin typeface="Cambria Math" panose="02040503050406030204" pitchFamily="18" charset="0"/>
                                </a:rPr>
                                <m:t>∠</m:t>
                              </m:r>
                            </m:oMath>
                          </a14:m>
                          <a:r>
                            <a:rPr lang="en-US" sz="1200" dirty="0">
                              <a:effectLst/>
                            </a:rPr>
                            <a:t>5.2</a:t>
                          </a:r>
                          <a14:m>
                            <m:oMath xmlns:m="http://schemas.openxmlformats.org/officeDocument/2006/math">
                              <m:r>
                                <a:rPr lang="en-US" sz="1200">
                                  <a:effectLst/>
                                  <a:latin typeface="Cambria Math" panose="02040503050406030204" pitchFamily="18" charset="0"/>
                                </a:rPr>
                                <m:t>°</m:t>
                              </m:r>
                            </m:oMath>
                          </a14:m>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0.36</a:t>
                          </a:r>
                          <a14:m>
                            <m:oMath xmlns:m="http://schemas.openxmlformats.org/officeDocument/2006/math">
                              <m:r>
                                <a:rPr lang="en-US" sz="1200">
                                  <a:effectLst/>
                                  <a:latin typeface="Cambria Math" panose="02040503050406030204" pitchFamily="18" charset="0"/>
                                </a:rPr>
                                <m:t>∠</m:t>
                              </m:r>
                            </m:oMath>
                          </a14:m>
                          <a:r>
                            <a:rPr lang="en-US" sz="1200" dirty="0">
                              <a:effectLst/>
                            </a:rPr>
                            <a:t>-5.2</a:t>
                          </a:r>
                          <a14:m>
                            <m:oMath xmlns:m="http://schemas.openxmlformats.org/officeDocument/2006/math">
                              <m:r>
                                <a:rPr lang="en-US" sz="1200">
                                  <a:effectLst/>
                                  <a:latin typeface="Cambria Math" panose="02040503050406030204" pitchFamily="18" charset="0"/>
                                </a:rPr>
                                <m:t>°</m:t>
                              </m:r>
                            </m:oMath>
                          </a14:m>
                          <a:r>
                            <a:rPr lang="en-US" sz="1200" dirty="0">
                              <a:effectLst/>
                            </a:rPr>
                            <a:t> (0.075)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a:effectLst/>
                            </a:rPr>
                            <a:t>0.064</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87877470"/>
                      </a:ext>
                    </a:extLst>
                  </a:tr>
                  <a:tr h="337394">
                    <a:tc rowSpan="6">
                      <a:txBody>
                        <a:bodyPr/>
                        <a:lstStyle/>
                        <a:p>
                          <a:pPr marL="0" marR="0" algn="ctr">
                            <a:lnSpc>
                              <a:spcPts val="1200"/>
                            </a:lnSpc>
                            <a:spcAft>
                              <a:spcPts val="1000"/>
                            </a:spcAft>
                            <a:buNone/>
                          </a:pPr>
                          <a:r>
                            <a:rPr lang="en-US" sz="1200" dirty="0">
                              <a:effectLst/>
                            </a:rPr>
                            <a:t>MwT-1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rowSpan="2">
                      <a:txBody>
                        <a:bodyPr/>
                        <a:lstStyle/>
                        <a:p>
                          <a:pPr marL="0" marR="0" algn="ctr">
                            <a:lnSpc>
                              <a:spcPct val="115000"/>
                            </a:lnSpc>
                            <a:spcAft>
                              <a:spcPts val="1000"/>
                            </a:spcAft>
                            <a:buNone/>
                          </a:pPr>
                          <a:r>
                            <a:rPr lang="en-US" sz="1200" dirty="0">
                              <a:effectLst/>
                            </a:rPr>
                            <a:t>2.0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16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23.44</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23.18 (0.041)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a:effectLst/>
                            </a:rPr>
                            <a:t>0.26</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14:m>
                            <m:oMathPara xmlns:m="http://schemas.openxmlformats.org/officeDocument/2006/math">
                              <m:oMath>
                                <m:r>
                                  <a:rPr lang="en-US" sz="1200">
                                    <a:effectLst/>
                                    <a:latin typeface="Cambria Math" panose="02040503050406030204" pitchFamily="18" charset="0"/>
                                  </a:rPr>
                                  <m:t>0.19∠31.0°</m:t>
                                </m:r>
                              </m:oMath>
                            </m:oMathPara>
                          </a14:m>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dirty="0">
                              <a:effectLst/>
                            </a:rPr>
                            <a:t>0.10</a:t>
                          </a:r>
                          <a14:m>
                            <m:oMath xmlns:m="http://schemas.openxmlformats.org/officeDocument/2006/math">
                              <m:r>
                                <a:rPr lang="en-US" sz="1200" cap="small">
                                  <a:effectLst/>
                                  <a:latin typeface="Cambria Math" panose="02040503050406030204" pitchFamily="18" charset="0"/>
                                </a:rPr>
                                <m:t>∠</m:t>
                              </m:r>
                            </m:oMath>
                          </a14:m>
                          <a:r>
                            <a:rPr lang="en-US" sz="1200" cap="small" dirty="0">
                              <a:effectLst/>
                            </a:rPr>
                            <a:t>-18.4</a:t>
                          </a:r>
                          <a14:m>
                            <m:oMath xmlns:m="http://schemas.openxmlformats.org/officeDocument/2006/math">
                              <m:r>
                                <a:rPr lang="en-US" sz="1200" cap="small">
                                  <a:effectLst/>
                                  <a:latin typeface="Cambria Math" panose="02040503050406030204" pitchFamily="18" charset="0"/>
                                </a:rPr>
                                <m:t>° (0.055</m:t>
                              </m:r>
                            </m:oMath>
                          </a14:m>
                          <a:r>
                            <a:rPr lang="en-US" sz="1200" cap="small" dirty="0">
                              <a:effectLst/>
                            </a:rPr>
                            <a:t>)</a:t>
                          </a:r>
                          <a:endParaRPr lang="en-US" sz="1200" cap="small"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dirty="0">
                              <a:effectLst/>
                            </a:rPr>
                            <a:t>0.054</a:t>
                          </a:r>
                          <a:endParaRPr lang="en-US" sz="1200" cap="small"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62213077"/>
                      </a:ext>
                    </a:extLst>
                  </a:tr>
                  <a:tr h="337394">
                    <a:tc vMerge="1">
                      <a:txBody>
                        <a:bodyPr/>
                        <a:lstStyle/>
                        <a:p>
                          <a:endParaRPr lang="en-US"/>
                        </a:p>
                      </a:txBody>
                      <a:tcPr/>
                    </a:tc>
                    <a:tc vMerge="1">
                      <a:txBody>
                        <a:bodyPr/>
                        <a:lstStyle/>
                        <a:p>
                          <a:endParaRPr lang="en-US"/>
                        </a:p>
                      </a:txBody>
                      <a:tcPr/>
                    </a:tc>
                    <a:tc>
                      <a:txBody>
                        <a:bodyPr/>
                        <a:lstStyle/>
                        <a:p>
                          <a:pPr marL="0" marR="0" algn="ctr">
                            <a:lnSpc>
                              <a:spcPct val="115000"/>
                            </a:lnSpc>
                            <a:spcAft>
                              <a:spcPts val="1000"/>
                            </a:spcAft>
                            <a:buNone/>
                          </a:pPr>
                          <a:r>
                            <a:rPr lang="en-US" sz="1200">
                              <a:effectLst/>
                            </a:rPr>
                            <a:t>7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23.44</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23.43 (0.094)</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a:effectLst/>
                            </a:rPr>
                            <a:t>0.01</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14:m>
                            <m:oMathPara xmlns:m="http://schemas.openxmlformats.org/officeDocument/2006/math">
                              <m:oMath>
                                <m:r>
                                  <a:rPr lang="en-US" sz="1200">
                                    <a:effectLst/>
                                    <a:latin typeface="Cambria Math" panose="02040503050406030204" pitchFamily="18" charset="0"/>
                                  </a:rPr>
                                  <m:t>0.19∠31.0°</m:t>
                                </m:r>
                              </m:oMath>
                            </m:oMathPara>
                          </a14:m>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0.28</a:t>
                          </a:r>
                          <a14:m>
                            <m:oMath xmlns:m="http://schemas.openxmlformats.org/officeDocument/2006/math">
                              <m:r>
                                <a:rPr lang="en-US" sz="1200">
                                  <a:effectLst/>
                                  <a:latin typeface="Cambria Math" panose="02040503050406030204" pitchFamily="18" charset="0"/>
                                </a:rPr>
                                <m:t>∠</m:t>
                              </m:r>
                            </m:oMath>
                          </a14:m>
                          <a:r>
                            <a:rPr lang="en-US" sz="1200">
                              <a:effectLst/>
                            </a:rPr>
                            <a:t>35.5</a:t>
                          </a:r>
                          <a14:m>
                            <m:oMath xmlns:m="http://schemas.openxmlformats.org/officeDocument/2006/math">
                              <m:r>
                                <a:rPr lang="en-US" sz="1200">
                                  <a:effectLst/>
                                  <a:latin typeface="Cambria Math" panose="02040503050406030204" pitchFamily="18" charset="0"/>
                                </a:rPr>
                                <m:t>°</m:t>
                              </m:r>
                            </m:oMath>
                          </a14:m>
                          <a:r>
                            <a:rPr lang="en-US" sz="1200">
                              <a:effectLst/>
                            </a:rPr>
                            <a:t> </a:t>
                          </a:r>
                          <a14:m>
                            <m:oMath xmlns:m="http://schemas.openxmlformats.org/officeDocument/2006/math">
                              <m:r>
                                <a:rPr lang="en-US" sz="1200">
                                  <a:effectLst/>
                                  <a:latin typeface="Cambria Math" panose="02040503050406030204" pitchFamily="18" charset="0"/>
                                </a:rPr>
                                <m:t>(0.063)</m:t>
                              </m:r>
                            </m:oMath>
                          </a14:m>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cap="small" dirty="0">
                              <a:effectLst/>
                            </a:rPr>
                            <a:t>0.091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03610513"/>
                      </a:ext>
                    </a:extLst>
                  </a:tr>
                  <a:tr h="337394">
                    <a:tc vMerge="1">
                      <a:txBody>
                        <a:bodyPr/>
                        <a:lstStyle/>
                        <a:p>
                          <a:endParaRPr lang="en-US"/>
                        </a:p>
                      </a:txBody>
                      <a:tcPr/>
                    </a:tc>
                    <a:tc rowSpan="2">
                      <a:txBody>
                        <a:bodyPr/>
                        <a:lstStyle/>
                        <a:p>
                          <a:pPr marL="0" marR="0" algn="ctr">
                            <a:lnSpc>
                              <a:spcPct val="115000"/>
                            </a:lnSpc>
                            <a:spcAft>
                              <a:spcPts val="1000"/>
                            </a:spcAft>
                            <a:buNone/>
                          </a:pPr>
                          <a:r>
                            <a:rPr lang="en-US" sz="1200">
                              <a:effectLst/>
                            </a:rPr>
                            <a:t>3.0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16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23.52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23.50 (</a:t>
                          </a:r>
                          <a14:m>
                            <m:oMath xmlns:m="http://schemas.openxmlformats.org/officeDocument/2006/math">
                              <m:r>
                                <a:rPr lang="en-US" sz="1200">
                                  <a:effectLst/>
                                  <a:latin typeface="Cambria Math" panose="02040503050406030204" pitchFamily="18" charset="0"/>
                                </a:rPr>
                                <m:t>0.040</m:t>
                              </m:r>
                            </m:oMath>
                          </a14:m>
                          <a:r>
                            <a:rPr lang="en-US" sz="1200">
                              <a:effectLst/>
                            </a:rPr>
                            <a:t>)</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14:m>
                            <m:oMathPara xmlns:m="http://schemas.openxmlformats.org/officeDocument/2006/math">
                              <m:oMath>
                                <m:r>
                                  <a:rPr lang="en-US" sz="1200" cap="small">
                                    <a:effectLst/>
                                    <a:latin typeface="Cambria Math" panose="02040503050406030204" pitchFamily="18" charset="0"/>
                                  </a:rPr>
                                  <m:t>0.024</m:t>
                                </m:r>
                              </m:oMath>
                            </m:oMathPara>
                          </a14:m>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14:m>
                            <m:oMathPara xmlns:m="http://schemas.openxmlformats.org/officeDocument/2006/math">
                              <m:oMath>
                                <m:r>
                                  <a:rPr lang="en-US" sz="1200">
                                    <a:effectLst/>
                                    <a:latin typeface="Cambria Math" panose="02040503050406030204" pitchFamily="18" charset="0"/>
                                  </a:rPr>
                                  <m:t>0.19∠149.0°</m:t>
                                </m:r>
                              </m:oMath>
                            </m:oMathPara>
                          </a14:m>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0.14</a:t>
                          </a:r>
                          <a14:m>
                            <m:oMath xmlns:m="http://schemas.openxmlformats.org/officeDocument/2006/math">
                              <m:r>
                                <a:rPr lang="en-US" sz="1200">
                                  <a:effectLst/>
                                  <a:latin typeface="Cambria Math" panose="02040503050406030204" pitchFamily="18" charset="0"/>
                                </a:rPr>
                                <m:t>∠</m:t>
                              </m:r>
                            </m:oMath>
                          </a14:m>
                          <a:r>
                            <a:rPr lang="en-US" sz="1200">
                              <a:effectLst/>
                            </a:rPr>
                            <a:t>135.0</a:t>
                          </a:r>
                          <a14:m>
                            <m:oMath xmlns:m="http://schemas.openxmlformats.org/officeDocument/2006/math">
                              <m:r>
                                <a:rPr lang="en-US" sz="1200">
                                  <a:effectLst/>
                                  <a:latin typeface="Cambria Math" panose="02040503050406030204" pitchFamily="18" charset="0"/>
                                </a:rPr>
                                <m:t>°</m:t>
                              </m:r>
                            </m:oMath>
                          </a14:m>
                          <a:r>
                            <a:rPr lang="en-US" sz="1200">
                              <a:effectLst/>
                            </a:rPr>
                            <a:t> (0.044)</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dirty="0">
                              <a:effectLst/>
                            </a:rPr>
                            <a:t>0.044</a:t>
                          </a:r>
                          <a:endParaRPr lang="en-US" sz="1200" cap="small"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5894195"/>
                      </a:ext>
                    </a:extLst>
                  </a:tr>
                  <a:tr h="337394">
                    <a:tc vMerge="1">
                      <a:txBody>
                        <a:bodyPr/>
                        <a:lstStyle/>
                        <a:p>
                          <a:endParaRPr lang="en-US"/>
                        </a:p>
                      </a:txBody>
                      <a:tcPr/>
                    </a:tc>
                    <a:tc vMerge="1">
                      <a:txBody>
                        <a:bodyPr/>
                        <a:lstStyle/>
                        <a:p>
                          <a:endParaRPr lang="en-US"/>
                        </a:p>
                      </a:txBody>
                      <a:tcPr/>
                    </a:tc>
                    <a:tc>
                      <a:txBody>
                        <a:bodyPr/>
                        <a:lstStyle/>
                        <a:p>
                          <a:pPr marL="0" marR="0" algn="ctr">
                            <a:lnSpc>
                              <a:spcPct val="115000"/>
                            </a:lnSpc>
                            <a:spcAft>
                              <a:spcPts val="1000"/>
                            </a:spcAft>
                            <a:buNone/>
                          </a:pPr>
                          <a:r>
                            <a:rPr lang="en-US" sz="1200">
                              <a:effectLst/>
                            </a:rPr>
                            <a:t>7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23.52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23.51 (</a:t>
                          </a:r>
                          <a14:m>
                            <m:oMath xmlns:m="http://schemas.openxmlformats.org/officeDocument/2006/math">
                              <m:r>
                                <a:rPr lang="en-US" sz="1200">
                                  <a:effectLst/>
                                  <a:latin typeface="Cambria Math" panose="02040503050406030204" pitchFamily="18" charset="0"/>
                                </a:rPr>
                                <m:t>0.056</m:t>
                              </m:r>
                            </m:oMath>
                          </a14:m>
                          <a:r>
                            <a:rPr lang="en-US" sz="1200" dirty="0">
                              <a:effectLst/>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0.01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14:m>
                            <m:oMathPara xmlns:m="http://schemas.openxmlformats.org/officeDocument/2006/math">
                              <m:oMath>
                                <m:r>
                                  <a:rPr lang="en-US" sz="1200">
                                    <a:effectLst/>
                                    <a:latin typeface="Cambria Math" panose="02040503050406030204" pitchFamily="18" charset="0"/>
                                  </a:rPr>
                                  <m:t>0.19∠149.0°</m:t>
                                </m:r>
                              </m:oMath>
                            </m:oMathPara>
                          </a14:m>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14:m>
                            <m:oMath xmlns:m="http://schemas.openxmlformats.org/officeDocument/2006/math">
                              <m:r>
                                <a:rPr lang="en-US" sz="1200">
                                  <a:effectLst/>
                                  <a:latin typeface="Cambria Math" panose="02040503050406030204" pitchFamily="18" charset="0"/>
                                </a:rPr>
                                <m:t>0.31∠161.6°</m:t>
                              </m:r>
                            </m:oMath>
                          </a14:m>
                          <a:r>
                            <a:rPr lang="en-US" sz="1200" dirty="0">
                              <a:effectLst/>
                            </a:rPr>
                            <a:t> (0.082)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dirty="0">
                              <a:effectLst/>
                            </a:rPr>
                            <a:t>0.129</a:t>
                          </a:r>
                          <a:endParaRPr lang="en-US" sz="1200" cap="small"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95930387"/>
                      </a:ext>
                    </a:extLst>
                  </a:tr>
                  <a:tr h="199565">
                    <a:tc vMerge="1">
                      <a:txBody>
                        <a:bodyPr/>
                        <a:lstStyle/>
                        <a:p>
                          <a:endParaRPr lang="en-US"/>
                        </a:p>
                      </a:txBody>
                      <a:tcPr/>
                    </a:tc>
                    <a:tc rowSpan="2">
                      <a:txBody>
                        <a:bodyPr/>
                        <a:lstStyle/>
                        <a:p>
                          <a:pPr marL="0" marR="0" algn="ctr">
                            <a:lnSpc>
                              <a:spcPct val="115000"/>
                            </a:lnSpc>
                            <a:spcAft>
                              <a:spcPts val="1000"/>
                            </a:spcAft>
                            <a:buNone/>
                          </a:pPr>
                          <a:r>
                            <a:rPr lang="en-US" sz="1200">
                              <a:effectLst/>
                            </a:rPr>
                            <a:t>4.0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16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22.29</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22.77 (0.183)</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0.48</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0.19</a:t>
                          </a:r>
                          <a14:m>
                            <m:oMath xmlns:m="http://schemas.openxmlformats.org/officeDocument/2006/math">
                              <m:r>
                                <a:rPr lang="en-US" sz="1200">
                                  <a:effectLst/>
                                  <a:latin typeface="Cambria Math" panose="02040503050406030204" pitchFamily="18" charset="0"/>
                                </a:rPr>
                                <m:t>∠</m:t>
                              </m:r>
                            </m:oMath>
                          </a14:m>
                          <a:r>
                            <a:rPr lang="en-US" sz="1200" dirty="0">
                              <a:effectLst/>
                            </a:rPr>
                            <a:t>-149</a:t>
                          </a:r>
                          <a14:m>
                            <m:oMath xmlns:m="http://schemas.openxmlformats.org/officeDocument/2006/math">
                              <m:r>
                                <a:rPr lang="en-US" sz="1200">
                                  <a:effectLst/>
                                  <a:latin typeface="Cambria Math" panose="02040503050406030204" pitchFamily="18" charset="0"/>
                                </a:rPr>
                                <m:t>.0°</m:t>
                              </m:r>
                            </m:oMath>
                          </a14:m>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0.31</a:t>
                          </a:r>
                          <a14:m>
                            <m:oMath xmlns:m="http://schemas.openxmlformats.org/officeDocument/2006/math">
                              <m:r>
                                <a:rPr lang="en-US" sz="1200">
                                  <a:effectLst/>
                                  <a:latin typeface="Cambria Math" panose="02040503050406030204" pitchFamily="18" charset="0"/>
                                </a:rPr>
                                <m:t>∠</m:t>
                              </m:r>
                            </m:oMath>
                          </a14:m>
                          <a:r>
                            <a:rPr lang="en-US" sz="1200">
                              <a:effectLst/>
                            </a:rPr>
                            <a:t>-161</a:t>
                          </a:r>
                          <a14:m>
                            <m:oMath xmlns:m="http://schemas.openxmlformats.org/officeDocument/2006/math">
                              <m:r>
                                <a:rPr lang="en-US" sz="1200">
                                  <a:effectLst/>
                                  <a:latin typeface="Cambria Math" panose="02040503050406030204" pitchFamily="18" charset="0"/>
                                </a:rPr>
                                <m:t>.6°</m:t>
                              </m:r>
                            </m:oMath>
                          </a14:m>
                          <a:r>
                            <a:rPr lang="en-US" sz="1200">
                              <a:effectLst/>
                            </a:rPr>
                            <a:t> (0.109)</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dirty="0">
                              <a:effectLst/>
                            </a:rPr>
                            <a:t>0.129</a:t>
                          </a:r>
                          <a:endParaRPr lang="en-US" sz="1200" cap="small"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69758448"/>
                      </a:ext>
                    </a:extLst>
                  </a:tr>
                  <a:tr h="199565">
                    <a:tc vMerge="1">
                      <a:txBody>
                        <a:bodyPr/>
                        <a:lstStyle/>
                        <a:p>
                          <a:endParaRPr lang="en-US"/>
                        </a:p>
                      </a:txBody>
                      <a:tcPr/>
                    </a:tc>
                    <a:tc vMerge="1">
                      <a:txBody>
                        <a:bodyPr/>
                        <a:lstStyle/>
                        <a:p>
                          <a:endParaRPr lang="en-US"/>
                        </a:p>
                      </a:txBody>
                      <a:tcPr/>
                    </a:tc>
                    <a:tc>
                      <a:txBody>
                        <a:bodyPr/>
                        <a:lstStyle/>
                        <a:p>
                          <a:pPr marL="0" marR="0" algn="ctr">
                            <a:lnSpc>
                              <a:spcPct val="115000"/>
                            </a:lnSpc>
                            <a:spcAft>
                              <a:spcPts val="1000"/>
                            </a:spcAft>
                            <a:buNone/>
                          </a:pPr>
                          <a:r>
                            <a:rPr lang="en-US" sz="1200">
                              <a:effectLst/>
                            </a:rPr>
                            <a:t>7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22.29</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23.08 (0.198)</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0.79</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0.19</a:t>
                          </a:r>
                          <a14:m>
                            <m:oMath xmlns:m="http://schemas.openxmlformats.org/officeDocument/2006/math">
                              <m:r>
                                <a:rPr lang="en-US" sz="1200">
                                  <a:effectLst/>
                                  <a:latin typeface="Cambria Math" panose="02040503050406030204" pitchFamily="18" charset="0"/>
                                </a:rPr>
                                <m:t>∠</m:t>
                              </m:r>
                            </m:oMath>
                          </a14:m>
                          <a:r>
                            <a:rPr lang="en-US" sz="1200">
                              <a:effectLst/>
                            </a:rPr>
                            <a:t>--149</a:t>
                          </a:r>
                          <a14:m>
                            <m:oMath xmlns:m="http://schemas.openxmlformats.org/officeDocument/2006/math">
                              <m:r>
                                <a:rPr lang="en-US" sz="1200">
                                  <a:effectLst/>
                                  <a:latin typeface="Cambria Math" panose="02040503050406030204" pitchFamily="18" charset="0"/>
                                </a:rPr>
                                <m:t>.0°</m:t>
                              </m:r>
                            </m:oMath>
                          </a14:m>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0.31</a:t>
                          </a:r>
                          <a14:m>
                            <m:oMath xmlns:m="http://schemas.openxmlformats.org/officeDocument/2006/math">
                              <m:r>
                                <a:rPr lang="en-US" sz="1200">
                                  <a:effectLst/>
                                  <a:latin typeface="Cambria Math" panose="02040503050406030204" pitchFamily="18" charset="0"/>
                                </a:rPr>
                                <m:t>∠</m:t>
                              </m:r>
                            </m:oMath>
                          </a14:m>
                          <a:r>
                            <a:rPr lang="en-US" sz="1200" dirty="0">
                              <a:effectLst/>
                            </a:rPr>
                            <a:t>-161.6</a:t>
                          </a:r>
                          <a14:m>
                            <m:oMath xmlns:m="http://schemas.openxmlformats.org/officeDocument/2006/math">
                              <m:r>
                                <a:rPr lang="en-US" sz="1200">
                                  <a:effectLst/>
                                  <a:latin typeface="Cambria Math" panose="02040503050406030204" pitchFamily="18" charset="0"/>
                                </a:rPr>
                                <m:t>°</m:t>
                              </m:r>
                            </m:oMath>
                          </a14:m>
                          <a:r>
                            <a:rPr lang="en-US" sz="1200" dirty="0">
                              <a:effectLst/>
                            </a:rPr>
                            <a:t> (0.116)</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dirty="0">
                              <a:effectLst/>
                            </a:rPr>
                            <a:t>0.129</a:t>
                          </a:r>
                          <a:endParaRPr lang="en-US" sz="1200" cap="small"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60807028"/>
                      </a:ext>
                    </a:extLst>
                  </a:tr>
                </a:tbl>
              </a:graphicData>
            </a:graphic>
          </p:graphicFrame>
        </mc:Choice>
        <mc:Fallback xmlns="">
          <p:graphicFrame>
            <p:nvGraphicFramePr>
              <p:cNvPr id="9" name="Table 8">
                <a:extLst>
                  <a:ext uri="{FF2B5EF4-FFF2-40B4-BE49-F238E27FC236}">
                    <a16:creationId xmlns:a16="http://schemas.microsoft.com/office/drawing/2014/main" id="{7AB808D5-4245-8200-C3E1-9F8E0BB70506}"/>
                  </a:ext>
                </a:extLst>
              </p:cNvPr>
              <p:cNvGraphicFramePr>
                <a:graphicFrameLocks noGrp="1"/>
              </p:cNvGraphicFramePr>
              <p:nvPr>
                <p:extLst>
                  <p:ext uri="{D42A27DB-BD31-4B8C-83A1-F6EECF244321}">
                    <p14:modId xmlns:p14="http://schemas.microsoft.com/office/powerpoint/2010/main" val="2943922422"/>
                  </p:ext>
                </p:extLst>
              </p:nvPr>
            </p:nvGraphicFramePr>
            <p:xfrm>
              <a:off x="1236895" y="2116957"/>
              <a:ext cx="9718210" cy="4043602"/>
            </p:xfrm>
            <a:graphic>
              <a:graphicData uri="http://schemas.openxmlformats.org/drawingml/2006/table">
                <a:tbl>
                  <a:tblPr firstRow="1" firstCol="1" bandRow="1">
                    <a:tableStyleId>{5940675A-B579-460E-94D1-54222C63F5DA}</a:tableStyleId>
                  </a:tblPr>
                  <a:tblGrid>
                    <a:gridCol w="758398">
                      <a:extLst>
                        <a:ext uri="{9D8B030D-6E8A-4147-A177-3AD203B41FA5}">
                          <a16:colId xmlns:a16="http://schemas.microsoft.com/office/drawing/2014/main" val="1861715746"/>
                        </a:ext>
                      </a:extLst>
                    </a:gridCol>
                    <a:gridCol w="855406">
                      <a:extLst>
                        <a:ext uri="{9D8B030D-6E8A-4147-A177-3AD203B41FA5}">
                          <a16:colId xmlns:a16="http://schemas.microsoft.com/office/drawing/2014/main" val="932767172"/>
                        </a:ext>
                      </a:extLst>
                    </a:gridCol>
                    <a:gridCol w="530942">
                      <a:extLst>
                        <a:ext uri="{9D8B030D-6E8A-4147-A177-3AD203B41FA5}">
                          <a16:colId xmlns:a16="http://schemas.microsoft.com/office/drawing/2014/main" val="3024089015"/>
                        </a:ext>
                      </a:extLst>
                    </a:gridCol>
                    <a:gridCol w="1091381">
                      <a:extLst>
                        <a:ext uri="{9D8B030D-6E8A-4147-A177-3AD203B41FA5}">
                          <a16:colId xmlns:a16="http://schemas.microsoft.com/office/drawing/2014/main" val="1610761328"/>
                        </a:ext>
                      </a:extLst>
                    </a:gridCol>
                    <a:gridCol w="1216910">
                      <a:extLst>
                        <a:ext uri="{9D8B030D-6E8A-4147-A177-3AD203B41FA5}">
                          <a16:colId xmlns:a16="http://schemas.microsoft.com/office/drawing/2014/main" val="3524925140"/>
                        </a:ext>
                      </a:extLst>
                    </a:gridCol>
                    <a:gridCol w="1091380">
                      <a:extLst>
                        <a:ext uri="{9D8B030D-6E8A-4147-A177-3AD203B41FA5}">
                          <a16:colId xmlns:a16="http://schemas.microsoft.com/office/drawing/2014/main" val="635595739"/>
                        </a:ext>
                      </a:extLst>
                    </a:gridCol>
                    <a:gridCol w="1150374">
                      <a:extLst>
                        <a:ext uri="{9D8B030D-6E8A-4147-A177-3AD203B41FA5}">
                          <a16:colId xmlns:a16="http://schemas.microsoft.com/office/drawing/2014/main" val="3030292213"/>
                        </a:ext>
                      </a:extLst>
                    </a:gridCol>
                    <a:gridCol w="1696065">
                      <a:extLst>
                        <a:ext uri="{9D8B030D-6E8A-4147-A177-3AD203B41FA5}">
                          <a16:colId xmlns:a16="http://schemas.microsoft.com/office/drawing/2014/main" val="4125615087"/>
                        </a:ext>
                      </a:extLst>
                    </a:gridCol>
                    <a:gridCol w="1327354">
                      <a:extLst>
                        <a:ext uri="{9D8B030D-6E8A-4147-A177-3AD203B41FA5}">
                          <a16:colId xmlns:a16="http://schemas.microsoft.com/office/drawing/2014/main" val="396143672"/>
                        </a:ext>
                      </a:extLst>
                    </a:gridCol>
                  </a:tblGrid>
                  <a:tr h="199565">
                    <a:tc gridSpan="3">
                      <a:txBody>
                        <a:bodyPr/>
                        <a:lstStyle/>
                        <a:p>
                          <a:pPr marL="0" marR="0" algn="ctr">
                            <a:lnSpc>
                              <a:spcPct val="115000"/>
                            </a:lnSpc>
                            <a:spcAft>
                              <a:spcPts val="1000"/>
                            </a:spcAft>
                            <a:buNone/>
                          </a:pPr>
                          <a:r>
                            <a:rPr lang="en-US" sz="1200">
                              <a:effectLst/>
                            </a:rPr>
                            <a:t>DUT Details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hMerge="1">
                      <a:txBody>
                        <a:bodyPr/>
                        <a:lstStyle/>
                        <a:p>
                          <a:endParaRPr lang="en-US"/>
                        </a:p>
                      </a:txBody>
                      <a:tcPr/>
                    </a:tc>
                    <a:tc hMerge="1">
                      <a:txBody>
                        <a:bodyPr/>
                        <a:lstStyle/>
                        <a:p>
                          <a:endParaRPr lang="en-US"/>
                        </a:p>
                      </a:txBody>
                      <a:tcPr/>
                    </a:tc>
                    <a:tc rowSpan="2">
                      <a:txBody>
                        <a:bodyPr/>
                        <a:lstStyle/>
                        <a:p>
                          <a:pPr marL="0" marR="0" algn="ctr">
                            <a:lnSpc>
                              <a:spcPct val="115000"/>
                            </a:lnSpc>
                            <a:spcAft>
                              <a:spcPts val="1000"/>
                            </a:spcAft>
                            <a:buNone/>
                          </a:pPr>
                          <a:r>
                            <a:rPr lang="en-US" sz="1200" dirty="0">
                              <a:effectLst/>
                            </a:rPr>
                            <a:t>True Max Output Power (dBm)</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rowSpan="2">
                      <a:txBody>
                        <a:bodyPr/>
                        <a:lstStyle/>
                        <a:p>
                          <a:endParaRPr lang="en-US"/>
                        </a:p>
                      </a:txBody>
                      <a:tcPr marL="68580" marR="68580" marT="0" marB="0" anchor="b">
                        <a:blipFill>
                          <a:blip r:embed="rId3"/>
                          <a:stretch>
                            <a:fillRect l="-266667" t="-3077" r="-434375" b="-401538"/>
                          </a:stretch>
                        </a:blipFill>
                      </a:tcPr>
                    </a:tc>
                    <a:tc rowSpan="2">
                      <a:txBody>
                        <a:bodyPr/>
                        <a:lstStyle/>
                        <a:p>
                          <a:pPr marL="0" marR="0" algn="ctr">
                            <a:lnSpc>
                              <a:spcPts val="1200"/>
                            </a:lnSpc>
                            <a:buNone/>
                          </a:pPr>
                          <a:r>
                            <a:rPr lang="en-US" sz="1200" cap="small" dirty="0">
                              <a:effectLst/>
                            </a:rPr>
                            <a:t>Average Output Power Error (dB)</a:t>
                          </a:r>
                          <a:endParaRPr lang="en-US" sz="1200" cap="small"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rowSpan="2">
                      <a:txBody>
                        <a:bodyPr/>
                        <a:lstStyle/>
                        <a:p>
                          <a:pPr marL="0" marR="0" algn="ctr">
                            <a:lnSpc>
                              <a:spcPts val="1200"/>
                            </a:lnSpc>
                            <a:buNone/>
                          </a:pPr>
                          <a:r>
                            <a:rPr lang="en-US" sz="1200" cap="small">
                              <a:effectLst/>
                            </a:rPr>
                            <a:t>True Opt. Reflection Coefficient</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rowSpan="2">
                      <a:txBody>
                        <a:bodyPr/>
                        <a:lstStyle/>
                        <a:p>
                          <a:endParaRPr lang="en-US"/>
                        </a:p>
                      </a:txBody>
                      <a:tcPr marL="68580" marR="68580" marT="0" marB="0" anchor="b">
                        <a:blipFill>
                          <a:blip r:embed="rId3"/>
                          <a:stretch>
                            <a:fillRect l="-397744" t="-3077" r="-80451" b="-401538"/>
                          </a:stretch>
                        </a:blipFill>
                      </a:tcPr>
                    </a:tc>
                    <a:tc rowSpan="2">
                      <a:txBody>
                        <a:bodyPr/>
                        <a:lstStyle/>
                        <a:p>
                          <a:pPr marL="0" marR="0" algn="ctr">
                            <a:lnSpc>
                              <a:spcPts val="1200"/>
                            </a:lnSpc>
                            <a:buNone/>
                          </a:pPr>
                          <a:r>
                            <a:rPr lang="en-US" sz="1200" cap="small" dirty="0">
                              <a:effectLst/>
                            </a:rPr>
                            <a:t>Average Opt. Reflection Coefficient Error Magnitude</a:t>
                          </a:r>
                          <a:endParaRPr lang="en-US" sz="1200" cap="small"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474391885"/>
                      </a:ext>
                    </a:extLst>
                  </a:tr>
                  <a:tr h="620291">
                    <a:tc>
                      <a:txBody>
                        <a:bodyPr/>
                        <a:lstStyle/>
                        <a:p>
                          <a:pPr marL="0" marR="0" algn="ctr">
                            <a:lnSpc>
                              <a:spcPts val="1200"/>
                            </a:lnSpc>
                            <a:spcAft>
                              <a:spcPts val="1000"/>
                            </a:spcAft>
                            <a:buNone/>
                          </a:pPr>
                          <a:r>
                            <a:rPr lang="en-US" sz="1200" dirty="0">
                              <a:effectLst/>
                            </a:rPr>
                            <a:t>Device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1000"/>
                            </a:spcAft>
                            <a:buNone/>
                          </a:pPr>
                          <a:r>
                            <a:rPr lang="en-US" sz="1200" dirty="0">
                              <a:effectLst/>
                            </a:rPr>
                            <a:t>Frequency (GHz)</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15000"/>
                            </a:lnSpc>
                            <a:spcAft>
                              <a:spcPts val="1000"/>
                            </a:spcAft>
                            <a:buNone/>
                          </a:pPr>
                          <a:r>
                            <a:rPr lang="en-US" sz="1200" dirty="0">
                              <a:effectLst/>
                            </a:rPr>
                            <a:t># Meas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519938164"/>
                      </a:ext>
                    </a:extLst>
                  </a:tr>
                  <a:tr h="199565">
                    <a:tc rowSpan="6">
                      <a:txBody>
                        <a:bodyPr/>
                        <a:lstStyle/>
                        <a:p>
                          <a:pPr marL="0" marR="0" algn="ctr">
                            <a:lnSpc>
                              <a:spcPts val="1200"/>
                            </a:lnSpc>
                            <a:spcAft>
                              <a:spcPts val="1000"/>
                            </a:spcAft>
                            <a:buNone/>
                          </a:pPr>
                          <a:r>
                            <a:rPr lang="en-US" sz="1200" dirty="0">
                              <a:effectLst/>
                            </a:rPr>
                            <a:t>Skyworks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rowSpan="2">
                      <a:txBody>
                        <a:bodyPr/>
                        <a:lstStyle/>
                        <a:p>
                          <a:pPr marL="0" marR="0" algn="ctr">
                            <a:lnSpc>
                              <a:spcPct val="115000"/>
                            </a:lnSpc>
                            <a:spcAft>
                              <a:spcPts val="1000"/>
                            </a:spcAft>
                            <a:buNone/>
                          </a:pPr>
                          <a:r>
                            <a:rPr lang="en-US" sz="1200" dirty="0">
                              <a:effectLst/>
                            </a:rPr>
                            <a:t>2.0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16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17.33</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17.72 (0.535)</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a:effectLst/>
                            </a:rPr>
                            <a:t>0.39</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481319" t="-418750" r="-263736" b="-1531250"/>
                          </a:stretch>
                        </a:blipFill>
                      </a:tcPr>
                    </a:tc>
                    <a:tc>
                      <a:txBody>
                        <a:bodyPr/>
                        <a:lstStyle/>
                        <a:p>
                          <a:endParaRPr lang="en-US"/>
                        </a:p>
                      </a:txBody>
                      <a:tcPr marL="68580" marR="68580" marT="0" marB="0">
                        <a:blipFill>
                          <a:blip r:embed="rId3"/>
                          <a:stretch>
                            <a:fillRect l="-397744" t="-418750" r="-80451" b="-1531250"/>
                          </a:stretch>
                        </a:blipFill>
                      </a:tcPr>
                    </a:tc>
                    <a:tc>
                      <a:txBody>
                        <a:bodyPr/>
                        <a:lstStyle/>
                        <a:p>
                          <a:pPr marL="0" marR="0" algn="ctr">
                            <a:lnSpc>
                              <a:spcPts val="1200"/>
                            </a:lnSpc>
                            <a:buNone/>
                          </a:pPr>
                          <a:r>
                            <a:rPr lang="en-US" sz="1200" cap="small">
                              <a:effectLst/>
                            </a:rPr>
                            <a:t>0.182</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42008944"/>
                      </a:ext>
                    </a:extLst>
                  </a:tr>
                  <a:tr h="201557">
                    <a:tc vMerge="1">
                      <a:txBody>
                        <a:bodyPr/>
                        <a:lstStyle/>
                        <a:p>
                          <a:endParaRPr lang="en-US"/>
                        </a:p>
                      </a:txBody>
                      <a:tcPr/>
                    </a:tc>
                    <a:tc vMerge="1">
                      <a:txBody>
                        <a:bodyPr/>
                        <a:lstStyle/>
                        <a:p>
                          <a:endParaRPr lang="en-US"/>
                        </a:p>
                      </a:txBody>
                      <a:tcPr/>
                    </a:tc>
                    <a:tc>
                      <a:txBody>
                        <a:bodyPr/>
                        <a:lstStyle/>
                        <a:p>
                          <a:pPr marL="0" marR="0" algn="ctr">
                            <a:lnSpc>
                              <a:spcPct val="115000"/>
                            </a:lnSpc>
                            <a:spcAft>
                              <a:spcPts val="1000"/>
                            </a:spcAft>
                            <a:buNone/>
                          </a:pPr>
                          <a:r>
                            <a:rPr lang="en-US" sz="1200">
                              <a:effectLst/>
                            </a:rPr>
                            <a:t>7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17.33</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17.78 (0.580)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a:effectLst/>
                            </a:rPr>
                            <a:t>0.45</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481319" t="-518750" r="-263736" b="-1431250"/>
                          </a:stretch>
                        </a:blipFill>
                      </a:tcPr>
                    </a:tc>
                    <a:tc>
                      <a:txBody>
                        <a:bodyPr/>
                        <a:lstStyle/>
                        <a:p>
                          <a:endParaRPr lang="en-US"/>
                        </a:p>
                      </a:txBody>
                      <a:tcPr marL="68580" marR="68580" marT="0" marB="0">
                        <a:blipFill>
                          <a:blip r:embed="rId3"/>
                          <a:stretch>
                            <a:fillRect l="-397744" t="-518750" r="-80451" b="-1431250"/>
                          </a:stretch>
                        </a:blipFill>
                      </a:tcPr>
                    </a:tc>
                    <a:tc>
                      <a:txBody>
                        <a:bodyPr/>
                        <a:lstStyle/>
                        <a:p>
                          <a:pPr marL="0" marR="0" algn="ctr">
                            <a:lnSpc>
                              <a:spcPts val="1200"/>
                            </a:lnSpc>
                            <a:buNone/>
                          </a:pPr>
                          <a:r>
                            <a:rPr lang="en-US" sz="1200" cap="small">
                              <a:effectLst/>
                            </a:rPr>
                            <a:t>0.181</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39278258"/>
                      </a:ext>
                    </a:extLst>
                  </a:tr>
                  <a:tr h="337394">
                    <a:tc vMerge="1">
                      <a:txBody>
                        <a:bodyPr/>
                        <a:lstStyle/>
                        <a:p>
                          <a:endParaRPr lang="en-US"/>
                        </a:p>
                      </a:txBody>
                      <a:tcPr/>
                    </a:tc>
                    <a:tc rowSpan="2">
                      <a:txBody>
                        <a:bodyPr/>
                        <a:lstStyle/>
                        <a:p>
                          <a:pPr marL="0" marR="0" algn="ctr">
                            <a:lnSpc>
                              <a:spcPct val="115000"/>
                            </a:lnSpc>
                            <a:spcAft>
                              <a:spcPts val="1000"/>
                            </a:spcAft>
                            <a:buNone/>
                          </a:pPr>
                          <a:r>
                            <a:rPr lang="en-US" sz="1200" dirty="0">
                              <a:effectLst/>
                            </a:rPr>
                            <a:t>3.0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16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18.19</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266667" t="-380769" r="-434375" b="-780769"/>
                          </a:stretch>
                        </a:blipFill>
                      </a:tcPr>
                    </a:tc>
                    <a:tc>
                      <a:txBody>
                        <a:bodyPr/>
                        <a:lstStyle/>
                        <a:p>
                          <a:pPr marL="0" marR="0" algn="ctr">
                            <a:lnSpc>
                              <a:spcPts val="1200"/>
                            </a:lnSpc>
                            <a:buNone/>
                          </a:pPr>
                          <a:r>
                            <a:rPr lang="en-US" sz="1200" cap="small" dirty="0">
                              <a:effectLst/>
                            </a:rPr>
                            <a:t>0.21</a:t>
                          </a:r>
                          <a:endParaRPr lang="en-US" sz="1200" cap="small"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481319" t="-380769" r="-263736" b="-780769"/>
                          </a:stretch>
                        </a:blipFill>
                      </a:tcPr>
                    </a:tc>
                    <a:tc>
                      <a:txBody>
                        <a:bodyPr/>
                        <a:lstStyle/>
                        <a:p>
                          <a:endParaRPr lang="en-US"/>
                        </a:p>
                      </a:txBody>
                      <a:tcPr marL="68580" marR="68580" marT="0" marB="0">
                        <a:blipFill>
                          <a:blip r:embed="rId3"/>
                          <a:stretch>
                            <a:fillRect l="-397744" t="-380769" r="-80451" b="-780769"/>
                          </a:stretch>
                        </a:blipFill>
                      </a:tcPr>
                    </a:tc>
                    <a:tc>
                      <a:txBody>
                        <a:bodyPr/>
                        <a:lstStyle/>
                        <a:p>
                          <a:pPr marL="0" marR="0" algn="ctr">
                            <a:lnSpc>
                              <a:spcPts val="1200"/>
                            </a:lnSpc>
                            <a:buNone/>
                          </a:pPr>
                          <a:r>
                            <a:rPr lang="en-US" sz="1200" cap="small">
                              <a:effectLst/>
                            </a:rPr>
                            <a:t>0.064</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172567"/>
                      </a:ext>
                    </a:extLst>
                  </a:tr>
                  <a:tr h="337394">
                    <a:tc vMerge="1">
                      <a:txBody>
                        <a:bodyPr/>
                        <a:lstStyle/>
                        <a:p>
                          <a:endParaRPr lang="en-US"/>
                        </a:p>
                      </a:txBody>
                      <a:tcPr/>
                    </a:tc>
                    <a:tc vMerge="1">
                      <a:txBody>
                        <a:bodyPr/>
                        <a:lstStyle/>
                        <a:p>
                          <a:endParaRPr lang="en-US"/>
                        </a:p>
                      </a:txBody>
                      <a:tcPr/>
                    </a:tc>
                    <a:tc>
                      <a:txBody>
                        <a:bodyPr/>
                        <a:lstStyle/>
                        <a:p>
                          <a:pPr marL="0" marR="0" algn="ctr">
                            <a:lnSpc>
                              <a:spcPct val="115000"/>
                            </a:lnSpc>
                            <a:spcAft>
                              <a:spcPts val="1000"/>
                            </a:spcAft>
                            <a:buNone/>
                          </a:pPr>
                          <a:r>
                            <a:rPr lang="en-US" sz="1200" dirty="0">
                              <a:effectLst/>
                            </a:rPr>
                            <a:t>7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18.19</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266667" t="-462963" r="-434375" b="-651852"/>
                          </a:stretch>
                        </a:blipFill>
                      </a:tcPr>
                    </a:tc>
                    <a:tc>
                      <a:txBody>
                        <a:bodyPr/>
                        <a:lstStyle/>
                        <a:p>
                          <a:pPr marL="0" marR="0" algn="ctr">
                            <a:lnSpc>
                              <a:spcPts val="1200"/>
                            </a:lnSpc>
                            <a:buNone/>
                          </a:pPr>
                          <a:r>
                            <a:rPr lang="en-US" sz="1200" cap="small">
                              <a:effectLst/>
                            </a:rPr>
                            <a:t>0.14</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481319" t="-462963" r="-263736" b="-651852"/>
                          </a:stretch>
                        </a:blipFill>
                      </a:tcPr>
                    </a:tc>
                    <a:tc>
                      <a:txBody>
                        <a:bodyPr/>
                        <a:lstStyle/>
                        <a:p>
                          <a:endParaRPr lang="en-US"/>
                        </a:p>
                      </a:txBody>
                      <a:tcPr marL="68580" marR="68580" marT="0" marB="0">
                        <a:blipFill>
                          <a:blip r:embed="rId3"/>
                          <a:stretch>
                            <a:fillRect l="-397744" t="-462963" r="-80451" b="-651852"/>
                          </a:stretch>
                        </a:blipFill>
                      </a:tcPr>
                    </a:tc>
                    <a:tc>
                      <a:txBody>
                        <a:bodyPr/>
                        <a:lstStyle/>
                        <a:p>
                          <a:pPr marL="0" marR="0" algn="ctr">
                            <a:lnSpc>
                              <a:spcPts val="1200"/>
                            </a:lnSpc>
                            <a:buNone/>
                          </a:pPr>
                          <a:r>
                            <a:rPr lang="en-US" sz="1200" cap="small">
                              <a:effectLst/>
                            </a:rPr>
                            <a:t>0.064</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48285246"/>
                      </a:ext>
                    </a:extLst>
                  </a:tr>
                  <a:tr h="199565">
                    <a:tc vMerge="1">
                      <a:txBody>
                        <a:bodyPr/>
                        <a:lstStyle/>
                        <a:p>
                          <a:endParaRPr lang="en-US"/>
                        </a:p>
                      </a:txBody>
                      <a:tcPr/>
                    </a:tc>
                    <a:tc rowSpan="2">
                      <a:txBody>
                        <a:bodyPr/>
                        <a:lstStyle/>
                        <a:p>
                          <a:pPr marL="0" marR="0" algn="ctr">
                            <a:lnSpc>
                              <a:spcPct val="115000"/>
                            </a:lnSpc>
                            <a:spcAft>
                              <a:spcPts val="1000"/>
                            </a:spcAft>
                            <a:buNone/>
                          </a:pPr>
                          <a:r>
                            <a:rPr lang="en-US" sz="1200">
                              <a:effectLst/>
                            </a:rPr>
                            <a:t>4.0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16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17.29</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dirty="0">
                              <a:effectLst/>
                            </a:rPr>
                            <a:t>17.15 (0.040)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a:effectLst/>
                            </a:rPr>
                            <a:t>0.14</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481319" t="-950000" r="-263736" b="-1000000"/>
                          </a:stretch>
                        </a:blipFill>
                      </a:tcPr>
                    </a:tc>
                    <a:tc>
                      <a:txBody>
                        <a:bodyPr/>
                        <a:lstStyle/>
                        <a:p>
                          <a:endParaRPr lang="en-US"/>
                        </a:p>
                      </a:txBody>
                      <a:tcPr marL="68580" marR="68580" marT="0" marB="0">
                        <a:blipFill>
                          <a:blip r:embed="rId3"/>
                          <a:stretch>
                            <a:fillRect l="-397744" t="-950000" r="-80451" b="-1000000"/>
                          </a:stretch>
                        </a:blipFill>
                      </a:tcPr>
                    </a:tc>
                    <a:tc>
                      <a:txBody>
                        <a:bodyPr/>
                        <a:lstStyle/>
                        <a:p>
                          <a:pPr marL="0" marR="0" algn="ctr">
                            <a:lnSpc>
                              <a:spcPts val="1200"/>
                            </a:lnSpc>
                            <a:buNone/>
                          </a:pPr>
                          <a:r>
                            <a:rPr lang="en-US" sz="1200" cap="small">
                              <a:effectLst/>
                            </a:rPr>
                            <a:t>0.064</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2812067"/>
                      </a:ext>
                    </a:extLst>
                  </a:tr>
                  <a:tr h="199565">
                    <a:tc vMerge="1">
                      <a:txBody>
                        <a:bodyPr/>
                        <a:lstStyle/>
                        <a:p>
                          <a:endParaRPr lang="en-US"/>
                        </a:p>
                      </a:txBody>
                      <a:tcPr/>
                    </a:tc>
                    <a:tc vMerge="1">
                      <a:txBody>
                        <a:bodyPr/>
                        <a:lstStyle/>
                        <a:p>
                          <a:endParaRPr lang="en-US"/>
                        </a:p>
                      </a:txBody>
                      <a:tcPr/>
                    </a:tc>
                    <a:tc>
                      <a:txBody>
                        <a:bodyPr/>
                        <a:lstStyle/>
                        <a:p>
                          <a:pPr marL="0" marR="0" algn="ctr">
                            <a:lnSpc>
                              <a:spcPct val="115000"/>
                            </a:lnSpc>
                            <a:spcAft>
                              <a:spcPts val="1000"/>
                            </a:spcAft>
                            <a:buNone/>
                          </a:pPr>
                          <a:r>
                            <a:rPr lang="en-US" sz="1200">
                              <a:effectLst/>
                            </a:rPr>
                            <a:t>7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17.29</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17.10 (0.080)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a:effectLst/>
                            </a:rPr>
                            <a:t>0.19</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481319" t="-1050000" r="-263736" b="-900000"/>
                          </a:stretch>
                        </a:blipFill>
                      </a:tcPr>
                    </a:tc>
                    <a:tc>
                      <a:txBody>
                        <a:bodyPr/>
                        <a:lstStyle/>
                        <a:p>
                          <a:endParaRPr lang="en-US"/>
                        </a:p>
                      </a:txBody>
                      <a:tcPr marL="68580" marR="68580" marT="0" marB="0">
                        <a:blipFill>
                          <a:blip r:embed="rId3"/>
                          <a:stretch>
                            <a:fillRect l="-397744" t="-1050000" r="-80451" b="-900000"/>
                          </a:stretch>
                        </a:blipFill>
                      </a:tcPr>
                    </a:tc>
                    <a:tc>
                      <a:txBody>
                        <a:bodyPr/>
                        <a:lstStyle/>
                        <a:p>
                          <a:pPr marL="0" marR="0" algn="ctr">
                            <a:lnSpc>
                              <a:spcPts val="1200"/>
                            </a:lnSpc>
                            <a:buNone/>
                          </a:pPr>
                          <a:r>
                            <a:rPr lang="en-US" sz="1200" cap="small">
                              <a:effectLst/>
                            </a:rPr>
                            <a:t>0.064</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87877470"/>
                      </a:ext>
                    </a:extLst>
                  </a:tr>
                  <a:tr h="337394">
                    <a:tc rowSpan="6">
                      <a:txBody>
                        <a:bodyPr/>
                        <a:lstStyle/>
                        <a:p>
                          <a:pPr marL="0" marR="0" algn="ctr">
                            <a:lnSpc>
                              <a:spcPts val="1200"/>
                            </a:lnSpc>
                            <a:spcAft>
                              <a:spcPts val="1000"/>
                            </a:spcAft>
                            <a:buNone/>
                          </a:pPr>
                          <a:r>
                            <a:rPr lang="en-US" sz="1200" dirty="0">
                              <a:effectLst/>
                            </a:rPr>
                            <a:t>MwT-1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rowSpan="2">
                      <a:txBody>
                        <a:bodyPr/>
                        <a:lstStyle/>
                        <a:p>
                          <a:pPr marL="0" marR="0" algn="ctr">
                            <a:lnSpc>
                              <a:spcPct val="115000"/>
                            </a:lnSpc>
                            <a:spcAft>
                              <a:spcPts val="1000"/>
                            </a:spcAft>
                            <a:buNone/>
                          </a:pPr>
                          <a:r>
                            <a:rPr lang="en-US" sz="1200" dirty="0">
                              <a:effectLst/>
                            </a:rPr>
                            <a:t>2.0</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16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23.44</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23.18 (0.041)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a:effectLst/>
                            </a:rPr>
                            <a:t>0.26</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481319" t="-707692" r="-263736" b="-453846"/>
                          </a:stretch>
                        </a:blipFill>
                      </a:tcPr>
                    </a:tc>
                    <a:tc>
                      <a:txBody>
                        <a:bodyPr/>
                        <a:lstStyle/>
                        <a:p>
                          <a:endParaRPr lang="en-US"/>
                        </a:p>
                      </a:txBody>
                      <a:tcPr marL="68580" marR="68580" marT="0" marB="0">
                        <a:blipFill>
                          <a:blip r:embed="rId3"/>
                          <a:stretch>
                            <a:fillRect l="-397744" t="-707692" r="-80451" b="-453846"/>
                          </a:stretch>
                        </a:blipFill>
                      </a:tcPr>
                    </a:tc>
                    <a:tc>
                      <a:txBody>
                        <a:bodyPr/>
                        <a:lstStyle/>
                        <a:p>
                          <a:pPr marL="0" marR="0" algn="ctr">
                            <a:lnSpc>
                              <a:spcPts val="1200"/>
                            </a:lnSpc>
                            <a:buNone/>
                          </a:pPr>
                          <a:r>
                            <a:rPr lang="en-US" sz="1200" cap="small" dirty="0">
                              <a:effectLst/>
                            </a:rPr>
                            <a:t>0.054</a:t>
                          </a:r>
                          <a:endParaRPr lang="en-US" sz="1200" cap="small"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62213077"/>
                      </a:ext>
                    </a:extLst>
                  </a:tr>
                  <a:tr h="337394">
                    <a:tc vMerge="1">
                      <a:txBody>
                        <a:bodyPr/>
                        <a:lstStyle/>
                        <a:p>
                          <a:endParaRPr lang="en-US"/>
                        </a:p>
                      </a:txBody>
                      <a:tcPr/>
                    </a:tc>
                    <a:tc vMerge="1">
                      <a:txBody>
                        <a:bodyPr/>
                        <a:lstStyle/>
                        <a:p>
                          <a:endParaRPr lang="en-US"/>
                        </a:p>
                      </a:txBody>
                      <a:tcPr/>
                    </a:tc>
                    <a:tc>
                      <a:txBody>
                        <a:bodyPr/>
                        <a:lstStyle/>
                        <a:p>
                          <a:pPr marL="0" marR="0" algn="ctr">
                            <a:lnSpc>
                              <a:spcPct val="115000"/>
                            </a:lnSpc>
                            <a:spcAft>
                              <a:spcPts val="1000"/>
                            </a:spcAft>
                            <a:buNone/>
                          </a:pPr>
                          <a:r>
                            <a:rPr lang="en-US" sz="1200">
                              <a:effectLst/>
                            </a:rPr>
                            <a:t>7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23.44</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23.43 (0.094)</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ts val="1200"/>
                            </a:lnSpc>
                            <a:buNone/>
                          </a:pPr>
                          <a:r>
                            <a:rPr lang="en-US" sz="1200" cap="small">
                              <a:effectLst/>
                            </a:rPr>
                            <a:t>0.01</a:t>
                          </a:r>
                          <a:endParaRPr lang="en-US" sz="1200" cap="sma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481319" t="-777778" r="-263736" b="-337037"/>
                          </a:stretch>
                        </a:blipFill>
                      </a:tcPr>
                    </a:tc>
                    <a:tc>
                      <a:txBody>
                        <a:bodyPr/>
                        <a:lstStyle/>
                        <a:p>
                          <a:endParaRPr lang="en-US"/>
                        </a:p>
                      </a:txBody>
                      <a:tcPr marL="68580" marR="68580" marT="0" marB="0">
                        <a:blipFill>
                          <a:blip r:embed="rId3"/>
                          <a:stretch>
                            <a:fillRect l="-397744" t="-777778" r="-80451" b="-337037"/>
                          </a:stretch>
                        </a:blipFill>
                      </a:tcPr>
                    </a:tc>
                    <a:tc>
                      <a:txBody>
                        <a:bodyPr/>
                        <a:lstStyle/>
                        <a:p>
                          <a:pPr marL="0" marR="0" algn="ctr">
                            <a:lnSpc>
                              <a:spcPct val="115000"/>
                            </a:lnSpc>
                            <a:spcAft>
                              <a:spcPts val="1000"/>
                            </a:spcAft>
                            <a:buNone/>
                          </a:pPr>
                          <a:r>
                            <a:rPr lang="en-US" sz="1200" cap="small" dirty="0">
                              <a:effectLst/>
                            </a:rPr>
                            <a:t>0.091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03610513"/>
                      </a:ext>
                    </a:extLst>
                  </a:tr>
                  <a:tr h="337394">
                    <a:tc vMerge="1">
                      <a:txBody>
                        <a:bodyPr/>
                        <a:lstStyle/>
                        <a:p>
                          <a:endParaRPr lang="en-US"/>
                        </a:p>
                      </a:txBody>
                      <a:tcPr/>
                    </a:tc>
                    <a:tc rowSpan="2">
                      <a:txBody>
                        <a:bodyPr/>
                        <a:lstStyle/>
                        <a:p>
                          <a:pPr marL="0" marR="0" algn="ctr">
                            <a:lnSpc>
                              <a:spcPct val="115000"/>
                            </a:lnSpc>
                            <a:spcAft>
                              <a:spcPts val="1000"/>
                            </a:spcAft>
                            <a:buNone/>
                          </a:pPr>
                          <a:r>
                            <a:rPr lang="en-US" sz="1200">
                              <a:effectLst/>
                            </a:rPr>
                            <a:t>3.0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16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23.52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266667" t="-877778" r="-434375" b="-237037"/>
                          </a:stretch>
                        </a:blipFill>
                      </a:tcPr>
                    </a:tc>
                    <a:tc>
                      <a:txBody>
                        <a:bodyPr/>
                        <a:lstStyle/>
                        <a:p>
                          <a:endParaRPr lang="en-US"/>
                        </a:p>
                      </a:txBody>
                      <a:tcPr marL="68580" marR="68580" marT="0" marB="0">
                        <a:blipFill>
                          <a:blip r:embed="rId3"/>
                          <a:stretch>
                            <a:fillRect l="-409302" t="-877778" r="-384884" b="-237037"/>
                          </a:stretch>
                        </a:blipFill>
                      </a:tcPr>
                    </a:tc>
                    <a:tc>
                      <a:txBody>
                        <a:bodyPr/>
                        <a:lstStyle/>
                        <a:p>
                          <a:endParaRPr lang="en-US"/>
                        </a:p>
                      </a:txBody>
                      <a:tcPr marL="68580" marR="68580" marT="0" marB="0">
                        <a:blipFill>
                          <a:blip r:embed="rId3"/>
                          <a:stretch>
                            <a:fillRect l="-481319" t="-877778" r="-263736" b="-237037"/>
                          </a:stretch>
                        </a:blipFill>
                      </a:tcPr>
                    </a:tc>
                    <a:tc>
                      <a:txBody>
                        <a:bodyPr/>
                        <a:lstStyle/>
                        <a:p>
                          <a:endParaRPr lang="en-US"/>
                        </a:p>
                      </a:txBody>
                      <a:tcPr marL="68580" marR="68580" marT="0" marB="0">
                        <a:blipFill>
                          <a:blip r:embed="rId3"/>
                          <a:stretch>
                            <a:fillRect l="-397744" t="-877778" r="-80451" b="-237037"/>
                          </a:stretch>
                        </a:blipFill>
                      </a:tcPr>
                    </a:tc>
                    <a:tc>
                      <a:txBody>
                        <a:bodyPr/>
                        <a:lstStyle/>
                        <a:p>
                          <a:pPr marL="0" marR="0" algn="ctr">
                            <a:lnSpc>
                              <a:spcPts val="1200"/>
                            </a:lnSpc>
                            <a:buNone/>
                          </a:pPr>
                          <a:r>
                            <a:rPr lang="en-US" sz="1200" cap="small" dirty="0">
                              <a:effectLst/>
                            </a:rPr>
                            <a:t>0.044</a:t>
                          </a:r>
                          <a:endParaRPr lang="en-US" sz="1200" cap="small"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5894195"/>
                      </a:ext>
                    </a:extLst>
                  </a:tr>
                  <a:tr h="337394">
                    <a:tc vMerge="1">
                      <a:txBody>
                        <a:bodyPr/>
                        <a:lstStyle/>
                        <a:p>
                          <a:endParaRPr lang="en-US"/>
                        </a:p>
                      </a:txBody>
                      <a:tcPr/>
                    </a:tc>
                    <a:tc vMerge="1">
                      <a:txBody>
                        <a:bodyPr/>
                        <a:lstStyle/>
                        <a:p>
                          <a:endParaRPr lang="en-US"/>
                        </a:p>
                      </a:txBody>
                      <a:tcPr/>
                    </a:tc>
                    <a:tc>
                      <a:txBody>
                        <a:bodyPr/>
                        <a:lstStyle/>
                        <a:p>
                          <a:pPr marL="0" marR="0" algn="ctr">
                            <a:lnSpc>
                              <a:spcPct val="115000"/>
                            </a:lnSpc>
                            <a:spcAft>
                              <a:spcPts val="1000"/>
                            </a:spcAft>
                            <a:buNone/>
                          </a:pPr>
                          <a:r>
                            <a:rPr lang="en-US" sz="1200">
                              <a:effectLst/>
                            </a:rPr>
                            <a:t>7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23.52</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266667" t="-1015385" r="-434375" b="-146154"/>
                          </a:stretch>
                        </a:blipFill>
                      </a:tcPr>
                    </a:tc>
                    <a:tc>
                      <a:txBody>
                        <a:bodyPr/>
                        <a:lstStyle/>
                        <a:p>
                          <a:pPr marL="0" marR="0" algn="ctr">
                            <a:lnSpc>
                              <a:spcPct val="115000"/>
                            </a:lnSpc>
                            <a:spcAft>
                              <a:spcPts val="1000"/>
                            </a:spcAft>
                            <a:buNone/>
                          </a:pPr>
                          <a:r>
                            <a:rPr lang="en-US" sz="1200">
                              <a:effectLst/>
                            </a:rPr>
                            <a:t>0.01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481319" t="-1015385" r="-263736" b="-146154"/>
                          </a:stretch>
                        </a:blipFill>
                      </a:tcPr>
                    </a:tc>
                    <a:tc>
                      <a:txBody>
                        <a:bodyPr/>
                        <a:lstStyle/>
                        <a:p>
                          <a:endParaRPr lang="en-US"/>
                        </a:p>
                      </a:txBody>
                      <a:tcPr marL="68580" marR="68580" marT="0" marB="0">
                        <a:blipFill>
                          <a:blip r:embed="rId3"/>
                          <a:stretch>
                            <a:fillRect l="-397744" t="-1015385" r="-80451" b="-146154"/>
                          </a:stretch>
                        </a:blipFill>
                      </a:tcPr>
                    </a:tc>
                    <a:tc>
                      <a:txBody>
                        <a:bodyPr/>
                        <a:lstStyle/>
                        <a:p>
                          <a:pPr marL="0" marR="0" algn="ctr">
                            <a:lnSpc>
                              <a:spcPts val="1200"/>
                            </a:lnSpc>
                            <a:buNone/>
                          </a:pPr>
                          <a:r>
                            <a:rPr lang="en-US" sz="1200" cap="small" dirty="0">
                              <a:effectLst/>
                            </a:rPr>
                            <a:t>0.129</a:t>
                          </a:r>
                          <a:endParaRPr lang="en-US" sz="1200" cap="small"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95930387"/>
                      </a:ext>
                    </a:extLst>
                  </a:tr>
                  <a:tr h="199565">
                    <a:tc vMerge="1">
                      <a:txBody>
                        <a:bodyPr/>
                        <a:lstStyle/>
                        <a:p>
                          <a:endParaRPr lang="en-US"/>
                        </a:p>
                      </a:txBody>
                      <a:tcPr/>
                    </a:tc>
                    <a:tc rowSpan="2">
                      <a:txBody>
                        <a:bodyPr/>
                        <a:lstStyle/>
                        <a:p>
                          <a:pPr marL="0" marR="0" algn="ctr">
                            <a:lnSpc>
                              <a:spcPct val="115000"/>
                            </a:lnSpc>
                            <a:spcAft>
                              <a:spcPts val="1000"/>
                            </a:spcAft>
                            <a:buNone/>
                          </a:pPr>
                          <a:r>
                            <a:rPr lang="en-US" sz="1200">
                              <a:effectLst/>
                            </a:rPr>
                            <a:t>4.0</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16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22.29</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22.77 (0.183)</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0.48</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481319" t="-1812500" r="-263736" b="-137500"/>
                          </a:stretch>
                        </a:blipFill>
                      </a:tcPr>
                    </a:tc>
                    <a:tc>
                      <a:txBody>
                        <a:bodyPr/>
                        <a:lstStyle/>
                        <a:p>
                          <a:endParaRPr lang="en-US"/>
                        </a:p>
                      </a:txBody>
                      <a:tcPr marL="68580" marR="68580" marT="0" marB="0">
                        <a:blipFill>
                          <a:blip r:embed="rId3"/>
                          <a:stretch>
                            <a:fillRect l="-397744" t="-1812500" r="-80451" b="-137500"/>
                          </a:stretch>
                        </a:blipFill>
                      </a:tcPr>
                    </a:tc>
                    <a:tc>
                      <a:txBody>
                        <a:bodyPr/>
                        <a:lstStyle/>
                        <a:p>
                          <a:pPr marL="0" marR="0" algn="ctr">
                            <a:lnSpc>
                              <a:spcPts val="1200"/>
                            </a:lnSpc>
                            <a:buNone/>
                          </a:pPr>
                          <a:r>
                            <a:rPr lang="en-US" sz="1200" cap="small" dirty="0">
                              <a:effectLst/>
                            </a:rPr>
                            <a:t>0.129</a:t>
                          </a:r>
                          <a:endParaRPr lang="en-US" sz="1200" cap="small"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69758448"/>
                      </a:ext>
                    </a:extLst>
                  </a:tr>
                  <a:tr h="199565">
                    <a:tc vMerge="1">
                      <a:txBody>
                        <a:bodyPr/>
                        <a:lstStyle/>
                        <a:p>
                          <a:endParaRPr lang="en-US"/>
                        </a:p>
                      </a:txBody>
                      <a:tcPr/>
                    </a:tc>
                    <a:tc vMerge="1">
                      <a:txBody>
                        <a:bodyPr/>
                        <a:lstStyle/>
                        <a:p>
                          <a:endParaRPr lang="en-US"/>
                        </a:p>
                      </a:txBody>
                      <a:tcPr/>
                    </a:tc>
                    <a:tc>
                      <a:txBody>
                        <a:bodyPr/>
                        <a:lstStyle/>
                        <a:p>
                          <a:pPr marL="0" marR="0" algn="ctr">
                            <a:lnSpc>
                              <a:spcPct val="115000"/>
                            </a:lnSpc>
                            <a:spcAft>
                              <a:spcPts val="1000"/>
                            </a:spcAft>
                            <a:buNone/>
                          </a:pPr>
                          <a:r>
                            <a:rPr lang="en-US" sz="1200">
                              <a:effectLst/>
                            </a:rPr>
                            <a:t>7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22.29</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23.08 (0.198)</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Aft>
                              <a:spcPts val="1000"/>
                            </a:spcAft>
                            <a:buNone/>
                          </a:pPr>
                          <a:r>
                            <a:rPr lang="en-US" sz="1200">
                              <a:effectLst/>
                            </a:rPr>
                            <a:t>0.79</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481319" t="-1912500" r="-263736" b="-37500"/>
                          </a:stretch>
                        </a:blipFill>
                      </a:tcPr>
                    </a:tc>
                    <a:tc>
                      <a:txBody>
                        <a:bodyPr/>
                        <a:lstStyle/>
                        <a:p>
                          <a:endParaRPr lang="en-US"/>
                        </a:p>
                      </a:txBody>
                      <a:tcPr marL="68580" marR="68580" marT="0" marB="0">
                        <a:blipFill>
                          <a:blip r:embed="rId3"/>
                          <a:stretch>
                            <a:fillRect l="-397744" t="-1912500" r="-80451" b="-37500"/>
                          </a:stretch>
                        </a:blipFill>
                      </a:tcPr>
                    </a:tc>
                    <a:tc>
                      <a:txBody>
                        <a:bodyPr/>
                        <a:lstStyle/>
                        <a:p>
                          <a:pPr marL="0" marR="0" algn="ctr">
                            <a:lnSpc>
                              <a:spcPts val="1200"/>
                            </a:lnSpc>
                            <a:buNone/>
                          </a:pPr>
                          <a:r>
                            <a:rPr lang="en-US" sz="1200" cap="small" dirty="0">
                              <a:effectLst/>
                            </a:rPr>
                            <a:t>0.129</a:t>
                          </a:r>
                          <a:endParaRPr lang="en-US" sz="1200" cap="small"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60807028"/>
                      </a:ext>
                    </a:extLst>
                  </a:tr>
                </a:tbl>
              </a:graphicData>
            </a:graphic>
          </p:graphicFrame>
        </mc:Fallback>
      </mc:AlternateContent>
    </p:spTree>
    <p:extLst>
      <p:ext uri="{BB962C8B-B14F-4D97-AF65-F5344CB8AC3E}">
        <p14:creationId xmlns:p14="http://schemas.microsoft.com/office/powerpoint/2010/main" val="1122900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F2C40-08AB-1F54-C346-14BF456E38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9FEE44-FEAA-012B-08AC-B30FB50E0F19}"/>
              </a:ext>
            </a:extLst>
          </p:cNvPr>
          <p:cNvSpPr>
            <a:spLocks noGrp="1"/>
          </p:cNvSpPr>
          <p:nvPr>
            <p:ph type="title"/>
          </p:nvPr>
        </p:nvSpPr>
        <p:spPr/>
        <p:txBody>
          <a:bodyPr/>
          <a:lstStyle/>
          <a:p>
            <a:r>
              <a:rPr lang="en-US" dirty="0"/>
              <a:t>Performance Takeaways</a:t>
            </a:r>
          </a:p>
        </p:txBody>
      </p:sp>
      <p:sp>
        <p:nvSpPr>
          <p:cNvPr id="3" name="Content Placeholder 2">
            <a:extLst>
              <a:ext uri="{FF2B5EF4-FFF2-40B4-BE49-F238E27FC236}">
                <a16:creationId xmlns:a16="http://schemas.microsoft.com/office/drawing/2014/main" id="{D8B8A868-59A1-BE8C-CA28-A1F7A333E50E}"/>
              </a:ext>
            </a:extLst>
          </p:cNvPr>
          <p:cNvSpPr>
            <a:spLocks noGrp="1"/>
          </p:cNvSpPr>
          <p:nvPr>
            <p:ph idx="1"/>
          </p:nvPr>
        </p:nvSpPr>
        <p:spPr>
          <a:xfrm>
            <a:off x="340822" y="1178524"/>
            <a:ext cx="11689253" cy="4998439"/>
          </a:xfrm>
        </p:spPr>
        <p:txBody>
          <a:bodyPr/>
          <a:lstStyle/>
          <a:p>
            <a:pPr marL="457200" indent="-457200">
              <a:buFont typeface="+mj-lt"/>
              <a:buAutoNum type="arabicPeriod"/>
            </a:pPr>
            <a:r>
              <a:rPr lang="en-US" sz="3200" dirty="0"/>
              <a:t>Typical error in the optimal reflection coefficient stays below 2 pixels, corresponding to an error vector magnitude of about 0.13 in the reflection coefficient on the Smith chart.</a:t>
            </a:r>
          </a:p>
          <a:p>
            <a:pPr marL="457200" indent="-457200">
              <a:buFont typeface="+mj-lt"/>
              <a:buAutoNum type="arabicPeriod"/>
            </a:pPr>
            <a:r>
              <a:rPr lang="en-US" sz="3200" dirty="0"/>
              <a:t>The power levels predicted by the extrapolated data to be in agreement with the standard measurements, with a typical error of around 0.2 dB or less.</a:t>
            </a:r>
          </a:p>
          <a:p>
            <a:pPr marL="914400" lvl="1" indent="-457200">
              <a:buFont typeface="+mj-lt"/>
              <a:buAutoNum type="arabicPeriod"/>
            </a:pPr>
            <a:endParaRPr lang="en-US" sz="2800" dirty="0"/>
          </a:p>
        </p:txBody>
      </p:sp>
      <p:sp>
        <p:nvSpPr>
          <p:cNvPr id="4" name="Slide Number Placeholder 3">
            <a:extLst>
              <a:ext uri="{FF2B5EF4-FFF2-40B4-BE49-F238E27FC236}">
                <a16:creationId xmlns:a16="http://schemas.microsoft.com/office/drawing/2014/main" id="{C07D00FD-86CD-B293-A95B-A7D43B1AD1BA}"/>
              </a:ext>
            </a:extLst>
          </p:cNvPr>
          <p:cNvSpPr>
            <a:spLocks noGrp="1"/>
          </p:cNvSpPr>
          <p:nvPr>
            <p:ph type="sldNum" sz="quarter" idx="10"/>
          </p:nvPr>
        </p:nvSpPr>
        <p:spPr/>
        <p:txBody>
          <a:bodyPr/>
          <a:lstStyle/>
          <a:p>
            <a:fld id="{712AF26B-5AA3-46FB-B36A-D6DA52437630}" type="slidenum">
              <a:rPr lang="en-US" smtClean="0"/>
              <a:t>20</a:t>
            </a:fld>
            <a:endParaRPr lang="en-US"/>
          </a:p>
        </p:txBody>
      </p:sp>
    </p:spTree>
    <p:extLst>
      <p:ext uri="{BB962C8B-B14F-4D97-AF65-F5344CB8AC3E}">
        <p14:creationId xmlns:p14="http://schemas.microsoft.com/office/powerpoint/2010/main" val="39087460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F78EB-DEC4-6C55-5883-BBD3CC56CB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3659F-3424-D5F5-0222-CEA45C8FB706}"/>
              </a:ext>
            </a:extLst>
          </p:cNvPr>
          <p:cNvSpPr>
            <a:spLocks noGrp="1"/>
          </p:cNvSpPr>
          <p:nvPr>
            <p:ph type="title"/>
          </p:nvPr>
        </p:nvSpPr>
        <p:spPr/>
        <p:txBody>
          <a:bodyPr/>
          <a:lstStyle/>
          <a:p>
            <a:r>
              <a:rPr lang="en-US" dirty="0"/>
              <a:t>Future Directions</a:t>
            </a:r>
          </a:p>
        </p:txBody>
      </p:sp>
      <p:sp>
        <p:nvSpPr>
          <p:cNvPr id="3" name="Content Placeholder 2">
            <a:extLst>
              <a:ext uri="{FF2B5EF4-FFF2-40B4-BE49-F238E27FC236}">
                <a16:creationId xmlns:a16="http://schemas.microsoft.com/office/drawing/2014/main" id="{D5ADB895-E3FD-C50A-F322-4BEB8F069636}"/>
              </a:ext>
            </a:extLst>
          </p:cNvPr>
          <p:cNvSpPr>
            <a:spLocks noGrp="1"/>
          </p:cNvSpPr>
          <p:nvPr>
            <p:ph idx="1"/>
          </p:nvPr>
        </p:nvSpPr>
        <p:spPr>
          <a:xfrm>
            <a:off x="340822" y="1178524"/>
            <a:ext cx="11689253" cy="4998439"/>
          </a:xfrm>
        </p:spPr>
        <p:txBody>
          <a:bodyPr/>
          <a:lstStyle/>
          <a:p>
            <a:r>
              <a:rPr lang="en-US" dirty="0"/>
              <a:t>Improvements to either the model or the tuner’s coverage can improve load-pull extrapolation accuracy.</a:t>
            </a:r>
          </a:p>
          <a:p>
            <a:r>
              <a:rPr lang="en-US" dirty="0"/>
              <a:t>Investigating load-pull extrapolation for additional RF design metrics such as Adjacent Channel Power Ratio (ACPR).</a:t>
            </a:r>
          </a:p>
          <a:p>
            <a:endParaRPr lang="en-US" dirty="0"/>
          </a:p>
          <a:p>
            <a:endParaRPr lang="en-US" dirty="0"/>
          </a:p>
          <a:p>
            <a:endParaRPr lang="en-US" dirty="0"/>
          </a:p>
          <a:p>
            <a:endParaRPr lang="en-US" dirty="0"/>
          </a:p>
          <a:p>
            <a:r>
              <a:rPr lang="en-US" dirty="0"/>
              <a:t>Investigate trade-offs between other generative model architectures, such as </a:t>
            </a:r>
            <a:r>
              <a:rPr lang="en-US" b="1" dirty="0"/>
              <a:t>diffusion models</a:t>
            </a:r>
            <a:r>
              <a:rPr lang="en-US" dirty="0"/>
              <a:t>, </a:t>
            </a:r>
            <a:r>
              <a:rPr lang="en-US" b="1" dirty="0"/>
              <a:t>variational autoencoders</a:t>
            </a:r>
            <a:r>
              <a:rPr lang="en-US" dirty="0"/>
              <a:t>, and potentially others.</a:t>
            </a:r>
          </a:p>
        </p:txBody>
      </p:sp>
      <p:sp>
        <p:nvSpPr>
          <p:cNvPr id="4" name="Slide Number Placeholder 3">
            <a:extLst>
              <a:ext uri="{FF2B5EF4-FFF2-40B4-BE49-F238E27FC236}">
                <a16:creationId xmlns:a16="http://schemas.microsoft.com/office/drawing/2014/main" id="{2F79787E-BD13-1093-C697-FD2FCFBBF88F}"/>
              </a:ext>
            </a:extLst>
          </p:cNvPr>
          <p:cNvSpPr>
            <a:spLocks noGrp="1"/>
          </p:cNvSpPr>
          <p:nvPr>
            <p:ph type="sldNum" sz="quarter" idx="10"/>
          </p:nvPr>
        </p:nvSpPr>
        <p:spPr/>
        <p:txBody>
          <a:bodyPr/>
          <a:lstStyle/>
          <a:p>
            <a:fld id="{712AF26B-5AA3-46FB-B36A-D6DA52437630}" type="slidenum">
              <a:rPr lang="en-US" smtClean="0"/>
              <a:t>21</a:t>
            </a:fld>
            <a:endParaRPr lang="en-US"/>
          </a:p>
        </p:txBody>
      </p:sp>
      <p:pic>
        <p:nvPicPr>
          <p:cNvPr id="5" name="Picture 4" descr="Adjacent-channel-power-ratio-representation">
            <a:extLst>
              <a:ext uri="{FF2B5EF4-FFF2-40B4-BE49-F238E27FC236}">
                <a16:creationId xmlns:a16="http://schemas.microsoft.com/office/drawing/2014/main" id="{FC21BBC2-21A3-0783-982D-88E1876E1A6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7787" b="1365"/>
          <a:stretch>
            <a:fillRect/>
          </a:stretch>
        </p:blipFill>
        <p:spPr bwMode="auto">
          <a:xfrm>
            <a:off x="4115514" y="3076506"/>
            <a:ext cx="3960972" cy="2002573"/>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842693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DC588-438A-5DF8-5A7E-C3EBC18FB8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4B323E-8BF7-55C3-48B6-56CC21A5A959}"/>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3440C46F-E278-C2A8-9764-49BA25BAC726}"/>
              </a:ext>
            </a:extLst>
          </p:cNvPr>
          <p:cNvSpPr>
            <a:spLocks noGrp="1"/>
          </p:cNvSpPr>
          <p:nvPr>
            <p:ph idx="1"/>
          </p:nvPr>
        </p:nvSpPr>
        <p:spPr/>
        <p:txBody>
          <a:bodyPr>
            <a:normAutofit/>
          </a:bodyPr>
          <a:lstStyle/>
          <a:p>
            <a:r>
              <a:rPr lang="en-US" sz="3500" b="1" dirty="0"/>
              <a:t>Problem:</a:t>
            </a:r>
          </a:p>
          <a:p>
            <a:pPr lvl="1"/>
            <a:r>
              <a:rPr lang="en-US" sz="3000" dirty="0"/>
              <a:t>Measuring load-pull is expensive, and most applications require numerous iterative measurements</a:t>
            </a:r>
          </a:p>
          <a:p>
            <a:r>
              <a:rPr lang="en-US" sz="3500" b="1" dirty="0"/>
              <a:t>Solution:</a:t>
            </a:r>
          </a:p>
          <a:p>
            <a:pPr lvl="1"/>
            <a:r>
              <a:rPr lang="en-US" sz="3000" dirty="0"/>
              <a:t>Our low-cost load-pull system reduces both the hardware requirements and the number of measurements required to characterize a device.</a:t>
            </a:r>
          </a:p>
        </p:txBody>
      </p:sp>
      <p:sp>
        <p:nvSpPr>
          <p:cNvPr id="4" name="Slide Number Placeholder 3">
            <a:extLst>
              <a:ext uri="{FF2B5EF4-FFF2-40B4-BE49-F238E27FC236}">
                <a16:creationId xmlns:a16="http://schemas.microsoft.com/office/drawing/2014/main" id="{87230CAD-E651-D9FA-7501-A5D5AECBDD09}"/>
              </a:ext>
            </a:extLst>
          </p:cNvPr>
          <p:cNvSpPr>
            <a:spLocks noGrp="1"/>
          </p:cNvSpPr>
          <p:nvPr>
            <p:ph type="sldNum" sz="quarter" idx="10"/>
          </p:nvPr>
        </p:nvSpPr>
        <p:spPr/>
        <p:txBody>
          <a:bodyPr/>
          <a:lstStyle/>
          <a:p>
            <a:fld id="{712AF26B-5AA3-46FB-B36A-D6DA52437630}" type="slidenum">
              <a:rPr lang="en-US" smtClean="0"/>
              <a:t>22</a:t>
            </a:fld>
            <a:endParaRPr lang="en-US"/>
          </a:p>
        </p:txBody>
      </p:sp>
    </p:spTree>
    <p:extLst>
      <p:ext uri="{BB962C8B-B14F-4D97-AF65-F5344CB8AC3E}">
        <p14:creationId xmlns:p14="http://schemas.microsoft.com/office/powerpoint/2010/main" val="2016772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FC2AD-DCD9-AC28-DDF3-DC49F4C564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80F5BA-7AFC-D2B6-EB2F-6989875CCB5D}"/>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800093A8-790F-E243-0733-5BC7FAC87ED2}"/>
              </a:ext>
            </a:extLst>
          </p:cNvPr>
          <p:cNvSpPr>
            <a:spLocks noGrp="1"/>
          </p:cNvSpPr>
          <p:nvPr>
            <p:ph idx="1"/>
          </p:nvPr>
        </p:nvSpPr>
        <p:spPr/>
        <p:txBody>
          <a:bodyPr>
            <a:normAutofit/>
          </a:bodyPr>
          <a:lstStyle/>
          <a:p>
            <a:pPr marL="0" indent="0">
              <a:buNone/>
            </a:pPr>
            <a:r>
              <a:rPr lang="en-US" sz="1800" dirty="0"/>
              <a:t>[1] https://</a:t>
            </a:r>
            <a:r>
              <a:rPr lang="en-US" sz="1800" dirty="0" err="1"/>
              <a:t>www.everythingrf.com</a:t>
            </a:r>
            <a:r>
              <a:rPr lang="en-US" sz="1800" dirty="0"/>
              <a:t>/community/what-are-load-pull-measurements</a:t>
            </a:r>
          </a:p>
          <a:p>
            <a:pPr marL="0" indent="0">
              <a:buNone/>
            </a:pPr>
            <a:r>
              <a:rPr lang="en-US" sz="1800" dirty="0">
                <a:ea typeface="Times New Roman" panose="02020603050405020304" pitchFamily="18" charset="0"/>
              </a:rPr>
              <a:t>[2] J. Martin, C. Baylis, L. Cohen, J. de Graaf and R. J. Marks II, "A Peak-Search Algorithm for Load–Pull Optimization of Power-Added Efficiency and Adjacent-Channel Power Ratio," in IEEE Transactions on Microwave Theory and Techniques, vol. 62, no. 8, pp. 1772-1783, Aug. 2014, </a:t>
            </a:r>
            <a:r>
              <a:rPr lang="en-US" sz="1800" dirty="0" err="1">
                <a:ea typeface="Times New Roman" panose="02020603050405020304" pitchFamily="18" charset="0"/>
              </a:rPr>
              <a:t>doi</a:t>
            </a:r>
            <a:r>
              <a:rPr lang="en-US" sz="1800" dirty="0">
                <a:ea typeface="Times New Roman" panose="02020603050405020304" pitchFamily="18" charset="0"/>
              </a:rPr>
              <a:t>: 10.1109/TMTT.2014.2331626.</a:t>
            </a:r>
            <a:endParaRPr lang="en-US" sz="1800" dirty="0"/>
          </a:p>
          <a:p>
            <a:pPr marL="0" indent="0">
              <a:buNone/>
            </a:pPr>
            <a:r>
              <a:rPr lang="en-US" sz="1800" dirty="0"/>
              <a:t>[3] F. M. Ghannouchi and M. S. Hashmi, “Passive Load-Pull Systems,” in </a:t>
            </a:r>
            <a:r>
              <a:rPr lang="en-US" sz="1800" i="1" dirty="0"/>
              <a:t>Load-Pull Techniques with Applications to Power Amplifier Design</a:t>
            </a:r>
            <a:r>
              <a:rPr lang="en-US" sz="1800" dirty="0"/>
              <a:t>, F. M. Ghannouchi and M. S. Hashmi, Eds., Dordrecht: Springer Netherlands, 2013, pp. 29–54. </a:t>
            </a:r>
            <a:r>
              <a:rPr lang="en-US" sz="1800" dirty="0" err="1"/>
              <a:t>doi</a:t>
            </a:r>
            <a:r>
              <a:rPr lang="en-US" sz="1800" dirty="0"/>
              <a:t>: </a:t>
            </a:r>
            <a:r>
              <a:rPr lang="en-US" sz="1800" dirty="0">
                <a:hlinkClick r:id="rId3"/>
              </a:rPr>
              <a:t>10.1007/978-94-007-4461-5_2</a:t>
            </a:r>
            <a:r>
              <a:rPr lang="en-US" sz="1800" dirty="0"/>
              <a:t>.</a:t>
            </a:r>
          </a:p>
          <a:p>
            <a:pPr marL="0" indent="0">
              <a:buNone/>
            </a:pPr>
            <a:r>
              <a:rPr lang="en-US" sz="1800" dirty="0"/>
              <a:t>[4] “Advancing PA Test Methods With VNA-based Wideband Active Load-Pull | Microwave Journal.” Accessed: Sep. 23, 2026. [Online]. Available: </a:t>
            </a:r>
            <a:r>
              <a:rPr lang="en-US" sz="1800" dirty="0">
                <a:hlinkClick r:id="rId4"/>
              </a:rPr>
              <a:t>https://www.microwavejournal.com/articles/41605-advancing-pa-test-methods-with-vna-based-wideband-active-load-pull</a:t>
            </a:r>
            <a:endParaRPr lang="en-US" sz="1800" dirty="0"/>
          </a:p>
          <a:p>
            <a:pPr marL="0" indent="0">
              <a:buNone/>
            </a:pPr>
            <a:r>
              <a:rPr lang="en-US" sz="1800" dirty="0"/>
              <a:t>[5] J. Roessler et al., "A Low-Loss Reconfigurable Plasma Impedance Tuner for Real-Time, Frequency-Agile, High-Power RF Applications," 2022 IEEE/MTT-S Int. </a:t>
            </a:r>
            <a:r>
              <a:rPr lang="en-US" sz="1800" dirty="0" err="1"/>
              <a:t>Microw</a:t>
            </a:r>
            <a:r>
              <a:rPr lang="en-US" sz="1800" dirty="0"/>
              <a:t>. Symp., Denver, CO, USA, 2022, pp. 183-186, </a:t>
            </a:r>
            <a:r>
              <a:rPr lang="en-US" sz="1800" dirty="0" err="1"/>
              <a:t>doi</a:t>
            </a:r>
            <a:r>
              <a:rPr lang="en-US" sz="1800" dirty="0"/>
              <a:t>: 10.1109/IMS37962.2022.9865404. </a:t>
            </a:r>
          </a:p>
          <a:p>
            <a:pPr marL="0" indent="0">
              <a:buNone/>
            </a:pPr>
            <a:r>
              <a:rPr lang="en-US" sz="1800" dirty="0"/>
              <a:t>[6] A. Egbert, C. Baylis and R. J. Marks, "Extrapolation of Load-Pull Data: A Novel Use of GAN Artificial Intelligence Image Completion," in IEEE Trans. </a:t>
            </a:r>
            <a:r>
              <a:rPr lang="en-US" sz="1800" dirty="0" err="1"/>
              <a:t>Microw</a:t>
            </a:r>
            <a:r>
              <a:rPr lang="en-US" sz="1800" dirty="0"/>
              <a:t>. Theory Techn., vol. 70, no. 11, pp. 4849-4856, Nov. 2022, </a:t>
            </a:r>
            <a:r>
              <a:rPr lang="en-US" sz="1800" dirty="0" err="1"/>
              <a:t>doi</a:t>
            </a:r>
            <a:r>
              <a:rPr lang="en-US" sz="1800" dirty="0"/>
              <a:t>: 10.1109/TMTT.2022.3209700. </a:t>
            </a:r>
          </a:p>
          <a:p>
            <a:pPr marL="0" indent="0">
              <a:buNone/>
            </a:pPr>
            <a:endParaRPr lang="en-US" sz="1800" dirty="0"/>
          </a:p>
        </p:txBody>
      </p:sp>
      <p:sp>
        <p:nvSpPr>
          <p:cNvPr id="4" name="Slide Number Placeholder 3">
            <a:extLst>
              <a:ext uri="{FF2B5EF4-FFF2-40B4-BE49-F238E27FC236}">
                <a16:creationId xmlns:a16="http://schemas.microsoft.com/office/drawing/2014/main" id="{A46915B9-CACA-9648-AD32-C67431E83B38}"/>
              </a:ext>
            </a:extLst>
          </p:cNvPr>
          <p:cNvSpPr>
            <a:spLocks noGrp="1"/>
          </p:cNvSpPr>
          <p:nvPr>
            <p:ph type="sldNum" sz="quarter" idx="10"/>
          </p:nvPr>
        </p:nvSpPr>
        <p:spPr/>
        <p:txBody>
          <a:bodyPr/>
          <a:lstStyle/>
          <a:p>
            <a:fld id="{712AF26B-5AA3-46FB-B36A-D6DA52437630}" type="slidenum">
              <a:rPr lang="en-US" smtClean="0"/>
              <a:t>23</a:t>
            </a:fld>
            <a:endParaRPr lang="en-US"/>
          </a:p>
        </p:txBody>
      </p:sp>
    </p:spTree>
    <p:extLst>
      <p:ext uri="{BB962C8B-B14F-4D97-AF65-F5344CB8AC3E}">
        <p14:creationId xmlns:p14="http://schemas.microsoft.com/office/powerpoint/2010/main" val="34457205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278D4-E992-366D-C32B-F6399F35171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FDDE6E-C62B-BA7F-719E-D023CFBAA4C6}"/>
              </a:ext>
            </a:extLst>
          </p:cNvPr>
          <p:cNvSpPr>
            <a:spLocks noGrp="1"/>
          </p:cNvSpPr>
          <p:nvPr>
            <p:ph type="sldNum" sz="quarter" idx="10"/>
          </p:nvPr>
        </p:nvSpPr>
        <p:spPr/>
        <p:txBody>
          <a:bodyPr/>
          <a:lstStyle/>
          <a:p>
            <a:fld id="{712AF26B-5AA3-46FB-B36A-D6DA52437630}" type="slidenum">
              <a:rPr lang="en-US" smtClean="0"/>
              <a:t>24</a:t>
            </a:fld>
            <a:endParaRPr lang="en-US"/>
          </a:p>
        </p:txBody>
      </p:sp>
      <p:sp>
        <p:nvSpPr>
          <p:cNvPr id="9" name="Title 3">
            <a:extLst>
              <a:ext uri="{FF2B5EF4-FFF2-40B4-BE49-F238E27FC236}">
                <a16:creationId xmlns:a16="http://schemas.microsoft.com/office/drawing/2014/main" id="{8814A3A0-0091-05D1-80D4-0D557DA14838}"/>
              </a:ext>
            </a:extLst>
          </p:cNvPr>
          <p:cNvSpPr txBox="1">
            <a:spLocks/>
          </p:cNvSpPr>
          <p:nvPr/>
        </p:nvSpPr>
        <p:spPr>
          <a:xfrm>
            <a:off x="3048000" y="1078742"/>
            <a:ext cx="6096000" cy="147002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7200" dirty="0"/>
              <a:t>Thank You!</a:t>
            </a:r>
          </a:p>
        </p:txBody>
      </p:sp>
      <p:sp>
        <p:nvSpPr>
          <p:cNvPr id="11" name="Title 3">
            <a:extLst>
              <a:ext uri="{FF2B5EF4-FFF2-40B4-BE49-F238E27FC236}">
                <a16:creationId xmlns:a16="http://schemas.microsoft.com/office/drawing/2014/main" id="{8E1A28C0-3F3D-D5AE-A255-35034B9A3016}"/>
              </a:ext>
            </a:extLst>
          </p:cNvPr>
          <p:cNvSpPr txBox="1">
            <a:spLocks/>
          </p:cNvSpPr>
          <p:nvPr/>
        </p:nvSpPr>
        <p:spPr bwMode="auto">
          <a:xfrm>
            <a:off x="3048000" y="3005078"/>
            <a:ext cx="6096000" cy="14700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r>
              <a:rPr lang="en-US" sz="4800" kern="0" dirty="0"/>
              <a:t>I’m happy to take questions.</a:t>
            </a:r>
          </a:p>
        </p:txBody>
      </p:sp>
    </p:spTree>
    <p:extLst>
      <p:ext uri="{BB962C8B-B14F-4D97-AF65-F5344CB8AC3E}">
        <p14:creationId xmlns:p14="http://schemas.microsoft.com/office/powerpoint/2010/main" val="15380578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5571</TotalTime>
  <Words>2084</Words>
  <Application>Microsoft Macintosh PowerPoint</Application>
  <PresentationFormat>Widescreen</PresentationFormat>
  <Paragraphs>322</Paragraphs>
  <Slides>24</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Aptos</vt:lpstr>
      <vt:lpstr>Aptos Display</vt:lpstr>
      <vt:lpstr>Arial</vt:lpstr>
      <vt:lpstr>Calibri</vt:lpstr>
      <vt:lpstr>Cambria Math</vt:lpstr>
      <vt:lpstr>Helvetica Neue</vt:lpstr>
      <vt:lpstr>Times New Roman</vt:lpstr>
      <vt:lpstr>Office Theme</vt:lpstr>
      <vt:lpstr>Fast, Low-Cost Passive Load-Pull Measurements Using AI Load-Pull Extrapolation and Switched Impedance Network</vt:lpstr>
      <vt:lpstr>Load-Pull</vt:lpstr>
      <vt:lpstr>Load-Pull is Important </vt:lpstr>
      <vt:lpstr>Load-Pull is Important </vt:lpstr>
      <vt:lpstr>Load-Pull can be Difficult to Measure</vt:lpstr>
      <vt:lpstr>Contributions</vt:lpstr>
      <vt:lpstr>Custom Hardware Tuner</vt:lpstr>
      <vt:lpstr>Load-Pull Extrapolation</vt:lpstr>
      <vt:lpstr>Generative Adversarial Networks (GAN)</vt:lpstr>
      <vt:lpstr>Generative Adversarial Networks (GAN) Image Completion</vt:lpstr>
      <vt:lpstr>Output Power Training Data Generation</vt:lpstr>
      <vt:lpstr>Output Power Load-Pull Extrapolation Input Data Preprocessing</vt:lpstr>
      <vt:lpstr>GAN Inference Loss Functions from Tuner Impedances</vt:lpstr>
      <vt:lpstr>64 Multi-shot Images</vt:lpstr>
      <vt:lpstr>Measurement Setup</vt:lpstr>
      <vt:lpstr>Linear Extrapolation</vt:lpstr>
      <vt:lpstr>Non-Linear Extrapolation</vt:lpstr>
      <vt:lpstr>Non-Linear Extrapolation</vt:lpstr>
      <vt:lpstr>Performance Results</vt:lpstr>
      <vt:lpstr>Performance Takeaways</vt:lpstr>
      <vt:lpstr>Future Directions</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Egbert, Austin</dc:creator>
  <cp:lastModifiedBy>Swindell, Jonathan</cp:lastModifiedBy>
  <cp:revision>61</cp:revision>
  <dcterms:created xsi:type="dcterms:W3CDTF">2024-11-15T20:55:06Z</dcterms:created>
  <dcterms:modified xsi:type="dcterms:W3CDTF">2026-10-07T07:25:35Z</dcterms:modified>
</cp:coreProperties>
</file>